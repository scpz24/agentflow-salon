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87" r:id="rId5"/>
    <p:sldId id="286" r:id="rId6"/>
    <p:sldId id="290" r:id="rId7"/>
    <p:sldId id="288" r:id="rId8"/>
    <p:sldId id="291" r:id="rId9"/>
    <p:sldId id="292" r:id="rId10"/>
    <p:sldId id="259" r:id="rId11"/>
    <p:sldId id="260" r:id="rId12"/>
    <p:sldId id="285" r:id="rId13"/>
    <p:sldId id="261" r:id="rId14"/>
    <p:sldId id="263" r:id="rId15"/>
    <p:sldId id="267" r:id="rId16"/>
    <p:sldId id="268" r:id="rId17"/>
    <p:sldId id="269" r:id="rId18"/>
    <p:sldId id="271" r:id="rId19"/>
    <p:sldId id="272" r:id="rId20"/>
    <p:sldId id="273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93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对应脚本：封面
制作说明：本页为可编辑静态课件；截图框待讲者补入真实素材。未制作或运行 HTML、实机演示。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我知道大家心里肯定已经有答案了——都怪大模型呗。先别急着甩锅。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AI写代码是真香，十秒钟出答案，还带注释。但恰恰是这份香，藏着最大的坑。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编程学习里最值钱的从来不是最后那行能跑通的代码，而是中间的过程：踩坑、调试、试错。直接抄答案，就把这些最核心的过程全跳过了。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所以核心结论很简单：工具本身没有对错，错的是使用方式。AI是放大镜，好方法配AI事半功倍，懒方法配AI地基全塌。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今天的分享围绕三个核心问题展开：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第一，我们先看看课堂里的真实现状——同学们的编程能力到底有没有在下降；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第二，深入拷问大模型到底是帮了我们，还是害了我们；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第三，最后落脚到未来——AI时代，我们到底该怎么学编程。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先和大家说个扎心的现状。以前编程题是拉分题，学霸拿满分，普通同学写个七七八八，好歹能拉开差距。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现在好了，编程题变成了"送走分题"——不是送给学生分，是大家集体性空白，分都给送走了。概念背得特别好，一到写代码就空白。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本质问题就是：我们跳过了最核心的成长过程——踩坑、试错、调试。而这个过程，恰恰是编程能力真正长进的地方。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既然AI是绕不开的趋势，那我们的课程也得跟着变。三个核心转向：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第一，考核转向——从让你们默写代码，变成读代码、改代码、评代码；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第二，内容转向——从抠语法细节，变成练逻辑、练调试、练问题拆解；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第三，工具转向——从禁止用AI，变成教你们正确用AI。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给同学们一句实在话：别拿AI当枪手，拿它当老师。先自己写，写不出来再问，问完了自己敲一遍。抄作业一时爽，考试火葬场。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最后聊大家最关心的问题：AI都能写代码了，以后我们是不是不用学编程了？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我的答案刚好相反：以后更要学，但学的东西不一样了。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未来的编程环境，自然语言驱动，AI生成初稿，人负责需求和质量。程序员从打字员变成了需求定义者和质量把控者。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那我们学什么？三个方向：基础语法不用死记但要能读懂，计算思维是永远的核心，工具协作能力越来越重要。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最后送大家一句话：未来，不会用AI的人会被淘汰；但只会用AI的人，也会被淘汰。因为编程的本质从来不是敲代码，而是解决问题。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今天的分享围绕三个核心问题展开：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第一，我们先看看课堂里的真实现状——同学们的编程能力到底有没有在下降；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第二，深入拷问大模型到底是帮了我们，还是害了我们；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第三，最后落脚到未来——AI时代，我们到底该怎么学编程。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对应脚本：P03
制作说明：本页为可编辑静态课件；截图框待讲者补入真实素材。未制作或运行 HTML、实机演示。
### P03｜今天从“会使用”往前走一步
**预算：3 分钟。**
**屏幕文案：**
&gt; 让它改 → 让它看懂 → 让它执行 → 知道它有没有做好
**画面：** 四个横向阶段。只把“让它改”标为听众已有经验，其余三个是今天的增量。底部放 Codex 与 Pi 两张卡，分别写“集成工作流”和“可定制运行时”。
**过渡：** “先拆开一次调用，再看工具的成品体验。”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对应脚本：P04
制作说明：本页为可编辑静态课件；截图框待讲者补入真实素材。未制作或运行 HTML、实机演示。
#### P04｜一次 LLM 调用，看见什么，交出什么？
**预算：3 分钟。**
**屏幕文案：**
&gt; 模型接收本次上下文，输出回答或行动请求。
**画面：** 左侧四个输入格：“规则”“当前任务与历史”“工具说明”“已经获取的文件/页面/工具结果”；中间一个 LLM 方框；右侧两条出口：“面向用户的回答”“交给运行时的工具调用”。
**讲述边界：**
- 本场用“模型可见的有效上下文”作逻辑模型，不宣称所有 API 都让客户端每次按同一种格式重发完整历史。
- 项目文件在磁盘上，不等于文件正文已经在上下文里；读取、检索、附件处理等步骤决定哪些内容进入这一轮。
- 工具说明告诉模型可以请求什么，工具实现负责实际做事；两者不是同一个东西。
- 以本场客户端执行的读文件/改文件工具为例，模型产出调用请求，Harness 执行并回传结果；不要把这个简化说法推广成“所有平台内置工具都由本机执行”。
**核验说明：** OpenAI 的 function calling 文档明确区分模型返回调用、应用执行、结果送回模型及后续回答/调用。此处借它解释通用工程过程，不要求学生记忆 OpenAI 的字段。[^S01]
**过渡：** “一次调用不会自己长出循环；循环由外面的程序组织。”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制作说明：本页为可编辑静态课件；截图框待讲者补入真实素材。未制作或运行 HTML、实机演示。
#### P04｜一次 LLM 调用，看见什么，交出什么？
**预算：3 分钟。**
**屏幕文案：**
&gt; 模型接收本次上下文，输出回答或行动请求。
**画面：** 左侧四个输入格：“规则”“当前任务与历史”“工具说明”“已经获取的文件/页面/工具结果”；中间一个 LLM 方框；右侧两条出口：“面向用户的回答”“交给运行时的工具调用”。
**讲述边界：**
- 本场用“模型可见的有效上下文”作逻辑模型，不宣称所有 API 都让客户端每次按同一种格式重发完整历史。
- 项目文件在磁盘上，不等于文件正文已经在上下文里；读取、检索、附件处理等步骤决定哪些内容进入这一轮。
- 工具说明告诉模型可以请求什么，工具实现负责实际做事；两者不是同一个东西。
- 以本场客户端执行的读文件/改文件工具为例，模型产出调用请求，Harness 执行并回传结果；不要把这个简化说法推广成“所有平台内置工具都由本机执行”。
**核验说明：** OpenAI 的 function calling 文档明确区分模型返回调用、应用执行、结果送回模型及后续回答/调用。此处借它解释通用工程过程，不要求学生记忆 OpenAI 的字段。[^S01]
**过渡：** “一次调用不会自己长出循环；循环由外面的程序组织。”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对应脚本：P05
制作说明：本页为可编辑静态课件；截图框待讲者补入真实素材。未制作或运行 HTML、实机演示。
#### P05｜它为什么能连续读文件、修改、运行测试？
**预算：4 分钟；切 A01。**
**屏幕文案：**
&gt; Action 改变环境，Observation 改变下一轮输入。
PPT 留一张 A01 的完整静态帧，动画失败时仍能讲完。讲者用动画带大家经历一次“余票文案修复”。
A01静态替代：四次调用依次为读取、修改、测试、最终回答。执行结果回传后才进入下一次输入。失败反馈回到修复；final 是候选交付。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对应脚本：P07
制作说明：本页为可编辑静态课件；截图框待讲者补入真实素材。未制作或运行 HTML、实机演示。
#### P07｜Codex：把“指哪里改哪里”接到交付闭环
**预算：1 分钟。**
屏幕放四步：“指出目标 → 修改实现 → 操作页面 → 检查结果”。右上角注明“本场展示桌面工作流”。
讲述重点不是模型名字、版本榜单或让它新建整个网站，而是反馈如何变成任务、实际界面如何变成验证证据。
过渡：“第一项，人把问题指准确；第二项，Agent 自己去复现与检查。”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对应脚本：P11
制作说明：本页为可编辑静态课件；截图框待讲者补入真实素材。未制作或运行 HTML、实机演示。
#### P11｜先看没有额外包装的 Pi
**预算：4 分钟；主演示 D03。**
屏幕左侧放四张工具卡，右侧放一个 10 行以内的函数片段，强调这是小任务，不是复杂项目重构。
安装入口只占 20–30 秒：PPT 展示当前官方 npm 安装方式，配 `/login` 和 `/model` 的路径说明，随后切到已经登录的环境。不要现场等待 Node 安装、OAuth 回跳或填写 API Key。
```bash
# 课后安装入口；上台环境必须使用已彩排并锁定的版本。
npm install -g --ignore-scripts @earendil-works/pi-coding-agent
pi
```
```text
/login
/model
```
当前官方 README 的包名为 `@earendil-works/pi-coding-agent`。课后资料与现场版本一致即可，不要把不同年代的包名、命令和截图拼成一套说明。认证路径以实际 provider 支持和账户权限为准，不对全场承诺某订阅一定可用。[^S07]
实机截图与小任务代码为待补素材；不可声称已经完成彩排。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对应脚本：P12
制作说明：本页为可编辑静态课件；截图框待讲者补入真实素材。未制作或运行 HTML、实机演示。
#### P12｜先区分：界面变化与模型能力变化
**预算：2 分钟。**
先用 `/settings` 切到准备好的讲座主题，短暂展示 Ghostty 透明终端适配。投影难读时立即恢复不透明背景。
**屏幕文案：** “主题改变你怎么看，不等于改变模型看到了什么。”
随后将定制分成三个盒子：“界面与可观察状态”“模型可调用的工具”“流程与上下文”。这些是教学分类，一个插件可以跨多个盒子，不是产品官方分类法。
Pi 主题、扩展和 UI 定制能力有官方文档依据；具体主题名称使用讲者已经制作并彩排的主题，不在讲义里虚构一个现成主题包。[^S07][^S08]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对应脚本：P13
制作说明：本页为可编辑静态课件；截图框待讲者补入真实素材。未制作或运行 HTML、实机演示。
#### P13｜安装几个插件，看它们分别改变什么
**预算：6 分钟；主演示 D04。**
**最终主舞台选择：** `pi-breath`、`worktree-hud`、`pi-web-access`。
| 候选 | 本场安排 | 要证明的变化 | 不作出的承诺 |
|---|---|---|---|
| `pi-breath` | 主演，约 30 秒 | 运行活动能以很小的界面元素被感知 | 不把颜色当成模型完整思维的可视化 |
| `worktree-hud` | 主演，约 60 秒 | 不离开终端便能查看本次改动与 diff | 不展开完整 Git 教学或并行 worktree 工作流 |
| `pi-web-access` | 主演，约 90 秒 | 增加专门的检索/抓取工具及其结果 | 不说安装前模型绝对不能联网 |
| `pi-task-list` | 保留为课后候选/截图备用 | 任务状态展示或管理思路 | 本轮没有核实用户现用包的唯一来源、命令和注册项，不写死 |
| `pi-plan-mode` | 保留为问答备用 | 先规划后执行的工作流思路 | 不把“提示词说只读”当成已验证的权限隔离 |
剩余时间用于插件安装、切换和解释。原案的五个候选全部保留在讲义，但不逐一占用完整实机时段。
**核验说明：** 讲者的仓库已有两个独立包：`@scpz24/pi-breath` 与 `@scpz24/pi-worktree-hud`。前者展示活动状态；后者提供 worktree 摘要、文件列表和 diff 预览。其 README 记载的宿主要求涉及 Pi 0.84.1；HUD 另有 Node/Git/终端要求。彩排要核对整体组合，不能只确认插件代码下载成功。HUD 文档的 npm 安装说明带有“发布后”条件，本轮没有核实 npm 发布状态，故现场优先从预先准备好的本地目录加载。[^S09][^S10]
实机截图与小任务代码为待补素材；不可声称已经完成彩排。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对应脚本：P15
制作说明：本页为可编辑静态课件；截图框待讲者补入真实素材。未制作或运行 HTML、实机演示。
#### P15｜上下文不是一个大字符串文件，而是一条装配过程
**预算：6 分钟；切 A02。**
**原案来源：** 讲者提供 `https://scpz24.cn/posts/pi`，用于讲系统提示词拼装。本轮访问未成功，因此没有读取、复述或验证该文章的具体内容。
**本轮补充依据：** 用当前 Pi 官方 README、`system-prompt.ts` 与 skills 文档给出一份独立的制作说明。后续拿到博客正文后可以核对措辞，但不得在 PPT 上标成“已按博客逐项核验”。[^S07][^S13][^S14]
**屏幕文案：** “不同材料走不同入口；不是所有文件都叫 system prompt。”
#### A02｜Pi 上下文装配台
**文件：** `animations/a02-pi-context.html`  
**用途：** 解释系统提示词的来源、工具与对话的独立位置，以及按需加载。  
**演示方式：** 8 个手动状态，约 5 分钟；最后用 1 分钟提问。
**固定布局：** 左侧“资源来源”，中间“装配/选择”，右侧“本次请求的逻辑结构”。右侧始终有 `system_prompt`、`tools`、`messages` 三个独立盒子。下方另设“不发送给模型的本地状态”栏。
| 状态 | 演出内容 | 本页必须讲清楚 |
|---|---|---|
| A02-0 来源出现 | 左侧出现默认规则、AGENTS.md、skills、模板、扩展、主题、会话 | 材料来源不等于最终消息类型 |
| A02-1 默认系统提示词 | 默认身份/规则、工具简述等形成基础块 | 默认文本来自 Harness，而不是每次由用户手写 |
| A02-2 系统补充 | `APPEND_SYSTEM.md`、加载到的项目说明、skill 目录信息、cwd 分别入位 | 只表现已核验的来源；不自行加一个“全仓库正文”块 |
| A02-3 自定义分支 | 点击 `SYSTEM.md`，只替换默认基础块，后续上下文块仍保留 | 当前构建函数的自定义分支不等于清空其他上下文 |
| A02-4 工具目录 | 活跃工具定义进入 `tools`；简述可能也出现在系统规则中 | 工具 schema/定义与提示词里的介绍不能画成同一个数据对象 |
| A02-5 模板与历史 | 用户命令展开的提示词进入消息；当前会话分支形成历史 | Prompt template 通常展开为用户请求，不是自动获得 system 级别 |
| A02-6 按需读取 skill | 先有技能名称/描述；收到相关任务后读取一个 SKILL.md，正文进入消息/工具结果路径 | “列在目录里”和“全文已经读到”不是一回事 |
| A02-7 运行与整理 | 工具结果追加；老历史可被摘要替代，近期上下文保留；主题停在本地栏 | 扩展可能改变模型输入，也可能只改 UI；压缩不等于改变模型权重 |
**系统提示词的制作细节：** 当前 `buildSystemPrompt` 的默认分支会组织基础说明、可见工具简述与规则，再追加补充提示、项目上下文、满足条件的 skills 信息以及工作目录。自定义基础提示词分支仍会追加相应项目/技能/目录内容。动画按本次读取的源码组织，不把某个拼接顺序宣称成所有版本永久不变的协议。[^S13]
**项目规则的制作细节：** 只展示全局和当前项目两个 AGENTS 示例，避免在舞台上展开所有祖先目录和覆盖规则。补充说明：实际来源与覆盖策略由当前版本资源加载器决定；规则文件是模型指令，不是天然的文件系统权限屏障。[^S07]
**技能的制作细节：** 默认发现流程先暴露名称/描述等目录信息，匹配任务后再读正文；显式 `/skill:name` 有主动加载入口。不要把技能全部正文一开场就塞进 system，也不要保证模型永远能自动选对 skill。[^S14]
**两组可切换样本：**
| 样本 | 规则 / 输入 | 用途 |
|---|---|---|
| 精简、相关 | “只修改目标源文件；保持现有风格；运行 test:seats；不得放宽测试” | 显示与本轮小任务直接相关的约束 |
| 冗长、冲突 | 旧项目框架说明、过期命令、大量无关日志，再混入本轮需求 | 显示需要筛选的材料，不宣称存在一个普适 token 阈值 |
这些样本是教学构造，不是实测性能数据。若要显示 token 数，必须来自固定 provider/tokenizer 的实际计数；默认只用相对长度，不写看似精确的估值。
**动效规则：** 来源卡复制成内容块后，来源仍保留在左侧，避免暗示文件被移动/删除。更改主题只让本地 UI 栏变化，右侧上下文不得跟着无理由变长。上下文压缩只作用于示意的历史材料，不让整个 system prompt 突然变成一段聊天摘要。
**互动问题：** “一套主题会不会必然占据模型上下文？”“一个 skill 出现在目录里，是否说明正文已加载？”“AGENTS.md 写不能动某文件，和运行时拦截访问，是同一件事吗？”
**收束句：** “上下文工程不是把更多东西塞进去，而是让这一轮拿到需要的信息。”这是对本动画的总结；相关性、按需读取和长任务上下文整理也有公开工程实践支持。[^S15]
---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对应脚本：P16
制作说明：本页为可编辑静态课件；截图框待讲者补入真实素材。未制作或运行 HTML、实机演示。
### P16｜两个 Loop，别混成一个
**预算：2 分钟。**
**画面：** 外圈“人提出目标 → Agent 交付 → 人检查与反馈 → 再交付”；其中“Agent 交付”内部嵌一个较小的“推理 → 工具 → 观察 → 再推理”。
**屏幕文案：**
&gt; 内层：下一步怎么做？  
&gt; 外层：做到什么，算真正完成？
**讲述例子：** D02 里，读源码、编辑、测试可以发生在 Agent 的内部循环；讲者先提出“空白姓名不能成功”，再判断结果是否满足要求，属于外层协作。一次人类消息可以触发多次工具调用，二者不一一对应。
**过渡：** “接下来的‘时代变化’，看的是外层人机分工，不是模型内部循环多了几个箭头。”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对应脚本：P17
制作说明：本页为可编辑静态课件；截图框待讲者补入真实素材。未制作或运行 HTML、实机演示。
### P17｜同一个任务，在四种协作方式里怎么完成？
**预算：7 分钟；切 A03 的四阶段主线。**
PPT 放四个阶段名和一句问题：“哪些动作从人手里移到了系统里，哪些判断仍需要人？”不再开一个全新的例子。
### A03｜一次 e2e 的人机职责迁移
**文件：** `animations/a03-e2e-loops.html`  
**用途：** 看见人类、Agent 与 Harness 如何共同完成同一个任务。  
**演示方式：** 四阶段 + 一个异常分支；不自动轮播。P17 讲主线，P18 复用异常分支，不制作第四个 HTML。
**固定问题：** “修复 Campus Day 空白姓名也能报名的问题，并证明没有破坏正常报名。”
**固定布局：** 左侧 55% 是 Agent 职责侧，右侧 45% 是人类职责侧。左侧内部另有一个细边框区域标注“Harness / 工具 / 检查”，避免把脚本、测试和权限机制都画成模型脑内能力。顶端固定目标与验收条件，底部固定“候选结果 → 证据 → 验收”的状态条。
六类任务使用固定 ID，切阶段时同一张卡移动而不是换一套图标：定义目标、提供/取得资料、生成修改、执行与验证、失败处理、最终判断。人类侧的目标、关键取舍与授权不能在最后一幕凭空消失。
| 阶段 | Agent / 系统侧 | 人类侧 | 动画应该表达什么 |
|---|---|---|---|
| ChatBox | 根据粘贴的内容解释、生成候选代码 | 找文件、粘贴、复制修改、运行页面、把错误再贴回去、验收 | 大量跨边界搬运；AI 主要交付文本 |
| Prompt Engineering | 在更明确的任务、边界、输出格式下生成候选结果 | 花心思写清要求，仍主要自己搬运与执行 | 问法改善了，但不会自动得到文件权限、执行器或测试循环 |
| Context Engineering | 在本场选定的带工具工作流中，按需取得项目规范、源码、日志，再行动 | 整理可靠来源、定义要提供什么、检查信息缺口与结果 | 重点从“这句话怎么写”扩展到“这一轮看到了什么”；工具执行能力不是 Context Engineering 这个名词凭空赋予的 |
| Harness Engineering | 上下文加载、执行、检查、失败重试、状态记录、异常上报由运行系统协同组织 | 定义目标与不可破坏的约束，做必要审批、处理歧义、接受或拒绝结果 | 更多可验证的过程在系统内闭合，人保留关键判断和控制入口 |
**逐步分镜：**
| 状态 | 动作 | 讲者台词要点 |
|---|---|---|
| A03-0 固定目标 | 顶部出现同一任务与三条验收条件 | 比较工作方式，不靠更换难度制造进步感 |
| A03-1 ChatBox | 资料与代码包反复跨越中线；人按下“运行” | 人在担任文件搬运、执行器和反馈中转站 |
| A03-2 Prompt | 人类需求卡展开为目标/范围/验收；搬运箭头仍保留 | 更好的说明很重要，但它没有自动创建执行闭环 |
| A03-3 Context | 规范、代码、错误输出沿明确路径进入左侧；无关资料留在外面 | 把正确材料提供给正确的一轮 |
| A03-4 Harness | 左侧展开“执行 → 检查 → 失败反馈 → 再执行”；跨中线箭头集中到关键判断处 | 不是多写一段 system prompt，而是把过程变成运行系统 |
| A03-5 候选交付 | 出现 diff、测试、UI 复验三张证据卡，状态为“待验收” | 先拿证据，再接受结果 |
| A03-6 人类判断 | 讲者点击“接受”或“提出新约束”；拒绝时回到任务边界 | 外层 Loop 可以继续；并非任何 final 都结束 e2e |
**数量表达：** 可以显示当前示意图里经过了哪些步骤，但不写“效率提升 10 倍”“人类参与下降 80%”等未测数据。若显示箭头计数，必须注明“本图示意，不是实测指标”。默认不放计数器。
**不要偷换概念：** Prompt Engineering 与 Context Engineering 的区分在这里是关注对象的扩大，不是前者没有上下文；Harness 也不是把人删掉或无限增加插件。模型能力提升后，有些专门补丁可以被移除；需要继续保留的是当前任务真正需要的执行、反馈与边界。
**验收：** 在四种模式中，观众能找到同一个目标、同一个任务和最终的接受/拒绝入口；能分清哪些是 LLM 输出，哪些是普通程序执行。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对应脚本：R01
制作说明：本页为可编辑静态课件；截图框待讲者补入真实素材。未制作或运行 HTML、实机演示。
学习路线仅按原案分页和排版；下面保留原案内容。
## AI/CS学习路线
### 编程语言在AI时代的生态位
- Python：适合做实验/数学建模/脚本，用处最多，求职最广。建议会。
- TypeScript：适合做Agent产品与前端。
- C++：完成复杂、性能敏感的系统。可以配合CUDA写驱动GPU的LLM推理引擎。
- Rust：强调内存安全与性能控制。用于写高性能Agent Harness或者轻量工具。
### 计算机基础
可以不做笔记，但是一定要做Lab！
#### 入门
- CS61A：Python为主，通过函数、递归、数据抽象、面向对象等内容，训练如何组织程序、控制复杂度。最后Lab手写一个解释器。
#### 有意思的编程课
- CS61B：Java为主。包含两大块：Java与面向对象编程；数据结构。学完等于掌握本校大一下的面向对象程序设计和大二上的数据结构。最后要求学生自己动脑经实现一个“地图生成游戏”（课程给脚手架，学生往里面填充具体的算法）。
- MIT6.102：我正在学。TypeScript为主，讲解学校里不会教的软件工程的细节和习惯。
#### 数学强化
- MIT18.06：线性代数常青树。
- MIT6.041：足够硬核的概率论。
当代LLM推理架构一般是transformers。transformers里其实能找到大学数学的影子：
- 前向传播：线性代数/矩阵乘法
- 反向传播：偏导数、链式法则/高等数学；梯度、矩阵偏导：高数和线代大舞台。
- SoftMax/token采样：概率论
#### 机器学习
- MIT6.036：Python+numpy。比较难的“机器学习基础课”。适合数学好的同学，有挑战性。
- 吴恩达机器学习系列：Python+Pytorch。门槛低，更像科普。
- MIT6.S184：Python+Pytorch。AI图像生成精品小课。讲清楚用于图像生成的Flow/Diffusion模型原理，扩展到U-net/ViT。
#### 大语言模型数学原理与工程实践
- CS224N：Python+Pytorch进入自然语言处理的世界，讲清楚人类处理自然语言的各种工具和尝试，包括N-Gram，RNN，LSTM，Transformers等。Lab里有一个机器学习翻译器。
- CUDA Programming Course – High-Performance Computing with GPUs：从0学习CUDA语言。最后用CUDA实现一个多层感知器，用于手写数字识别。
- CMU11868：用C++和Python手写一个“小Pytorch”。现代LLM原理。3侧入手：
    1. 数学上讲清Transformers
    2. 把数学变成工程化引擎：数学的矩阵乘法在GPU的硬件上如何加速；CUDA语言/GEMM是什么？显存/计算谁是瓶颈？
    3. 推理加速：多卡协作（显存/计算/通信/流水线调度）；量化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对应脚本：R02
制作说明：本页为可编辑静态课件；截图框待讲者补入真实素材。未制作或运行 HTML、实机演示。
学习路线仅按原案分页和排版；下面保留原案内容。
## AI/CS学习路线
### 编程语言在AI时代的生态位
- Python：适合做实验/数学建模/脚本，用处最多，求职最广。建议会。
- TypeScript：适合做Agent产品与前端。
- C++：完成复杂、性能敏感的系统。可以配合CUDA写驱动GPU的LLM推理引擎。
- Rust：强调内存安全与性能控制。用于写高性能Agent Harness或者轻量工具。
### 计算机基础
可以不做笔记，但是一定要做Lab！
#### 入门
- CS61A：Python为主，通过函数、递归、数据抽象、面向对象等内容，训练如何组织程序、控制复杂度。最后Lab手写一个解释器。
#### 有意思的编程课
- CS61B：Java为主。包含两大块：Java与面向对象编程；数据结构。学完等于掌握本校大一下的面向对象程序设计和大二上的数据结构。最后要求学生自己动脑经实现一个“地图生成游戏”（课程给脚手架，学生往里面填充具体的算法）。
- MIT6.102：我正在学。TypeScript为主，讲解学校里不会教的软件工程的细节和习惯。
#### 数学强化
- MIT18.06：线性代数常青树。
- MIT6.041：足够硬核的概率论。
当代LLM推理架构一般是transformers。transformers里其实能找到大学数学的影子：
- 前向传播：线性代数/矩阵乘法
- 反向传播：偏导数、链式法则/高等数学；梯度、矩阵偏导：高数和线代大舞台。
- SoftMax/token采样：概率论
#### 机器学习
- MIT6.036：Python+numpy。比较难的“机器学习基础课”。适合数学好的同学，有挑战性。
- 吴恩达机器学习系列：Python+Pytorch。门槛低，更像科普。
- MIT6.S184：Python+Pytorch。AI图像生成精品小课。讲清楚用于图像生成的Flow/Diffusion模型原理，扩展到U-net/ViT。
#### 大语言模型数学原理与工程实践
- CS224N：Python+Pytorch进入自然语言处理的世界，讲清楚人类处理自然语言的各种工具和尝试，包括N-Gram，RNN，LSTM，Transformers等。Lab里有一个机器学习翻译器。
- CUDA Programming Course – High-Performance Computing with GPUs：从0学习CUDA语言。最后用CUDA实现一个多层感知器，用于手写数字识别。
- CMU11868：用C++和Python手写一个“小Pytorch”。现代LLM原理。3侧入手：
    1. 数学上讲清Transformers
    2. 把数学变成工程化引擎：数学的矩阵乘法在GPU的硬件上如何加速；CUDA语言/GEMM是什么？显存/计算谁是瓶颈？
    3. 推理加速：多卡协作（显存/计算/通信/流水线调度）；量化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对应脚本：R03
制作说明：本页为可编辑静态课件；截图框待讲者补入真实素材。未制作或运行 HTML、实机演示。
学习路线仅按原案分页和排版；下面保留原案内容。
## AI/CS学习路线
### 编程语言在AI时代的生态位
- Python：适合做实验/数学建模/脚本，用处最多，求职最广。建议会。
- TypeScript：适合做Agent产品与前端。
- C++：完成复杂、性能敏感的系统。可以配合CUDA写驱动GPU的LLM推理引擎。
- Rust：强调内存安全与性能控制。用于写高性能Agent Harness或者轻量工具。
### 计算机基础
可以不做笔记，但是一定要做Lab！
#### 入门
- CS61A：Python为主，通过函数、递归、数据抽象、面向对象等内容，训练如何组织程序、控制复杂度。最后Lab手写一个解释器。
#### 有意思的编程课
- CS61B：Java为主。包含两大块：Java与面向对象编程；数据结构。学完等于掌握本校大一下的面向对象程序设计和大二上的数据结构。最后要求学生自己动脑经实现一个“地图生成游戏”（课程给脚手架，学生往里面填充具体的算法）。
- MIT6.102：我正在学。TypeScript为主，讲解学校里不会教的软件工程的细节和习惯。
#### 数学强化
- MIT18.06：线性代数常青树。
- MIT6.041：足够硬核的概率论。
当代LLM推理架构一般是transformers。transformers里其实能找到大学数学的影子：
- 前向传播：线性代数/矩阵乘法
- 反向传播：偏导数、链式法则/高等数学；梯度、矩阵偏导：高数和线代大舞台。
- SoftMax/token采样：概率论
#### 机器学习
- MIT6.036：Python+numpy。比较难的“机器学习基础课”。适合数学好的同学，有挑战性。
- 吴恩达机器学习系列：Python+Pytorch。门槛低，更像科普。
- MIT6.S184：Python+Pytorch。AI图像生成精品小课。讲清楚用于图像生成的Flow/Diffusion模型原理，扩展到U-net/ViT。
#### 大语言模型数学原理与工程实践
- CS224N：Python+Pytorch进入自然语言处理的世界，讲清楚人类处理自然语言的各种工具和尝试，包括N-Gram，RNN，LSTM，Transformers等。Lab里有一个机器学习翻译器。
- CUDA Programming Course – High-Performance Computing with GPUs：从0学习CUDA语言。最后用CUDA实现一个多层感知器，用于手写数字识别。
- CMU11868：用C++和Python手写一个“小Pytorch”。现代LLM原理。3侧入手：
    1. 数学上讲清Transformers
    2. 把数学变成工程化引擎：数学的矩阵乘法在GPU的硬件上如何加速；CUDA语言/GEMM是什么？显存/计算谁是瓶颈？
    3. 推理加速：多卡协作（显存/计算/通信/流水线调度）；量化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对应脚本：R04
制作说明：本页为可编辑静态课件；截图框待讲者补入真实素材。未制作或运行 HTML、实机演示。
学习路线仅按原案分页和排版；下面保留原案内容。
## AI/CS学习路线
### 编程语言在AI时代的生态位
- Python：适合做实验/数学建模/脚本，用处最多，求职最广。建议会。
- TypeScript：适合做Agent产品与前端。
- C++：完成复杂、性能敏感的系统。可以配合CUDA写驱动GPU的LLM推理引擎。
- Rust：强调内存安全与性能控制。用于写高性能Agent Harness或者轻量工具。
### 计算机基础
可以不做笔记，但是一定要做Lab！
#### 入门
- CS61A：Python为主，通过函数、递归、数据抽象、面向对象等内容，训练如何组织程序、控制复杂度。最后Lab手写一个解释器。
#### 有意思的编程课
- CS61B：Java为主。包含两大块：Java与面向对象编程；数据结构。学完等于掌握本校大一下的面向对象程序设计和大二上的数据结构。最后要求学生自己动脑经实现一个“地图生成游戏”（课程给脚手架，学生往里面填充具体的算法）。
- MIT6.102：我正在学。TypeScript为主，讲解学校里不会教的软件工程的细节和习惯。
#### 数学强化
- MIT18.06：线性代数常青树。
- MIT6.041：足够硬核的概率论。
当代LLM推理架构一般是transformers。transformers里其实能找到大学数学的影子：
- 前向传播：线性代数/矩阵乘法
- 反向传播：偏导数、链式法则/高等数学；梯度、矩阵偏导：高数和线代大舞台。
- SoftMax/token采样：概率论
#### 机器学习
- MIT6.036：Python+numpy。比较难的“机器学习基础课”。适合数学好的同学，有挑战性。
- 吴恩达机器学习系列：Python+Pytorch。门槛低，更像科普。
- MIT6.S184：Python+Pytorch。AI图像生成精品小课。讲清楚用于图像生成的Flow/Diffusion模型原理，扩展到U-net/ViT。
#### 大语言模型数学原理与工程实践
- CS224N：Python+Pytorch进入自然语言处理的世界，讲清楚人类处理自然语言的各种工具和尝试，包括N-Gram，RNN，LSTM，Transformers等。Lab里有一个机器学习翻译器。
- CUDA Programming Course – High-Performance Computing with GPUs：从0学习CUDA语言。最后用CUDA实现一个多层感知器，用于手写数字识别。
- CMU11868：用C++和Python手写一个“小Pytorch”。现代LLM原理。3侧入手：
    1. 数学上讲清Transformers
    2. 把数学变成工程化引擎：数学的矩阵乘法在GPU的硬件上如何加速；CUDA语言/GEMM是什么？显存/计算谁是瓶颈？
    3. 推理加速：多卡协作（显存/计算/通信/流水线调度）；量化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对应脚本：R05
制作说明：本页为可编辑静态课件；截图框待讲者补入真实素材。未制作或运行 HTML、实机演示。
学习路线仅按原案分页和排版；下面保留原案内容。
## AI/CS学习路线
### 编程语言在AI时代的生态位
- Python：适合做实验/数学建模/脚本，用处最多，求职最广。建议会。
- TypeScript：适合做Agent产品与前端。
- C++：完成复杂、性能敏感的系统。可以配合CUDA写驱动GPU的LLM推理引擎。
- Rust：强调内存安全与性能控制。用于写高性能Agent Harness或者轻量工具。
### 计算机基础
可以不做笔记，但是一定要做Lab！
#### 入门
- CS61A：Python为主，通过函数、递归、数据抽象、面向对象等内容，训练如何组织程序、控制复杂度。最后Lab手写一个解释器。
#### 有意思的编程课
- CS61B：Java为主。包含两大块：Java与面向对象编程；数据结构。学完等于掌握本校大一下的面向对象程序设计和大二上的数据结构。最后要求学生自己动脑经实现一个“地图生成游戏”（课程给脚手架，学生往里面填充具体的算法）。
- MIT6.102：我正在学。TypeScript为主，讲解学校里不会教的软件工程的细节和习惯。
#### 数学强化
- MIT18.06：线性代数常青树。
- MIT6.041：足够硬核的概率论。
当代LLM推理架构一般是transformers。transformers里其实能找到大学数学的影子：
- 前向传播：线性代数/矩阵乘法
- 反向传播：偏导数、链式法则/高等数学；梯度、矩阵偏导：高数和线代大舞台。
- SoftMax/token采样：概率论
#### 机器学习
- MIT6.036：Python+numpy。比较难的“机器学习基础课”。适合数学好的同学，有挑战性。
- 吴恩达机器学习系列：Python+Pytorch。门槛低，更像科普。
- MIT6.S184：Python+Pytorch。AI图像生成精品小课。讲清楚用于图像生成的Flow/Diffusion模型原理，扩展到U-net/ViT。
#### 大语言模型数学原理与工程实践
- CS224N：Python+Pytorch进入自然语言处理的世界，讲清楚人类处理自然语言的各种工具和尝试，包括N-Gram，RNN，LSTM，Transformers等。Lab里有一个机器学习翻译器。
- CUDA Programming Course – High-Performance Computing with GPUs：从0学习CUDA语言。最后用CUDA实现一个多层感知器，用于手写数字识别。
- CMU11868：用C++和Python手写一个“小Pytorch”。现代LLM原理。3侧入手：
    1. 数学上讲清Transformers
    2. 把数学变成工程化引擎：数学的矩阵乘法在GPU的硬件上如何加速；CUDA语言/GEMM是什么？显存/计算谁是瓶颈？
    3. 推理加速：多卡协作（显存/计算/通信/流水线调度）；量化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对应脚本：R06
制作说明：本页为可编辑静态课件；截图框待讲者补入真实素材。未制作或运行 HTML、实机演示。
学习路线仅按原案分页和排版；下面保留原案内容。
## AI/CS学习路线
### 编程语言在AI时代的生态位
- Python：适合做实验/数学建模/脚本，用处最多，求职最广。建议会。
- TypeScript：适合做Agent产品与前端。
- C++：完成复杂、性能敏感的系统。可以配合CUDA写驱动GPU的LLM推理引擎。
- Rust：强调内存安全与性能控制。用于写高性能Agent Harness或者轻量工具。
### 计算机基础
可以不做笔记，但是一定要做Lab！
#### 入门
- CS61A：Python为主，通过函数、递归、数据抽象、面向对象等内容，训练如何组织程序、控制复杂度。最后Lab手写一个解释器。
#### 有意思的编程课
- CS61B：Java为主。包含两大块：Java与面向对象编程；数据结构。学完等于掌握本校大一下的面向对象程序设计和大二上的数据结构。最后要求学生自己动脑经实现一个“地图生成游戏”（课程给脚手架，学生往里面填充具体的算法）。
- MIT6.102：我正在学。TypeScript为主，讲解学校里不会教的软件工程的细节和习惯。
#### 数学强化
- MIT18.06：线性代数常青树。
- MIT6.041：足够硬核的概率论。
当代LLM推理架构一般是transformers。transformers里其实能找到大学数学的影子：
- 前向传播：线性代数/矩阵乘法
- 反向传播：偏导数、链式法则/高等数学；梯度、矩阵偏导：高数和线代大舞台。
- SoftMax/token采样：概率论
#### 机器学习
- MIT6.036：Python+numpy。比较难的“机器学习基础课”。适合数学好的同学，有挑战性。
- 吴恩达机器学习系列：Python+Pytorch。门槛低，更像科普。
- MIT6.S184：Python+Pytorch。AI图像生成精品小课。讲清楚用于图像生成的Flow/Diffusion模型原理，扩展到U-net/ViT。
#### 大语言模型数学原理与工程实践
- CS224N：Python+Pytorch进入自然语言处理的世界，讲清楚人类处理自然语言的各种工具和尝试，包括N-Gram，RNN，LSTM，Transformers等。Lab里有一个机器学习翻译器。
- CUDA Programming Course – High-Performance Computing with GPUs：从0学习CUDA语言。最后用CUDA实现一个多层感知器，用于手写数字识别。
- CMU11868：用C++和Python手写一个“小Pytorch”。现代LLM原理。3侧入手：
    1. 数学上讲清Transformers
    2. 把数学变成工程化引擎：数学的矩阵乘法在GPU的硬件上如何加速；CUDA语言/GEMM是什么？显存/计算谁是瓶颈？
    3. 推理加速：多卡协作（显存/计算/通信/流水线调度）；量化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对应脚本：R07
制作说明：本页为可编辑静态课件；截图框待讲者补入真实素材。未制作或运行 HTML、实机演示。
学习路线仅按原案分页和排版；下面保留原案内容。
## AI/CS学习路线
### 编程语言在AI时代的生态位
- Python：适合做实验/数学建模/脚本，用处最多，求职最广。建议会。
- TypeScript：适合做Agent产品与前端。
- C++：完成复杂、性能敏感的系统。可以配合CUDA写驱动GPU的LLM推理引擎。
- Rust：强调内存安全与性能控制。用于写高性能Agent Harness或者轻量工具。
### 计算机基础
可以不做笔记，但是一定要做Lab！
#### 入门
- CS61A：Python为主，通过函数、递归、数据抽象、面向对象等内容，训练如何组织程序、控制复杂度。最后Lab手写一个解释器。
#### 有意思的编程课
- CS61B：Java为主。包含两大块：Java与面向对象编程；数据结构。学完等于掌握本校大一下的面向对象程序设计和大二上的数据结构。最后要求学生自己动脑经实现一个“地图生成游戏”（课程给脚手架，学生往里面填充具体的算法）。
- MIT6.102：我正在学。TypeScript为主，讲解学校里不会教的软件工程的细节和习惯。
#### 数学强化
- MIT18.06：线性代数常青树。
- MIT6.041：足够硬核的概率论。
当代LLM推理架构一般是transformers。transformers里其实能找到大学数学的影子：
- 前向传播：线性代数/矩阵乘法
- 反向传播：偏导数、链式法则/高等数学；梯度、矩阵偏导：高数和线代大舞台。
- SoftMax/token采样：概率论
#### 机器学习
- MIT6.036：Python+numpy。比较难的“机器学习基础课”。适合数学好的同学，有挑战性。
- 吴恩达机器学习系列：Python+Pytorch。门槛低，更像科普。
- MIT6.S184：Python+Pytorch。AI图像生成精品小课。讲清楚用于图像生成的Flow/Diffusion模型原理，扩展到U-net/ViT。
#### 大语言模型数学原理与工程实践
- CS224N：Python+Pytorch进入自然语言处理的世界，讲清楚人类处理自然语言的各种工具和尝试，包括N-Gram，RNN，LSTM，Transformers等。Lab里有一个机器学习翻译器。
- CUDA Programming Course – High-Performance Computing with GPUs：从0学习CUDA语言。最后用CUDA实现一个多层感知器，用于手写数字识别。
- CMU11868：用C++和Python手写一个“小Pytorch”。现代LLM原理。3侧入手：
    1. 数学上讲清Transformers
    2. 把数学变成工程化引擎：数学的矩阵乘法在GPU的硬件上如何加速；CUDA语言/GEMM是什么？显存/计算谁是瓶颈？
    3. 推理加速：多卡协作（显存/计算/通信/流水线调度）；量化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对应脚本：R08
制作说明：本页为可编辑静态课件；截图框待讲者补入真实素材。未制作或运行 HTML、实机演示。
学习路线仅按原案分页和排版；下面保留原案内容。
## AI/CS学习路线
### 编程语言在AI时代的生态位
- Python：适合做实验/数学建模/脚本，用处最多，求职最广。建议会。
- TypeScript：适合做Agent产品与前端。
- C++：完成复杂、性能敏感的系统。可以配合CUDA写驱动GPU的LLM推理引擎。
- Rust：强调内存安全与性能控制。用于写高性能Agent Harness或者轻量工具。
### 计算机基础
可以不做笔记，但是一定要做Lab！
#### 入门
- CS61A：Python为主，通过函数、递归、数据抽象、面向对象等内容，训练如何组织程序、控制复杂度。最后Lab手写一个解释器。
#### 有意思的编程课
- CS61B：Java为主。包含两大块：Java与面向对象编程；数据结构。学完等于掌握本校大一下的面向对象程序设计和大二上的数据结构。最后要求学生自己动脑经实现一个“地图生成游戏”（课程给脚手架，学生往里面填充具体的算法）。
- MIT6.102：我正在学。TypeScript为主，讲解学校里不会教的软件工程的细节和习惯。
#### 数学强化
- MIT18.06：线性代数常青树。
- MIT6.041：足够硬核的概率论。
当代LLM推理架构一般是transformers。transformers里其实能找到大学数学的影子：
- 前向传播：线性代数/矩阵乘法
- 反向传播：偏导数、链式法则/高等数学；梯度、矩阵偏导：高数和线代大舞台。
- SoftMax/token采样：概率论
#### 机器学习
- MIT6.036：Python+numpy。比较难的“机器学习基础课”。适合数学好的同学，有挑战性。
- 吴恩达机器学习系列：Python+Pytorch。门槛低，更像科普。
- MIT6.S184：Python+Pytorch。AI图像生成精品小课。讲清楚用于图像生成的Flow/Diffusion模型原理，扩展到U-net/ViT。
#### 大语言模型数学原理与工程实践
- CS224N：Python+Pytorch进入自然语言处理的世界，讲清楚人类处理自然语言的各种工具和尝试，包括N-Gram，RNN，LSTM，Transformers等。Lab里有一个机器学习翻译器。
- CUDA Programming Course – High-Performance Computing with GPUs：从0学习CUDA语言。最后用CUDA实现一个多层感知器，用于手写数字识别。
- CMU11868：用C++和Python手写一个“小Pytorch”。现代LLM原理。3侧入手：
    1. 数学上讲清Transformers
    2. 把数学变成工程化引擎：数学的矩阵乘法在GPU的硬件上如何加速；CUDA语言/GEMM是什么？显存/计算谁是瓶颈？
    3. 推理加速：多卡协作（显存/计算/通信/流水线调度）；量化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对应脚本：封面
制作说明：本页为可编辑静态课件；截图框待讲者补入真实素材。未制作或运行 HTML、实机演示。
来源索引沿用制作脚本（2026-09-16核验记录），本轮未重新审校产品资料：
[^S01]: OpenAI，Function calling；支撑模型调用请求、应用执行和结果回传的区分。`https://developers.openai.com/api/docs/guides/function-calling`
[^S02]: OpenAI，Reasoning models；用于区分推理过程、可提供的推理信息与面向用户输出；不以动画展示模型完整内部思维链。`https://developers.openai.com/api/docs/guides/reasoning`
[^S03]: ReAct 原研究项目页面，Synergizing Reasoning and Acting in Language Models。`https://react-lm.github.io/`
[^S04]: OpenAI / ChatGPT Learn，Browser；包含 Annotation、样式反馈以及局部任务范围建议。`https://learn.chatgpt.com/docs/browser`
[^S05]: OpenAI / ChatGPT Learn，Computer Use；支撑 GUI 操作、应用授权与系统权限、结构化接口/浏览器使用边界。`https://learn.chatgpt.com/docs/computer-use`
[^S06]: OpenAI Help，Using the built-in browser in the ChatGPT desktop app；支撑桌面浏览器状态、站点权限与工作区限制。`https://help.openai.com/en/articles/20001277-using-the-built-in-browser-in-the-chatgpt-desktop-app`
[^S07]: Pi 官方 `packages/coding-agent/README.md`；基础工具、安装、命令、系统/项目上下文、模板、主题与会话。文件 blob SHA：`6445443f905d2417afa0b0bd91ab1dfad0cf1bb6`。`https://github.com/earendil-works/pi/blob/main/packages/coding-agent/README.md`
[^S08]: Pi 官方 `docs/extensions.md`；工具注册、命令、事件、UI 和扩展执行权限。文件 blob SHA：`07277d2778095bd00a74925cf6436e5fa1274ff8`。`https://github.com/earendil-works/pi/blob/main/packages/coding-agent/docs/extensions.md`
[^S09]: 讲者仓库 `@scpz24/pi-breath` README；活动条、用户命令与宿主版本条件。文件 blob SHA：`0b84404ab56b5bfb75d6672b9c8a72f837a573f5`。`https://github.com/SCPZ24/z24-pi-extensions/blob/main/packages/pi-breath/README.md`
[^S10]: 讲者仓库 `@scpz24/pi-worktree-hud` README；HUD、文件/diff 预览、命令与依赖条件。文件 blob SHA：`3272fe753d17935a16b2448a8e410f41d17facca`。`https://github.com/SCPZ24/z24-pi-extensions/blob/main/packages/pi-worktree-hud/README.md`
[^S11]: Pi 官方 `docs/packages.md`；本地包、项目级安装、固定版本与扩展风险说明。文件 blob SHA：`cadeb18673a08b8f2812510abac3a5a33804b4a9`。`https://github.com/earendil-works/pi/blob/main/packages/coding-agent/docs/packages.md`
[^S12]: `nicobailon/pi-web-access` 官方仓库 README；专门的网页检索与抓取能力、工具和安装方式。这里只核实项目能力，未运行用户设备上的实际插件组合。`https://github.com/nicobailon/pi-web-access`
[^S13]: Pi `src/core/system-prompt.ts`；系统提示词默认/自定义分支与追加内容。文件 blob SHA：`92476917a77fe999f8882d085fdb202c47bdcbc3`。`https://github.com/earendil-works/pi/blob/main/packages/coding-agent/src/core/system-prompt.ts`
[^S14]: Pi 官方 `docs/skills.md`；发现描述、按需加载全文以及显式 skill 命令。`https://github.com/earendil-works/pi/blob/main/packages/coding-agent/docs/skills.md`
[^S15]: Anthropic，Effective context engineering for AI agents；用于支持按需取得相关信息、控制上下文和长期任务整理的工程背景，不用于添加第三种工具实战。`https://www.anthropic.com/engineering/effective-context-engineering-for-ai-agents`
[^S16]: OpenAI，Harness engineering: leveraging Codex in an agent-first world，2026-02-11；支持对环境、反馈与机械检查的趋势说明，不照搬特定组织的效率估算。`https://openai.com/index/harness-engineering/`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877824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96112" y="1779397"/>
            <a:ext cx="10378440" cy="1746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AgentFlow EP3</a:t>
            </a:r>
            <a:endParaRPr lang="en-US" sz="5000" b="1" dirty="0">
              <a:solidFill>
                <a:srgbClr val="202B32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71620" y="379920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软件学院</a:t>
            </a:r>
            <a:endParaRPr lang="zh-CN" altLang="en-US" b="1"/>
          </a:p>
          <a:p>
            <a:pPr algn="ctr"/>
            <a:r>
              <a:rPr lang="zh-CN" altLang="en-US"/>
              <a:t>张一川</a:t>
            </a:r>
            <a:r>
              <a:rPr lang="zh-CN" altLang="en-US"/>
              <a:t>教授</a:t>
            </a:r>
            <a:endParaRPr lang="zh-CN" altLang="en-US"/>
          </a:p>
          <a:p>
            <a:pPr algn="ctr"/>
            <a:r>
              <a:rPr lang="zh-CN" altLang="en-US"/>
              <a:t>赵宇彤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63880" y="33147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0D1326"/>
                </a:solidFill>
                <a:latin typeface="黑体" charset="0"/>
                <a:ea typeface="黑体" charset="0"/>
                <a:cs typeface="Noto Sans SC"/>
                <a:sym typeface="Noto Sans SC"/>
              </a:rPr>
              <a:t>大模型</a:t>
            </a:r>
            <a:r>
              <a:rPr lang="zh-CN" altLang="en-US" sz="3400" b="1" i="0" u="none" strike="noStrike">
                <a:solidFill>
                  <a:srgbClr val="0D1326"/>
                </a:solidFill>
                <a:latin typeface="黑体" charset="0"/>
                <a:ea typeface="黑体" charset="0"/>
                <a:cs typeface="Noto Sans SC"/>
                <a:sym typeface="Noto Sans SC"/>
              </a:rPr>
              <a:t>到底</a:t>
            </a:r>
            <a:r>
              <a:rPr lang="en-US" sz="3400" b="1" i="0" u="none" strike="noStrike">
                <a:solidFill>
                  <a:srgbClr val="0D1326"/>
                </a:solidFill>
                <a:latin typeface="黑体" charset="0"/>
                <a:ea typeface="黑体" charset="0"/>
                <a:cs typeface="Noto Sans SC"/>
                <a:sym typeface="Noto Sans SC"/>
              </a:rPr>
              <a:t>是敌是友？</a:t>
            </a:r>
            <a:endParaRPr lang="en-US" sz="3400">
              <a:latin typeface="黑体" charset="0"/>
              <a:ea typeface="黑体" charset="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99135" y="1499235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真香定律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99135" y="2337435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降低入门门槛，快速获得正向反馈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99135" y="2966085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高效查错补全，解放重复劳动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99135" y="3683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24小时在线的"编程助教"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795645" y="1500505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隐形陷阱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795645" y="2135505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直接抄答案 = 直接跳过思考过程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795645" y="2770505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看似会了，实则基础全空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795645" y="3405505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离开AI，立刻"不会编程"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35380" y="48260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工具本身没有对错，错的是使用方式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135380" y="52705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AI是放大镜：好方法 + AI = 事半功倍 ｜ 懒方法 + AI = 地基崩塌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  <p:bldP spid="10" grpId="0"/>
      <p:bldP spid="11" grpId="0"/>
      <p:bldP spid="12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87375" y="76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三个核心问题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88365" y="25400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现状观察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8365" y="3048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学生编程能力，真的在下降吗？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794375" y="26670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本质拷问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794375" y="3175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大模型是救星，还是能力杀手？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858375" y="2667000"/>
            <a:ext cx="165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未来方向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731375" y="31750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AI时代，编程怎么学？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0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6910" y="343535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从"拉分题"，变成"送走分题"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76910" y="1651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现象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76910" y="228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以前编程水平有高有低，好歹能拉开差距；现在集体性空白，分都给"送走了"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76910" y="3429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痛点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76910" y="4064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语法背得滚瓜烂熟，动手写代码、调试排错能力基本为零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76910" y="5207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本质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819910" y="5270500"/>
            <a:ext cx="889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没有经历真实“</a:t>
            </a:r>
            <a:r>
              <a:rPr lang="en-US" sz="1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踩坑 → 试错 → 调试</a:t>
            </a:r>
            <a:r>
              <a:rPr lang="zh-CN" altLang="en-US" sz="1800" b="1" i="0" u="none" strike="noStrike">
                <a:solidFill>
                  <a:srgbClr val="0D1326"/>
                </a:solidFill>
                <a:latin typeface="Noto Sans SC"/>
                <a:ea typeface="宋体" charset="0"/>
                <a:cs typeface="Noto Sans SC"/>
                <a:sym typeface="Noto Sans SC"/>
              </a:rPr>
              <a:t>”</a:t>
            </a:r>
            <a:r>
              <a:rPr lang="en-US" sz="1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的核心成长过程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教学反思 &amp; 同学建议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8647">
            <a:off x="1016026" y="1263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6510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考核转向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从默写</a:t>
            </a:r>
            <a:r>
              <a:rPr lang="zh-CN" alt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代码</a:t>
            </a:r>
            <a:endParaRPr lang="zh-CN" altLang="en-US" sz="15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到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读代码、改代码、评代码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699000" y="16510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内容转向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699000" y="2159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从抠语法细节</a:t>
            </a:r>
            <a:endParaRPr lang="en-US" sz="15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到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练逻辑、练调试、练问题拆解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82000" y="16510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工具转向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382000" y="2159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从禁止用AI</a:t>
            </a:r>
            <a:endParaRPr lang="en-US" sz="15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到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教你正确用AI」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3683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正确姿势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318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拿AI当老师，不当抄作业工具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889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先独立写，再问AI，最后自己复现一遍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5461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重点学思路，不是抄答案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3683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错误姿势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318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题目一粘，代码一抄，完事大吉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889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看似省时间，实则基础全空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5461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离开AI，立刻不会编程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4" grpId="1"/>
      <p:bldP spid="5" grpId="1"/>
      <p:bldP spid="7" grpId="0"/>
      <p:bldP spid="8" grpId="0"/>
      <p:bldP spid="10" grpId="0"/>
      <p:bldP spid="11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未来图景 &amp; 学习方向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28647">
            <a:off x="1016026" y="1263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58750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未来的智能编程环境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自然语言驱动：描述需求即可生成代码初稿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智能辅助标配：自动补全、错误排查、性能优化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175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角色转变：从「代码打字员」→「需求定义者 + 质量把控者」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158750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AI时代，我们学什么？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159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基础语法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：不用死记，但要能读懂、能判断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667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计算思维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：问题拆解、逻辑设计、方案验证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3175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工具协作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：会用工具、善用工具、不依赖工具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70000" y="4826000"/>
            <a:ext cx="965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未来，不会用AI编程的人会被淘汰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70000" y="5334000"/>
            <a:ext cx="965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但只会用AI编程的人，也会被淘汰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  <p:bldP spid="10" grpId="0"/>
      <p:bldP spid="11" grpId="0"/>
      <p:bldP spid="12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87375" y="76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回看</a:t>
            </a:r>
            <a:r>
              <a:rPr lang="en-US" sz="36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三个核心问题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410970" y="25400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现状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52855" y="31115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会让代码越来越便宜，但会让判断越来越值钱。</a:t>
            </a:r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5634990" y="25400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本质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420995" y="3302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真正值得学习的编程，不是记住更多语法</a:t>
            </a:r>
            <a:r>
              <a:rPr lang="en-US" altLang="zh-CN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zh-CN" altLang="en-US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而是把模糊问题再建模</a:t>
            </a:r>
            <a:r>
              <a:rPr lang="en-US" altLang="zh-CN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altLang="zh-CN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9604375" y="2540000"/>
            <a:ext cx="165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未来方向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511030" y="34290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未来最有竞争力的人，</a:t>
            </a:r>
            <a:endParaRPr lang="zh-CN" altLang="en-US" sz="14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不是写出最多代码的人，</a:t>
            </a:r>
            <a:endParaRPr lang="zh-CN" altLang="en-US" sz="14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而是能判断什么值得建造、</a:t>
            </a:r>
            <a:endParaRPr lang="zh-CN" altLang="en-US" sz="14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结果是否可信，</a:t>
            </a:r>
            <a:endParaRPr lang="zh-CN" altLang="en-US" sz="14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并愿意为后果负责的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人</a:t>
            </a:r>
            <a:endParaRPr lang="zh-CN" altLang="en-US" sz="14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0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31190" y="603504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altLang="zh-CN" sz="3400" b="1" dirty="0">
                <a:latin typeface="黑体" charset="0"/>
                <a:ea typeface="黑体" charset="0"/>
              </a:rPr>
              <a:t>Follow Up</a:t>
            </a:r>
            <a:endParaRPr lang="en-US" altLang="zh-CN" sz="3400" b="1" dirty="0">
              <a:latin typeface="黑体" charset="0"/>
              <a:ea typeface="黑体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80415" y="2479675"/>
            <a:ext cx="5758180" cy="1567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Codex</a:t>
            </a:r>
            <a:r>
              <a:rPr lang="zh-CN" alt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隐藏功能</a:t>
            </a: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：</a:t>
            </a:r>
            <a:endParaRPr lang="en-US" sz="2000" b="1" dirty="0">
              <a:solidFill>
                <a:srgbClr val="087F91"/>
              </a:solidFill>
              <a:latin typeface="黑体" charset="0"/>
              <a:ea typeface="黑体" charset="0"/>
              <a:cs typeface="黑体" charset="0"/>
            </a:endParaRPr>
          </a:p>
          <a:p>
            <a:pPr marL="342900" indent="-342900" algn="l">
              <a:lnSpc>
                <a:spcPct val="113000"/>
              </a:lnSpc>
              <a:buFont typeface="Arial" panose="020B0604020202090204" pitchFamily="34" charset="0"/>
              <a:buChar char="•"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Computer Use</a:t>
            </a:r>
            <a:r>
              <a:rPr lang="zh-CN" alt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释放释放多模态能力</a:t>
            </a:r>
            <a:endParaRPr lang="en-US" sz="2000" b="1" dirty="0">
              <a:solidFill>
                <a:srgbClr val="087F91"/>
              </a:solidFill>
              <a:latin typeface="黑体" charset="0"/>
              <a:ea typeface="黑体" charset="0"/>
              <a:cs typeface="黑体" charset="0"/>
            </a:endParaRPr>
          </a:p>
          <a:p>
            <a:pPr marL="342900" indent="-342900" algn="l">
              <a:lnSpc>
                <a:spcPct val="113000"/>
              </a:lnSpc>
              <a:buFont typeface="Arial" panose="020B0604020202090204" pitchFamily="34" charset="0"/>
              <a:buChar char="•"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Codex</a:t>
            </a:r>
            <a:r>
              <a:rPr lang="zh-CN" alt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内置浏览器</a:t>
            </a:r>
            <a:endParaRPr lang="zh-CN" altLang="en-US" sz="2000" b="1" dirty="0">
              <a:solidFill>
                <a:srgbClr val="087F91"/>
              </a:solidFill>
              <a:latin typeface="黑体" charset="0"/>
              <a:ea typeface="黑体" charset="0"/>
              <a:cs typeface="黑体" charset="0"/>
            </a:endParaRPr>
          </a:p>
          <a:p>
            <a:pPr marL="342900" indent="-342900" algn="l">
              <a:lnSpc>
                <a:spcPct val="113000"/>
              </a:lnSpc>
              <a:buFont typeface="Arial" panose="020B0604020202090204" pitchFamily="34" charset="0"/>
              <a:buChar char="•"/>
            </a:pPr>
            <a:r>
              <a:rPr lang="en-US" altLang="zh-CN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Sketch</a:t>
            </a:r>
            <a:r>
              <a:rPr lang="zh-CN" alt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和对话</a:t>
            </a:r>
            <a:r>
              <a:rPr lang="zh-CN" alt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引用</a:t>
            </a:r>
            <a:endParaRPr lang="zh-CN" altLang="en-US" sz="2000" b="1" dirty="0">
              <a:solidFill>
                <a:srgbClr val="087F91"/>
              </a:solidFill>
              <a:latin typeface="黑体" charset="0"/>
              <a:ea typeface="黑体" charset="0"/>
              <a:cs typeface="黑体" charset="0"/>
            </a:endParaRPr>
          </a:p>
          <a:p>
            <a:pPr marL="342900" indent="-342900" algn="l">
              <a:lnSpc>
                <a:spcPct val="113000"/>
              </a:lnSpc>
              <a:buFont typeface="Arial" panose="020B0604020202090204" pitchFamily="34" charset="0"/>
              <a:buChar char="•"/>
            </a:pPr>
            <a:endParaRPr lang="en-US" sz="2000" b="1" dirty="0">
              <a:solidFill>
                <a:srgbClr val="087F91"/>
              </a:solidFill>
              <a:latin typeface="黑体" charset="0"/>
              <a:ea typeface="黑体" charset="0"/>
              <a:cs typeface="黑体" charset="0"/>
            </a:endParaRPr>
          </a:p>
          <a:p>
            <a:pPr marL="0" indent="457200" algn="l">
              <a:lnSpc>
                <a:spcPct val="113000"/>
              </a:lnSpc>
              <a:buNone/>
            </a:pP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780415" y="3879215"/>
            <a:ext cx="7825740" cy="2108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Pi：</a:t>
            </a:r>
            <a:r>
              <a:rPr lang="zh-CN" altLang="en-US" sz="2000" b="1" dirty="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最受程序员欢迎的开源</a:t>
            </a:r>
            <a:r>
              <a:rPr lang="en-US" altLang="zh-CN" sz="2000" b="1" dirty="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Agent</a:t>
            </a:r>
            <a:endParaRPr lang="zh-CN" altLang="en-US" sz="2000" b="1" dirty="0">
              <a:solidFill>
                <a:srgbClr val="7030A0"/>
              </a:solidFill>
              <a:latin typeface="黑体" charset="0"/>
              <a:ea typeface="黑体" charset="0"/>
              <a:cs typeface="黑体" charset="0"/>
            </a:endParaRPr>
          </a:p>
          <a:p>
            <a:pPr marL="342900" indent="-342900">
              <a:lnSpc>
                <a:spcPct val="1130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配置与</a:t>
            </a:r>
            <a:r>
              <a:rPr lang="zh-CN" altLang="en-US" sz="2000" b="1" dirty="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组装</a:t>
            </a:r>
            <a:endParaRPr lang="zh-CN" altLang="en-US" sz="2000" b="1" dirty="0">
              <a:solidFill>
                <a:srgbClr val="7030A0"/>
              </a:solidFill>
              <a:latin typeface="黑体" charset="0"/>
              <a:ea typeface="黑体" charset="0"/>
              <a:cs typeface="黑体" charset="0"/>
            </a:endParaRPr>
          </a:p>
          <a:p>
            <a:pPr marL="342900" indent="-342900">
              <a:lnSpc>
                <a:spcPct val="1130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上下文</a:t>
            </a:r>
            <a:r>
              <a:rPr lang="zh-CN" altLang="en-US" sz="2000" b="1" dirty="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管理</a:t>
            </a:r>
            <a:endParaRPr lang="zh-CN" altLang="en-US" sz="2000" b="1" dirty="0">
              <a:solidFill>
                <a:srgbClr val="7030A0"/>
              </a:solidFill>
              <a:latin typeface="黑体" charset="0"/>
              <a:ea typeface="黑体" charset="0"/>
              <a:cs typeface="黑体" charset="0"/>
            </a:endParaRPr>
          </a:p>
          <a:p>
            <a:pPr marL="342900" indent="-342900">
              <a:lnSpc>
                <a:spcPct val="1130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插件</a:t>
            </a:r>
            <a:r>
              <a:rPr lang="zh-CN" altLang="en-US" sz="2000" b="1" dirty="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生态</a:t>
            </a:r>
            <a:endParaRPr lang="zh-CN" altLang="en-US" sz="2000" b="1" dirty="0">
              <a:solidFill>
                <a:srgbClr val="7030A0"/>
              </a:solidFill>
              <a:latin typeface="黑体" charset="0"/>
              <a:ea typeface="黑体" charset="0"/>
              <a:cs typeface="黑体" charset="0"/>
            </a:endParaRPr>
          </a:p>
          <a:p>
            <a:pPr indent="0">
              <a:lnSpc>
                <a:spcPct val="113000"/>
              </a:lnSpc>
              <a:buFont typeface="Arial" panose="020B0604020202090204" pitchFamily="34" charset="0"/>
              <a:buNone/>
            </a:pPr>
            <a:endParaRPr lang="zh-CN" altLang="en-US" sz="2000" b="1" dirty="0">
              <a:solidFill>
                <a:srgbClr val="7030A0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244590" y="2479675"/>
            <a:ext cx="3560445" cy="830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olidFill>
                  <a:schemeClr val="accent6">
                    <a:lumMod val="75000"/>
                  </a:schemeClr>
                </a:solidFill>
                <a:latin typeface="黑体" charset="0"/>
                <a:ea typeface="黑体" charset="0"/>
                <a:cs typeface="黑体" charset="0"/>
              </a:rPr>
              <a:t>再看</a:t>
            </a:r>
            <a:r>
              <a:rPr lang="en-US" altLang="zh-CN" sz="2000" b="1">
                <a:solidFill>
                  <a:schemeClr val="accent6">
                    <a:lumMod val="75000"/>
                  </a:schemeClr>
                </a:solidFill>
                <a:latin typeface="黑体" charset="0"/>
                <a:ea typeface="黑体" charset="0"/>
                <a:cs typeface="黑体" charset="0"/>
              </a:rPr>
              <a:t>Loop：</a:t>
            </a:r>
            <a:r>
              <a:rPr lang="zh-CN" altLang="en-US" sz="2000" b="1">
                <a:solidFill>
                  <a:schemeClr val="accent6">
                    <a:lumMod val="75000"/>
                  </a:schemeClr>
                </a:solidFill>
                <a:latin typeface="黑体" charset="0"/>
                <a:ea typeface="黑体" charset="0"/>
                <a:cs typeface="黑体" charset="0"/>
              </a:rPr>
              <a:t>智能体发展如何改变人机</a:t>
            </a:r>
            <a:r>
              <a:rPr lang="zh-CN" altLang="en-US" sz="2000" b="1">
                <a:solidFill>
                  <a:schemeClr val="accent6">
                    <a:lumMod val="75000"/>
                  </a:schemeClr>
                </a:solidFill>
                <a:latin typeface="黑体" charset="0"/>
                <a:ea typeface="黑体" charset="0"/>
                <a:cs typeface="黑体" charset="0"/>
              </a:rPr>
              <a:t>工作流</a:t>
            </a:r>
            <a:endParaRPr lang="zh-CN" altLang="en-US" sz="2000" b="1">
              <a:solidFill>
                <a:schemeClr val="accent6">
                  <a:lumMod val="75000"/>
                </a:schemeClr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244590" y="419862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accent4">
                    <a:lumMod val="75000"/>
                  </a:schemeClr>
                </a:solidFill>
                <a:latin typeface="黑体" charset="0"/>
                <a:ea typeface="黑体" charset="0"/>
                <a:cs typeface="黑体" charset="0"/>
              </a:rPr>
              <a:t>AI/</a:t>
            </a:r>
            <a:r>
              <a:rPr lang="zh-CN" altLang="en-US" sz="2000" b="1">
                <a:solidFill>
                  <a:schemeClr val="accent4">
                    <a:lumMod val="75000"/>
                  </a:schemeClr>
                </a:solidFill>
                <a:latin typeface="黑体" charset="0"/>
                <a:ea typeface="黑体" charset="0"/>
                <a:cs typeface="黑体" charset="0"/>
              </a:rPr>
              <a:t>计算机科学学习路线</a:t>
            </a:r>
            <a:endParaRPr lang="zh-CN" altLang="en-US" sz="2000" b="1">
              <a:solidFill>
                <a:schemeClr val="accent4">
                  <a:lumMod val="75000"/>
                </a:schemeClr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04850" y="1470660"/>
            <a:ext cx="4699000" cy="605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chemeClr val="accent2"/>
                </a:solidFill>
                <a:latin typeface="黑体" charset="0"/>
                <a:ea typeface="黑体" charset="0"/>
                <a:cs typeface="黑体" charset="0"/>
                <a:sym typeface="+mn-ea"/>
              </a:rPr>
              <a:t>Coding Agent</a:t>
            </a:r>
            <a:r>
              <a:rPr lang="zh-CN" altLang="en-US" sz="2000" b="1">
                <a:solidFill>
                  <a:schemeClr val="accent2"/>
                </a:solidFill>
                <a:latin typeface="黑体" charset="0"/>
                <a:ea typeface="黑体" charset="0"/>
                <a:cs typeface="黑体" charset="0"/>
                <a:sym typeface="+mn-ea"/>
              </a:rPr>
              <a:t>工作原理</a:t>
            </a:r>
            <a:r>
              <a:rPr lang="en-US" altLang="zh-CN" sz="2000" b="1">
                <a:solidFill>
                  <a:schemeClr val="accent2"/>
                </a:solidFill>
                <a:latin typeface="黑体" charset="0"/>
                <a:ea typeface="黑体" charset="0"/>
                <a:cs typeface="黑体" charset="0"/>
                <a:sym typeface="+mn-ea"/>
              </a:rPr>
              <a:t>：ReAct Loop</a:t>
            </a:r>
            <a:endParaRPr lang="en-US" altLang="zh-CN" sz="2000" b="1">
              <a:solidFill>
                <a:schemeClr val="accent2"/>
              </a:solidFill>
              <a:latin typeface="黑体" charset="0"/>
              <a:ea typeface="黑体" charset="0"/>
              <a:cs typeface="黑体" charset="0"/>
            </a:endParaRPr>
          </a:p>
          <a:p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3" grpId="1"/>
      <p:bldP spid="27" grpId="0"/>
      <p:bldP spid="29" grpId="0"/>
      <p:bldP spid="31" grpId="0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5925" y="170434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一次LLM API</a:t>
            </a:r>
            <a:r>
              <a:rPr lang="zh-CN" alt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做了</a:t>
            </a:r>
            <a:r>
              <a:rPr lang="zh-CN" alt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什么</a:t>
            </a:r>
            <a:endParaRPr lang="zh-CN" altLang="en-US" sz="3400" b="1" dirty="0">
              <a:solidFill>
                <a:srgbClr val="202B32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7675" y="8864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charset="0"/>
                <a:ea typeface="黑体" charset="0"/>
              </a:rPr>
              <a:t>模型推理本质：预测下一个词</a:t>
            </a:r>
            <a:endParaRPr lang="zh-CN" altLang="en-US">
              <a:latin typeface="黑体" charset="0"/>
              <a:ea typeface="黑体" charset="0"/>
            </a:endParaRPr>
          </a:p>
        </p:txBody>
      </p:sp>
      <p:sp>
        <p:nvSpPr>
          <p:cNvPr id="5" name="剪去单角的矩形 4"/>
          <p:cNvSpPr/>
          <p:nvPr/>
        </p:nvSpPr>
        <p:spPr>
          <a:xfrm>
            <a:off x="415925" y="1409065"/>
            <a:ext cx="107505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&lt;BOS&gt;</a:t>
            </a:r>
            <a:endParaRPr lang="en-US" altLang="zh-CN"/>
          </a:p>
        </p:txBody>
      </p:sp>
      <p:sp>
        <p:nvSpPr>
          <p:cNvPr id="6" name="剪去单角的矩形 5"/>
          <p:cNvSpPr/>
          <p:nvPr/>
        </p:nvSpPr>
        <p:spPr>
          <a:xfrm>
            <a:off x="1617980" y="1409065"/>
            <a:ext cx="9150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今天</a:t>
            </a:r>
            <a:endParaRPr lang="zh-CN" altLang="en-US"/>
          </a:p>
        </p:txBody>
      </p:sp>
      <p:sp>
        <p:nvSpPr>
          <p:cNvPr id="7" name="剪去单角的矩形 6"/>
          <p:cNvSpPr/>
          <p:nvPr/>
        </p:nvSpPr>
        <p:spPr>
          <a:xfrm>
            <a:off x="2660015" y="1409065"/>
            <a:ext cx="9150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天气</a:t>
            </a:r>
            <a:endParaRPr lang="zh-CN" altLang="en-US"/>
          </a:p>
        </p:txBody>
      </p:sp>
      <p:sp>
        <p:nvSpPr>
          <p:cNvPr id="29" name="剪去单角的矩形 28"/>
          <p:cNvSpPr/>
          <p:nvPr/>
        </p:nvSpPr>
        <p:spPr>
          <a:xfrm>
            <a:off x="3702050" y="1409065"/>
            <a:ext cx="12198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怎么</a:t>
            </a:r>
            <a:r>
              <a:rPr lang="zh-CN" altLang="en-US"/>
              <a:t>样</a:t>
            </a:r>
            <a:endParaRPr lang="zh-CN" altLang="en-US"/>
          </a:p>
        </p:txBody>
      </p:sp>
      <p:sp>
        <p:nvSpPr>
          <p:cNvPr id="30" name="剪去单角的矩形 29"/>
          <p:cNvSpPr/>
          <p:nvPr/>
        </p:nvSpPr>
        <p:spPr>
          <a:xfrm>
            <a:off x="5048885" y="1409065"/>
            <a:ext cx="9150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?</a:t>
            </a:r>
            <a:endParaRPr lang="en-US" altLang="zh-CN"/>
          </a:p>
        </p:txBody>
      </p:sp>
      <p:sp>
        <p:nvSpPr>
          <p:cNvPr id="33" name="剪去单角的矩形 32"/>
          <p:cNvSpPr/>
          <p:nvPr/>
        </p:nvSpPr>
        <p:spPr>
          <a:xfrm>
            <a:off x="415925" y="2127250"/>
            <a:ext cx="107505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&lt;BOS&gt;</a:t>
            </a:r>
            <a:endParaRPr lang="en-US" altLang="zh-CN"/>
          </a:p>
        </p:txBody>
      </p:sp>
      <p:sp>
        <p:nvSpPr>
          <p:cNvPr id="34" name="剪去单角的矩形 33"/>
          <p:cNvSpPr/>
          <p:nvPr/>
        </p:nvSpPr>
        <p:spPr>
          <a:xfrm>
            <a:off x="1617980" y="2127250"/>
            <a:ext cx="9150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今天</a:t>
            </a:r>
            <a:endParaRPr lang="zh-CN" altLang="en-US"/>
          </a:p>
        </p:txBody>
      </p:sp>
      <p:sp>
        <p:nvSpPr>
          <p:cNvPr id="35" name="剪去单角的矩形 34"/>
          <p:cNvSpPr/>
          <p:nvPr/>
        </p:nvSpPr>
        <p:spPr>
          <a:xfrm>
            <a:off x="2660015" y="2127250"/>
            <a:ext cx="9150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天气</a:t>
            </a:r>
            <a:endParaRPr lang="zh-CN" altLang="en-US"/>
          </a:p>
        </p:txBody>
      </p:sp>
      <p:sp>
        <p:nvSpPr>
          <p:cNvPr id="36" name="剪去单角的矩形 35"/>
          <p:cNvSpPr/>
          <p:nvPr/>
        </p:nvSpPr>
        <p:spPr>
          <a:xfrm>
            <a:off x="3702050" y="2127250"/>
            <a:ext cx="12198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怎么</a:t>
            </a:r>
            <a:r>
              <a:rPr lang="zh-CN" altLang="en-US"/>
              <a:t>样</a:t>
            </a:r>
            <a:endParaRPr lang="zh-CN" altLang="en-US"/>
          </a:p>
        </p:txBody>
      </p:sp>
      <p:sp>
        <p:nvSpPr>
          <p:cNvPr id="37" name="剪去单角的矩形 36"/>
          <p:cNvSpPr/>
          <p:nvPr/>
        </p:nvSpPr>
        <p:spPr>
          <a:xfrm>
            <a:off x="5048885" y="2127250"/>
            <a:ext cx="9150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?</a:t>
            </a:r>
            <a:endParaRPr lang="en-US" altLang="zh-CN"/>
          </a:p>
        </p:txBody>
      </p:sp>
      <p:sp>
        <p:nvSpPr>
          <p:cNvPr id="38" name="剪去单角的矩形 37"/>
          <p:cNvSpPr/>
          <p:nvPr/>
        </p:nvSpPr>
        <p:spPr>
          <a:xfrm>
            <a:off x="6183630" y="2127250"/>
            <a:ext cx="883285" cy="563880"/>
          </a:xfrm>
          <a:prstGeom prst="snip1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让</a:t>
            </a:r>
            <a:endParaRPr lang="zh-CN" altLang="en-US"/>
          </a:p>
        </p:txBody>
      </p:sp>
      <p:sp>
        <p:nvSpPr>
          <p:cNvPr id="39" name="剪去单角的矩形 38"/>
          <p:cNvSpPr/>
          <p:nvPr/>
        </p:nvSpPr>
        <p:spPr>
          <a:xfrm>
            <a:off x="415925" y="2845435"/>
            <a:ext cx="107505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&lt;BOS&gt;</a:t>
            </a:r>
            <a:endParaRPr lang="en-US" altLang="zh-CN"/>
          </a:p>
        </p:txBody>
      </p:sp>
      <p:sp>
        <p:nvSpPr>
          <p:cNvPr id="40" name="剪去单角的矩形 39"/>
          <p:cNvSpPr/>
          <p:nvPr/>
        </p:nvSpPr>
        <p:spPr>
          <a:xfrm>
            <a:off x="1617980" y="2845435"/>
            <a:ext cx="9150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今天</a:t>
            </a:r>
            <a:endParaRPr lang="zh-CN" altLang="en-US"/>
          </a:p>
        </p:txBody>
      </p:sp>
      <p:sp>
        <p:nvSpPr>
          <p:cNvPr id="41" name="剪去单角的矩形 40"/>
          <p:cNvSpPr/>
          <p:nvPr/>
        </p:nvSpPr>
        <p:spPr>
          <a:xfrm>
            <a:off x="2660015" y="2845435"/>
            <a:ext cx="9150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天气</a:t>
            </a:r>
            <a:endParaRPr lang="zh-CN" altLang="en-US"/>
          </a:p>
        </p:txBody>
      </p:sp>
      <p:sp>
        <p:nvSpPr>
          <p:cNvPr id="42" name="剪去单角的矩形 41"/>
          <p:cNvSpPr/>
          <p:nvPr/>
        </p:nvSpPr>
        <p:spPr>
          <a:xfrm>
            <a:off x="3702050" y="2845435"/>
            <a:ext cx="12198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怎么</a:t>
            </a:r>
            <a:r>
              <a:rPr lang="zh-CN" altLang="en-US"/>
              <a:t>样</a:t>
            </a:r>
            <a:endParaRPr lang="zh-CN" altLang="en-US"/>
          </a:p>
        </p:txBody>
      </p:sp>
      <p:sp>
        <p:nvSpPr>
          <p:cNvPr id="43" name="剪去单角的矩形 42"/>
          <p:cNvSpPr/>
          <p:nvPr/>
        </p:nvSpPr>
        <p:spPr>
          <a:xfrm>
            <a:off x="5048885" y="2845435"/>
            <a:ext cx="9150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?</a:t>
            </a:r>
            <a:endParaRPr lang="en-US" altLang="zh-CN"/>
          </a:p>
        </p:txBody>
      </p:sp>
      <p:sp>
        <p:nvSpPr>
          <p:cNvPr id="44" name="剪去单角的矩形 43"/>
          <p:cNvSpPr/>
          <p:nvPr/>
        </p:nvSpPr>
        <p:spPr>
          <a:xfrm>
            <a:off x="6183630" y="2845435"/>
            <a:ext cx="88328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让</a:t>
            </a:r>
            <a:endParaRPr lang="zh-CN" altLang="en-US"/>
          </a:p>
        </p:txBody>
      </p:sp>
      <p:sp>
        <p:nvSpPr>
          <p:cNvPr id="45" name="剪去单角的矩形 44"/>
          <p:cNvSpPr/>
          <p:nvPr/>
        </p:nvSpPr>
        <p:spPr>
          <a:xfrm>
            <a:off x="7225665" y="2877185"/>
            <a:ext cx="883285" cy="563880"/>
          </a:xfrm>
          <a:prstGeom prst="snip1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我</a:t>
            </a:r>
            <a:endParaRPr lang="zh-CN" altLang="en-US"/>
          </a:p>
        </p:txBody>
      </p:sp>
      <p:sp>
        <p:nvSpPr>
          <p:cNvPr id="46" name="剪去单角的矩形 45"/>
          <p:cNvSpPr/>
          <p:nvPr/>
        </p:nvSpPr>
        <p:spPr>
          <a:xfrm>
            <a:off x="415925" y="3563620"/>
            <a:ext cx="107505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&lt;BOS&gt;</a:t>
            </a:r>
            <a:endParaRPr lang="en-US" altLang="zh-CN"/>
          </a:p>
        </p:txBody>
      </p:sp>
      <p:sp>
        <p:nvSpPr>
          <p:cNvPr id="47" name="剪去单角的矩形 46"/>
          <p:cNvSpPr/>
          <p:nvPr/>
        </p:nvSpPr>
        <p:spPr>
          <a:xfrm>
            <a:off x="1617980" y="3563620"/>
            <a:ext cx="9150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今天</a:t>
            </a:r>
            <a:endParaRPr lang="zh-CN" altLang="en-US"/>
          </a:p>
        </p:txBody>
      </p:sp>
      <p:sp>
        <p:nvSpPr>
          <p:cNvPr id="48" name="剪去单角的矩形 47"/>
          <p:cNvSpPr/>
          <p:nvPr/>
        </p:nvSpPr>
        <p:spPr>
          <a:xfrm>
            <a:off x="2660015" y="3563620"/>
            <a:ext cx="9150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天气</a:t>
            </a:r>
            <a:endParaRPr lang="zh-CN" altLang="en-US"/>
          </a:p>
        </p:txBody>
      </p:sp>
      <p:sp>
        <p:nvSpPr>
          <p:cNvPr id="49" name="剪去单角的矩形 48"/>
          <p:cNvSpPr/>
          <p:nvPr/>
        </p:nvSpPr>
        <p:spPr>
          <a:xfrm>
            <a:off x="3702050" y="3563620"/>
            <a:ext cx="12198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怎么</a:t>
            </a:r>
            <a:r>
              <a:rPr lang="zh-CN" altLang="en-US"/>
              <a:t>样</a:t>
            </a:r>
            <a:endParaRPr lang="zh-CN" altLang="en-US"/>
          </a:p>
        </p:txBody>
      </p:sp>
      <p:sp>
        <p:nvSpPr>
          <p:cNvPr id="50" name="剪去单角的矩形 49"/>
          <p:cNvSpPr/>
          <p:nvPr/>
        </p:nvSpPr>
        <p:spPr>
          <a:xfrm>
            <a:off x="5048885" y="3563620"/>
            <a:ext cx="9150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?</a:t>
            </a:r>
            <a:endParaRPr lang="en-US" altLang="zh-CN"/>
          </a:p>
        </p:txBody>
      </p:sp>
      <p:sp>
        <p:nvSpPr>
          <p:cNvPr id="51" name="剪去单角的矩形 50"/>
          <p:cNvSpPr/>
          <p:nvPr/>
        </p:nvSpPr>
        <p:spPr>
          <a:xfrm>
            <a:off x="6183630" y="3563620"/>
            <a:ext cx="88328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让</a:t>
            </a:r>
            <a:endParaRPr lang="zh-CN" altLang="en-US"/>
          </a:p>
        </p:txBody>
      </p:sp>
      <p:sp>
        <p:nvSpPr>
          <p:cNvPr id="52" name="剪去单角的矩形 51"/>
          <p:cNvSpPr/>
          <p:nvPr/>
        </p:nvSpPr>
        <p:spPr>
          <a:xfrm>
            <a:off x="7225665" y="3595370"/>
            <a:ext cx="88328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我</a:t>
            </a:r>
            <a:endParaRPr lang="zh-CN" altLang="en-US"/>
          </a:p>
        </p:txBody>
      </p:sp>
      <p:sp>
        <p:nvSpPr>
          <p:cNvPr id="53" name="剪去单角的矩形 52"/>
          <p:cNvSpPr/>
          <p:nvPr/>
        </p:nvSpPr>
        <p:spPr>
          <a:xfrm>
            <a:off x="8267700" y="3595370"/>
            <a:ext cx="883285" cy="563880"/>
          </a:xfrm>
          <a:prstGeom prst="snip1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查询</a:t>
            </a:r>
            <a:endParaRPr lang="zh-CN" altLang="en-US"/>
          </a:p>
        </p:txBody>
      </p:sp>
      <p:sp>
        <p:nvSpPr>
          <p:cNvPr id="54" name="剪去单角的矩形 53"/>
          <p:cNvSpPr/>
          <p:nvPr/>
        </p:nvSpPr>
        <p:spPr>
          <a:xfrm>
            <a:off x="415925" y="4281805"/>
            <a:ext cx="107505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&lt;BOS&gt;</a:t>
            </a:r>
            <a:endParaRPr lang="en-US" altLang="zh-CN"/>
          </a:p>
        </p:txBody>
      </p:sp>
      <p:sp>
        <p:nvSpPr>
          <p:cNvPr id="55" name="剪去单角的矩形 54"/>
          <p:cNvSpPr/>
          <p:nvPr/>
        </p:nvSpPr>
        <p:spPr>
          <a:xfrm>
            <a:off x="1617980" y="4281805"/>
            <a:ext cx="9150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今天</a:t>
            </a:r>
            <a:endParaRPr lang="zh-CN" altLang="en-US"/>
          </a:p>
        </p:txBody>
      </p:sp>
      <p:sp>
        <p:nvSpPr>
          <p:cNvPr id="56" name="剪去单角的矩形 55"/>
          <p:cNvSpPr/>
          <p:nvPr/>
        </p:nvSpPr>
        <p:spPr>
          <a:xfrm>
            <a:off x="2660015" y="4281805"/>
            <a:ext cx="9150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天气</a:t>
            </a:r>
            <a:endParaRPr lang="zh-CN" altLang="en-US"/>
          </a:p>
        </p:txBody>
      </p:sp>
      <p:sp>
        <p:nvSpPr>
          <p:cNvPr id="57" name="剪去单角的矩形 56"/>
          <p:cNvSpPr/>
          <p:nvPr/>
        </p:nvSpPr>
        <p:spPr>
          <a:xfrm>
            <a:off x="3702050" y="4281805"/>
            <a:ext cx="12198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怎么</a:t>
            </a:r>
            <a:r>
              <a:rPr lang="zh-CN" altLang="en-US"/>
              <a:t>样</a:t>
            </a:r>
            <a:endParaRPr lang="zh-CN" altLang="en-US"/>
          </a:p>
        </p:txBody>
      </p:sp>
      <p:sp>
        <p:nvSpPr>
          <p:cNvPr id="58" name="剪去单角的矩形 57"/>
          <p:cNvSpPr/>
          <p:nvPr/>
        </p:nvSpPr>
        <p:spPr>
          <a:xfrm>
            <a:off x="5048885" y="4281805"/>
            <a:ext cx="9150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?</a:t>
            </a:r>
            <a:endParaRPr lang="en-US" altLang="zh-CN"/>
          </a:p>
        </p:txBody>
      </p:sp>
      <p:sp>
        <p:nvSpPr>
          <p:cNvPr id="59" name="剪去单角的矩形 58"/>
          <p:cNvSpPr/>
          <p:nvPr/>
        </p:nvSpPr>
        <p:spPr>
          <a:xfrm>
            <a:off x="6183630" y="4281805"/>
            <a:ext cx="88328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让</a:t>
            </a:r>
            <a:endParaRPr lang="zh-CN" altLang="en-US"/>
          </a:p>
        </p:txBody>
      </p:sp>
      <p:sp>
        <p:nvSpPr>
          <p:cNvPr id="60" name="剪去单角的矩形 59"/>
          <p:cNvSpPr/>
          <p:nvPr/>
        </p:nvSpPr>
        <p:spPr>
          <a:xfrm>
            <a:off x="7225665" y="4313555"/>
            <a:ext cx="88328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我</a:t>
            </a:r>
            <a:endParaRPr lang="zh-CN" altLang="en-US"/>
          </a:p>
        </p:txBody>
      </p:sp>
      <p:sp>
        <p:nvSpPr>
          <p:cNvPr id="61" name="剪去单角的矩形 60"/>
          <p:cNvSpPr/>
          <p:nvPr/>
        </p:nvSpPr>
        <p:spPr>
          <a:xfrm>
            <a:off x="8267700" y="4313555"/>
            <a:ext cx="88328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查询</a:t>
            </a:r>
            <a:endParaRPr lang="zh-CN" altLang="en-US"/>
          </a:p>
        </p:txBody>
      </p:sp>
      <p:sp>
        <p:nvSpPr>
          <p:cNvPr id="62" name="剪去单角的矩形 61"/>
          <p:cNvSpPr/>
          <p:nvPr/>
        </p:nvSpPr>
        <p:spPr>
          <a:xfrm>
            <a:off x="9309735" y="4313555"/>
            <a:ext cx="883285" cy="563880"/>
          </a:xfrm>
          <a:prstGeom prst="snip1Rect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一下</a:t>
            </a:r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447675" y="6119495"/>
            <a:ext cx="8368665" cy="564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黑体" charset="0"/>
                <a:ea typeface="黑体" charset="0"/>
                <a:cs typeface="黑体" charset="0"/>
              </a:rPr>
              <a:t>今天天气怎么样</a:t>
            </a:r>
            <a:r>
              <a:rPr lang="en-US" altLang="zh-CN" sz="2400">
                <a:latin typeface="黑体" charset="0"/>
                <a:ea typeface="黑体" charset="0"/>
                <a:cs typeface="黑体" charset="0"/>
              </a:rPr>
              <a:t>？</a:t>
            </a:r>
            <a:r>
              <a:rPr lang="zh-CN" altLang="en-US" sz="2400">
                <a:latin typeface="黑体" charset="0"/>
                <a:ea typeface="黑体" charset="0"/>
                <a:cs typeface="黑体" charset="0"/>
              </a:rPr>
              <a:t>让我查询一下天气</a:t>
            </a:r>
            <a:r>
              <a:rPr lang="en-US" altLang="zh-CN" sz="2400">
                <a:latin typeface="黑体" charset="0"/>
                <a:ea typeface="黑体" charset="0"/>
                <a:cs typeface="黑体" charset="0"/>
              </a:rPr>
              <a:t>。{get_weather}</a:t>
            </a:r>
            <a:endParaRPr lang="en-US" altLang="zh-CN" sz="240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64" name="剪去单角的矩形 63"/>
          <p:cNvSpPr/>
          <p:nvPr/>
        </p:nvSpPr>
        <p:spPr>
          <a:xfrm>
            <a:off x="415925" y="5004435"/>
            <a:ext cx="107505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&lt;BOS&gt;</a:t>
            </a:r>
            <a:endParaRPr lang="en-US" altLang="zh-CN"/>
          </a:p>
        </p:txBody>
      </p:sp>
      <p:sp>
        <p:nvSpPr>
          <p:cNvPr id="65" name="剪去单角的矩形 64"/>
          <p:cNvSpPr/>
          <p:nvPr/>
        </p:nvSpPr>
        <p:spPr>
          <a:xfrm>
            <a:off x="1617980" y="5004435"/>
            <a:ext cx="9150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今天</a:t>
            </a:r>
            <a:endParaRPr lang="zh-CN" altLang="en-US"/>
          </a:p>
        </p:txBody>
      </p:sp>
      <p:sp>
        <p:nvSpPr>
          <p:cNvPr id="66" name="剪去单角的矩形 65"/>
          <p:cNvSpPr/>
          <p:nvPr/>
        </p:nvSpPr>
        <p:spPr>
          <a:xfrm>
            <a:off x="2660015" y="5004435"/>
            <a:ext cx="9150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天气</a:t>
            </a:r>
            <a:endParaRPr lang="zh-CN" altLang="en-US"/>
          </a:p>
        </p:txBody>
      </p:sp>
      <p:sp>
        <p:nvSpPr>
          <p:cNvPr id="67" name="剪去单角的矩形 66"/>
          <p:cNvSpPr/>
          <p:nvPr/>
        </p:nvSpPr>
        <p:spPr>
          <a:xfrm>
            <a:off x="3702050" y="5004435"/>
            <a:ext cx="12198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怎么</a:t>
            </a:r>
            <a:r>
              <a:rPr lang="zh-CN" altLang="en-US"/>
              <a:t>样</a:t>
            </a:r>
            <a:endParaRPr lang="zh-CN" altLang="en-US"/>
          </a:p>
        </p:txBody>
      </p:sp>
      <p:sp>
        <p:nvSpPr>
          <p:cNvPr id="68" name="剪去单角的矩形 67"/>
          <p:cNvSpPr/>
          <p:nvPr/>
        </p:nvSpPr>
        <p:spPr>
          <a:xfrm>
            <a:off x="5048885" y="5004435"/>
            <a:ext cx="91503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?</a:t>
            </a:r>
            <a:endParaRPr lang="en-US" altLang="zh-CN"/>
          </a:p>
        </p:txBody>
      </p:sp>
      <p:sp>
        <p:nvSpPr>
          <p:cNvPr id="69" name="剪去单角的矩形 68"/>
          <p:cNvSpPr/>
          <p:nvPr/>
        </p:nvSpPr>
        <p:spPr>
          <a:xfrm>
            <a:off x="6183630" y="5004435"/>
            <a:ext cx="88328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让</a:t>
            </a:r>
            <a:endParaRPr lang="zh-CN" altLang="en-US"/>
          </a:p>
        </p:txBody>
      </p:sp>
      <p:sp>
        <p:nvSpPr>
          <p:cNvPr id="70" name="剪去单角的矩形 69"/>
          <p:cNvSpPr/>
          <p:nvPr/>
        </p:nvSpPr>
        <p:spPr>
          <a:xfrm>
            <a:off x="7225665" y="5036185"/>
            <a:ext cx="88328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我</a:t>
            </a:r>
            <a:endParaRPr lang="zh-CN" altLang="en-US"/>
          </a:p>
        </p:txBody>
      </p:sp>
      <p:sp>
        <p:nvSpPr>
          <p:cNvPr id="71" name="剪去单角的矩形 70"/>
          <p:cNvSpPr/>
          <p:nvPr/>
        </p:nvSpPr>
        <p:spPr>
          <a:xfrm>
            <a:off x="8267700" y="5036185"/>
            <a:ext cx="88328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查询</a:t>
            </a:r>
            <a:endParaRPr lang="zh-CN" altLang="en-US"/>
          </a:p>
        </p:txBody>
      </p:sp>
      <p:sp>
        <p:nvSpPr>
          <p:cNvPr id="72" name="剪去单角的矩形 71"/>
          <p:cNvSpPr/>
          <p:nvPr/>
        </p:nvSpPr>
        <p:spPr>
          <a:xfrm>
            <a:off x="9309735" y="5036185"/>
            <a:ext cx="883285" cy="563880"/>
          </a:xfrm>
          <a:prstGeom prst="snip1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一下</a:t>
            </a:r>
            <a:endParaRPr lang="zh-CN" altLang="en-US"/>
          </a:p>
        </p:txBody>
      </p:sp>
      <p:sp>
        <p:nvSpPr>
          <p:cNvPr id="73" name="剪去单角的矩形 72"/>
          <p:cNvSpPr/>
          <p:nvPr/>
        </p:nvSpPr>
        <p:spPr>
          <a:xfrm>
            <a:off x="10320020" y="5036185"/>
            <a:ext cx="883285" cy="563880"/>
          </a:xfrm>
          <a:prstGeom prst="snip1Rect">
            <a:avLst/>
          </a:prstGeom>
          <a:solidFill>
            <a:schemeClr val="accent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cxnSp>
        <p:nvCxnSpPr>
          <p:cNvPr id="76" name="直接箭头连接符 75"/>
          <p:cNvCxnSpPr/>
          <p:nvPr/>
        </p:nvCxnSpPr>
        <p:spPr>
          <a:xfrm>
            <a:off x="415925" y="5751195"/>
            <a:ext cx="11421745" cy="0"/>
          </a:xfrm>
          <a:prstGeom prst="straightConnector1">
            <a:avLst/>
          </a:prstGeom>
          <a:ln w="28575" cap="flat" cmpd="sng">
            <a:solidFill>
              <a:schemeClr val="accent1">
                <a:shade val="50000"/>
              </a:schemeClr>
            </a:solidFill>
            <a:prstDash val="solid"/>
            <a:miter lim="800000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3893185" y="57511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模型</a:t>
            </a:r>
            <a:r>
              <a:rPr lang="zh-CN" altLang="en-US"/>
              <a:t>上下文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29" grpId="0" animBg="1"/>
      <p:bldP spid="30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63" grpId="0"/>
      <p:bldP spid="7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786370" y="1765300"/>
            <a:ext cx="4108450" cy="38442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03200" y="1765300"/>
            <a:ext cx="4108450" cy="38442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75945" y="555879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一次LLM API</a:t>
            </a:r>
            <a:r>
              <a:rPr lang="zh-CN" alt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做了</a:t>
            </a:r>
            <a:r>
              <a:rPr lang="zh-CN" alt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什么</a:t>
            </a:r>
            <a:endParaRPr lang="zh-CN" altLang="en-US" sz="3400" b="1" dirty="0">
              <a:solidFill>
                <a:srgbClr val="202B32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93761" y="2017141"/>
            <a:ext cx="3730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zh-CN" altLang="en-US" sz="13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模型</a:t>
            </a:r>
            <a:r>
              <a:rPr lang="zh-CN" altLang="en-US" sz="13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返回</a:t>
            </a:r>
            <a:endParaRPr lang="zh-CN" altLang="en-US" sz="1300" b="1" kern="0" spc="120" dirty="0">
              <a:solidFill>
                <a:srgbClr val="087F9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470527" y="3587242"/>
            <a:ext cx="521208" cy="0"/>
          </a:xfrm>
          <a:prstGeom prst="line">
            <a:avLst/>
          </a:prstGeom>
          <a:noFill/>
          <a:ln w="22860">
            <a:solidFill>
              <a:srgbClr val="087F91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039868" y="3056890"/>
            <a:ext cx="1828800" cy="1078992"/>
          </a:xfrm>
          <a:prstGeom prst="rect">
            <a:avLst/>
          </a:prstGeom>
          <a:solidFill>
            <a:srgbClr val="087F91"/>
          </a:solidFill>
          <a:ln w="11430">
            <a:solidFill>
              <a:srgbClr val="087F9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49596" y="3120898"/>
            <a:ext cx="1609344" cy="9509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LLM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158740" y="3258058"/>
            <a:ext cx="15819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LLM</a:t>
            </a:r>
            <a:endParaRPr lang="en-US" sz="2000" dirty="0"/>
          </a:p>
        </p:txBody>
      </p:sp>
      <p:sp>
        <p:nvSpPr>
          <p:cNvPr id="5" name="Shape 14"/>
          <p:cNvSpPr/>
          <p:nvPr/>
        </p:nvSpPr>
        <p:spPr>
          <a:xfrm>
            <a:off x="7002907" y="3587242"/>
            <a:ext cx="521208" cy="0"/>
          </a:xfrm>
          <a:prstGeom prst="line">
            <a:avLst/>
          </a:prstGeom>
          <a:noFill/>
          <a:ln w="22860">
            <a:solidFill>
              <a:srgbClr val="087F91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91541" y="2032381"/>
            <a:ext cx="37307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altLang="zh-CN" sz="13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API</a:t>
            </a:r>
            <a:r>
              <a:rPr lang="zh-CN" altLang="en-US" sz="13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请求</a:t>
            </a:r>
            <a:r>
              <a:rPr lang="zh-CN" altLang="en-US" sz="13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体</a:t>
            </a:r>
            <a:endParaRPr lang="zh-CN" altLang="en-US" sz="1300" b="1" kern="0" spc="120" dirty="0">
              <a:solidFill>
                <a:srgbClr val="087F9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9" name="Shape 6"/>
          <p:cNvSpPr/>
          <p:nvPr/>
        </p:nvSpPr>
        <p:spPr>
          <a:xfrm>
            <a:off x="391795" y="2481580"/>
            <a:ext cx="3767455" cy="400050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  <p:txBody>
          <a:bodyPr/>
          <a:p>
            <a:pPr algn="ctr"/>
            <a:r>
              <a:rPr lang="zh-CN" altLang="en-US" sz="20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系统提示词</a:t>
            </a:r>
            <a:endParaRPr lang="zh-CN" altLang="en-US" sz="2000" b="1" kern="0" spc="120" dirty="0">
              <a:solidFill>
                <a:srgbClr val="087F9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0" name="Shape 6"/>
          <p:cNvSpPr/>
          <p:nvPr/>
        </p:nvSpPr>
        <p:spPr>
          <a:xfrm>
            <a:off x="7957185" y="3949700"/>
            <a:ext cx="3767455" cy="400050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  <p:txBody>
          <a:bodyPr/>
          <a:p>
            <a:pPr algn="ctr"/>
            <a:r>
              <a:rPr lang="zh-CN" altLang="en-US" sz="20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推理结论</a:t>
            </a:r>
            <a:r>
              <a:rPr lang="en-US" altLang="zh-CN" sz="20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/</a:t>
            </a:r>
            <a:r>
              <a:rPr lang="zh-CN" altLang="en-US" sz="20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工具</a:t>
            </a:r>
            <a:r>
              <a:rPr lang="zh-CN" altLang="en-US" sz="20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调用</a:t>
            </a:r>
            <a:endParaRPr lang="zh-CN" altLang="en-US" sz="2000" b="1" kern="0" spc="120" dirty="0">
              <a:solidFill>
                <a:srgbClr val="087F9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1" name="圆角矩形标注 30"/>
          <p:cNvSpPr/>
          <p:nvPr/>
        </p:nvSpPr>
        <p:spPr>
          <a:xfrm>
            <a:off x="2955925" y="1179830"/>
            <a:ext cx="3068320" cy="1127760"/>
          </a:xfrm>
          <a:prstGeom prst="wedgeRoundRectCallou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你是一个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AI</a:t>
            </a:r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编程助手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，</a:t>
            </a:r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需要回答用户的问题或者完成用户的任务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。</a:t>
            </a:r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记得不要过度验证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，</a:t>
            </a:r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用语要简洁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。</a:t>
            </a:r>
            <a:endParaRPr lang="en-US" altLang="zh-CN" sz="1400">
              <a:solidFill>
                <a:schemeClr val="tx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386715" y="3686175"/>
            <a:ext cx="3767455" cy="400050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  <p:txBody>
          <a:bodyPr/>
          <a:p>
            <a:pPr algn="ctr"/>
            <a:r>
              <a:rPr lang="zh-CN" altLang="en-US" sz="20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对话</a:t>
            </a:r>
            <a:r>
              <a:rPr lang="zh-CN" altLang="en-US" sz="20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历史</a:t>
            </a:r>
            <a:endParaRPr lang="zh-CN" altLang="en-US" sz="2000" b="1" kern="0" spc="120" dirty="0">
              <a:solidFill>
                <a:srgbClr val="087F9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3" name="Shape 6"/>
          <p:cNvSpPr/>
          <p:nvPr/>
        </p:nvSpPr>
        <p:spPr>
          <a:xfrm>
            <a:off x="409575" y="3072130"/>
            <a:ext cx="3767455" cy="400050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  <p:txBody>
          <a:bodyPr/>
          <a:p>
            <a:pPr algn="ctr"/>
            <a:r>
              <a:rPr lang="zh-CN" altLang="en-US" sz="20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可用工具</a:t>
            </a:r>
            <a:r>
              <a:rPr lang="zh-CN" altLang="en-US" sz="20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说明</a:t>
            </a:r>
            <a:endParaRPr lang="zh-CN" altLang="en-US" sz="2000" b="1" kern="0" spc="120" dirty="0">
              <a:solidFill>
                <a:srgbClr val="087F9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7957185" y="2945130"/>
            <a:ext cx="3767455" cy="400050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  <p:txBody>
          <a:bodyPr/>
          <a:p>
            <a:pPr algn="ctr"/>
            <a:r>
              <a:rPr lang="zh-CN" altLang="en-US" sz="20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思考</a:t>
            </a:r>
            <a:endParaRPr lang="zh-CN" altLang="en-US" sz="2000" b="1" kern="0" spc="120" dirty="0">
              <a:solidFill>
                <a:srgbClr val="087F9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5" name="Shape 6"/>
          <p:cNvSpPr/>
          <p:nvPr/>
        </p:nvSpPr>
        <p:spPr>
          <a:xfrm>
            <a:off x="409575" y="4349750"/>
            <a:ext cx="3767455" cy="400050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  <p:txBody>
          <a:bodyPr/>
          <a:p>
            <a:pPr algn="ctr"/>
            <a:r>
              <a:rPr lang="zh-CN" altLang="en-US" sz="20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新的用户问题</a:t>
            </a:r>
            <a:r>
              <a:rPr lang="en-US" altLang="zh-CN" sz="20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/</a:t>
            </a:r>
            <a:r>
              <a:rPr lang="zh-CN" altLang="en-US" sz="20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工具</a:t>
            </a:r>
            <a:r>
              <a:rPr lang="zh-CN" altLang="en-US" sz="20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结果</a:t>
            </a:r>
            <a:endParaRPr lang="zh-CN" altLang="en-US" sz="2000" b="1" kern="0" spc="120" dirty="0">
              <a:solidFill>
                <a:srgbClr val="087F9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7" name="圆角矩形标注 36"/>
          <p:cNvSpPr/>
          <p:nvPr/>
        </p:nvSpPr>
        <p:spPr>
          <a:xfrm>
            <a:off x="2955925" y="1929130"/>
            <a:ext cx="3068320" cy="1127760"/>
          </a:xfrm>
          <a:prstGeom prst="wedgeRoundRectCallou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你可以调用的工具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：</a:t>
            </a:r>
            <a:b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</a:b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{write}{edit}{read}{bash}{search}</a:t>
            </a:r>
            <a:endParaRPr lang="en-US" altLang="zh-CN" sz="1400">
              <a:solidFill>
                <a:schemeClr val="tx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6" name="圆角矩形标注 35"/>
          <p:cNvSpPr/>
          <p:nvPr/>
        </p:nvSpPr>
        <p:spPr>
          <a:xfrm>
            <a:off x="2955925" y="2558415"/>
            <a:ext cx="3068320" cy="1127760"/>
          </a:xfrm>
          <a:prstGeom prst="wedgeRoundRectCallou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用户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：</a:t>
            </a:r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我的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npm test</a:t>
            </a:r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报错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，</a:t>
            </a:r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你修复它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。</a:t>
            </a:r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助手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：</a:t>
            </a:r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好的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，......</a:t>
            </a:r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已经修复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。</a:t>
            </a:r>
            <a:endParaRPr lang="en-US" altLang="zh-CN" sz="1400">
              <a:solidFill>
                <a:schemeClr val="tx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8" name="圆角矩形标注 37"/>
          <p:cNvSpPr/>
          <p:nvPr/>
        </p:nvSpPr>
        <p:spPr>
          <a:xfrm>
            <a:off x="2955925" y="3139440"/>
            <a:ext cx="3068320" cy="1127760"/>
          </a:xfrm>
          <a:prstGeom prst="wedgeRoundRectCallou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用户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：</a:t>
            </a:r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不是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，</a:t>
            </a:r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怎么又报错了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？</a:t>
            </a:r>
            <a:endParaRPr lang="en-US" altLang="zh-CN" sz="1400">
              <a:solidFill>
                <a:schemeClr val="tx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9" name="圆角矩形标注 38"/>
          <p:cNvSpPr/>
          <p:nvPr/>
        </p:nvSpPr>
        <p:spPr>
          <a:xfrm>
            <a:off x="7371715" y="1724025"/>
            <a:ext cx="3068320" cy="1127760"/>
          </a:xfrm>
          <a:prstGeom prst="wedgeRoundRectCallou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思考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：</a:t>
            </a:r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我去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，</a:t>
            </a:r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用户彻底怒了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！...</a:t>
            </a:r>
            <a:b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</a:br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我需要重新运行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npm test</a:t>
            </a:r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来定位新的报错</a:t>
            </a:r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在哪里</a:t>
            </a:r>
            <a:endParaRPr lang="zh-CN" altLang="en-US" sz="1400">
              <a:solidFill>
                <a:schemeClr val="tx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0" name="圆角矩形标注 39"/>
          <p:cNvSpPr/>
          <p:nvPr/>
        </p:nvSpPr>
        <p:spPr>
          <a:xfrm>
            <a:off x="7371715" y="2679065"/>
            <a:ext cx="3068320" cy="1127760"/>
          </a:xfrm>
          <a:prstGeom prst="wedgeRoundRectCallou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调用工具</a:t>
            </a: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：</a:t>
            </a:r>
            <a:b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</a:b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{bash: `npm test | grep failed`}</a:t>
            </a:r>
            <a:b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</a:br>
            <a:r>
              <a:rPr lang="en-US" altLang="zh-CN" sz="14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{read: `./package.json`}</a:t>
            </a:r>
            <a:endParaRPr lang="en-US" altLang="zh-CN" sz="1400">
              <a:solidFill>
                <a:schemeClr val="tx1"/>
              </a:solidFill>
              <a:latin typeface="黑体" charset="0"/>
              <a:ea typeface="黑体" charset="0"/>
              <a:cs typeface="黑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7" grpId="0" animBg="1"/>
      <p:bldP spid="18" grpId="0" animBg="1"/>
      <p:bldP spid="19" grpId="0" animBg="1"/>
      <p:bldP spid="20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3250" y="512699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Harness:</a:t>
            </a:r>
            <a:r>
              <a:rPr lang="zh-CN" alt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提供让模型持续工作的</a:t>
            </a:r>
            <a:r>
              <a:rPr lang="en-US" altLang="zh-CN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Loop</a:t>
            </a:r>
            <a:endParaRPr lang="en-US" altLang="zh-CN" sz="3400" b="1" dirty="0">
              <a:solidFill>
                <a:srgbClr val="202B32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634472" y="8567928"/>
            <a:ext cx="9601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3000"/>
              </a:lnSpc>
              <a:buNone/>
            </a:pPr>
            <a:r>
              <a:rPr lang="en-US" sz="10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06 / 29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0197" y="4553331"/>
            <a:ext cx="2441448" cy="960120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9925" y="4617339"/>
            <a:ext cx="2221992" cy="832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本次上下文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047365" y="5037963"/>
            <a:ext cx="301752" cy="0"/>
          </a:xfrm>
          <a:prstGeom prst="line">
            <a:avLst/>
          </a:prstGeom>
          <a:noFill/>
          <a:ln w="20320">
            <a:solidFill>
              <a:srgbClr val="68747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413125" y="4553331"/>
            <a:ext cx="2441448" cy="960120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22853" y="4617339"/>
            <a:ext cx="2221992" cy="832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模型请求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266053" y="4553331"/>
            <a:ext cx="2441448" cy="960120"/>
          </a:xfrm>
          <a:prstGeom prst="rect">
            <a:avLst/>
          </a:prstGeom>
          <a:solidFill>
            <a:srgbClr val="F2E8D4"/>
          </a:solidFill>
          <a:ln w="11430">
            <a:solidFill>
              <a:srgbClr val="F2E8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72530" y="4617085"/>
            <a:ext cx="2385695" cy="831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AD741C"/>
                </a:solidFill>
                <a:latin typeface="黑体" charset="0"/>
                <a:ea typeface="黑体" charset="0"/>
                <a:cs typeface="黑体" charset="0"/>
              </a:rPr>
              <a:t>Harness</a:t>
            </a:r>
            <a:r>
              <a:rPr lang="zh-CN" altLang="en-US" sz="2000" b="1" dirty="0">
                <a:solidFill>
                  <a:srgbClr val="AD741C"/>
                </a:solidFill>
                <a:latin typeface="黑体" charset="0"/>
                <a:ea typeface="黑体" charset="0"/>
                <a:cs typeface="黑体" charset="0"/>
              </a:rPr>
              <a:t>解析并</a:t>
            </a:r>
            <a:r>
              <a:rPr lang="en-US" sz="2000" b="1" dirty="0">
                <a:solidFill>
                  <a:srgbClr val="AD741C"/>
                </a:solidFill>
                <a:latin typeface="黑体" charset="0"/>
                <a:ea typeface="黑体" charset="0"/>
                <a:cs typeface="黑体" charset="0"/>
              </a:rPr>
              <a:t>执行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753221" y="5037963"/>
            <a:ext cx="301752" cy="0"/>
          </a:xfrm>
          <a:prstGeom prst="line">
            <a:avLst/>
          </a:prstGeom>
          <a:noFill/>
          <a:ln w="20320">
            <a:solidFill>
              <a:srgbClr val="68747A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118981" y="4553331"/>
            <a:ext cx="2441448" cy="960120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228709" y="4617339"/>
            <a:ext cx="2221992" cy="832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结果回传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10956925" y="5595747"/>
            <a:ext cx="0" cy="466344"/>
          </a:xfrm>
          <a:prstGeom prst="line">
            <a:avLst/>
          </a:prstGeom>
          <a:noFill/>
          <a:ln w="19050">
            <a:solidFill>
              <a:srgbClr val="087F91"/>
            </a:solidFill>
            <a:prstDash val="solid"/>
            <a:tailEnd type="none"/>
          </a:ln>
        </p:spPr>
      </p:sp>
      <p:sp>
        <p:nvSpPr>
          <p:cNvPr id="24" name="Shape 21"/>
          <p:cNvSpPr/>
          <p:nvPr/>
        </p:nvSpPr>
        <p:spPr>
          <a:xfrm flipH="1">
            <a:off x="1657477" y="6062091"/>
            <a:ext cx="9299448" cy="0"/>
          </a:xfrm>
          <a:prstGeom prst="line">
            <a:avLst/>
          </a:prstGeom>
          <a:noFill/>
          <a:ln w="19050">
            <a:solidFill>
              <a:srgbClr val="087F91"/>
            </a:solidFill>
            <a:prstDash val="solid"/>
            <a:tailEnd type="none"/>
          </a:ln>
        </p:spPr>
      </p:sp>
      <p:sp>
        <p:nvSpPr>
          <p:cNvPr id="25" name="Shape 22"/>
          <p:cNvSpPr/>
          <p:nvPr/>
        </p:nvSpPr>
        <p:spPr>
          <a:xfrm flipV="1">
            <a:off x="1657477" y="5595747"/>
            <a:ext cx="0" cy="466344"/>
          </a:xfrm>
          <a:prstGeom prst="line">
            <a:avLst/>
          </a:prstGeom>
          <a:noFill/>
          <a:ln w="19050">
            <a:solidFill>
              <a:srgbClr val="087F91"/>
            </a:solidFill>
            <a:prstDash val="solid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2910205" y="6153531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087F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结果(observation)</a:t>
            </a:r>
            <a:r>
              <a:rPr lang="zh-CN" altLang="en-US" sz="2000" dirty="0">
                <a:solidFill>
                  <a:srgbClr val="087F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放入上下文</a:t>
            </a:r>
            <a:r>
              <a:rPr lang="en-US" altLang="zh-CN" sz="2000" dirty="0">
                <a:solidFill>
                  <a:srgbClr val="087F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，</a:t>
            </a:r>
            <a:r>
              <a:rPr lang="zh-CN" altLang="en-US" sz="2000" dirty="0">
                <a:solidFill>
                  <a:srgbClr val="087F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启动下一轮</a:t>
            </a:r>
            <a:r>
              <a:rPr lang="en-US" altLang="zh-CN" sz="2000" dirty="0">
                <a:solidFill>
                  <a:srgbClr val="087F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LLM </a:t>
            </a:r>
            <a:r>
              <a:rPr lang="en-US" altLang="zh-CN" sz="2000" dirty="0">
                <a:solidFill>
                  <a:srgbClr val="087F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call</a:t>
            </a:r>
            <a:endParaRPr lang="en-US" altLang="zh-CN" sz="2000" dirty="0">
              <a:solidFill>
                <a:srgbClr val="087F9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pitchFamily="34" charset="-120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4665980" y="4055745"/>
            <a:ext cx="0" cy="386715"/>
          </a:xfrm>
          <a:prstGeom prst="straightConnector1">
            <a:avLst/>
          </a:prstGeom>
          <a:ln w="20320" cmpd="sng">
            <a:solidFill>
              <a:schemeClr val="accent3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流程图: 决策 33"/>
          <p:cNvSpPr/>
          <p:nvPr/>
        </p:nvSpPr>
        <p:spPr>
          <a:xfrm>
            <a:off x="3348990" y="2659380"/>
            <a:ext cx="2670175" cy="1253490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accent2">
                    <a:lumMod val="75000"/>
                  </a:schemeClr>
                </a:solidFill>
                <a:latin typeface="黑体" charset="0"/>
                <a:ea typeface="黑体" charset="0"/>
              </a:rPr>
              <a:t>返回推理结论还是工具调用</a:t>
            </a:r>
            <a:r>
              <a:rPr lang="en-US" altLang="zh-CN" sz="2000">
                <a:solidFill>
                  <a:schemeClr val="accent2">
                    <a:lumMod val="75000"/>
                  </a:schemeClr>
                </a:solidFill>
                <a:latin typeface="黑体" charset="0"/>
                <a:ea typeface="黑体" charset="0"/>
              </a:rPr>
              <a:t>？</a:t>
            </a:r>
            <a:endParaRPr lang="en-US" altLang="zh-CN" sz="2000">
              <a:solidFill>
                <a:schemeClr val="accent2">
                  <a:lumMod val="75000"/>
                </a:schemeClr>
              </a:solidFill>
              <a:latin typeface="黑体" charset="0"/>
              <a:ea typeface="黑体" charset="0"/>
            </a:endParaRPr>
          </a:p>
        </p:txBody>
      </p:sp>
      <p:sp>
        <p:nvSpPr>
          <p:cNvPr id="35" name="Shape 8"/>
          <p:cNvSpPr/>
          <p:nvPr/>
        </p:nvSpPr>
        <p:spPr>
          <a:xfrm>
            <a:off x="6074410" y="3285998"/>
            <a:ext cx="301752" cy="0"/>
          </a:xfrm>
          <a:prstGeom prst="line">
            <a:avLst/>
          </a:prstGeom>
          <a:noFill/>
          <a:ln w="20320">
            <a:solidFill>
              <a:srgbClr val="68747A"/>
            </a:solidFill>
            <a:prstDash val="solid"/>
            <a:tailEnd type="triangle"/>
          </a:ln>
        </p:spPr>
      </p:sp>
      <p:sp>
        <p:nvSpPr>
          <p:cNvPr id="36" name="平行四边形 35"/>
          <p:cNvSpPr/>
          <p:nvPr/>
        </p:nvSpPr>
        <p:spPr>
          <a:xfrm>
            <a:off x="6634480" y="2941955"/>
            <a:ext cx="1705610" cy="739140"/>
          </a:xfrm>
          <a:prstGeom prst="parallelogram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accent6">
                    <a:lumMod val="75000"/>
                  </a:schemeClr>
                </a:solidFill>
                <a:latin typeface="黑体" charset="0"/>
                <a:ea typeface="黑体" charset="0"/>
              </a:rPr>
              <a:t>工具调用</a:t>
            </a:r>
            <a:endParaRPr lang="zh-CN" altLang="en-US" sz="2000">
              <a:solidFill>
                <a:schemeClr val="accent6">
                  <a:lumMod val="75000"/>
                </a:schemeClr>
              </a:solidFill>
              <a:latin typeface="黑体" charset="0"/>
              <a:ea typeface="黑体" charset="0"/>
            </a:endParaRPr>
          </a:p>
        </p:txBody>
      </p:sp>
      <p:cxnSp>
        <p:nvCxnSpPr>
          <p:cNvPr id="37" name="直接箭头连接符 36"/>
          <p:cNvCxnSpPr/>
          <p:nvPr/>
        </p:nvCxnSpPr>
        <p:spPr>
          <a:xfrm>
            <a:off x="7486650" y="3924300"/>
            <a:ext cx="0" cy="450215"/>
          </a:xfrm>
          <a:prstGeom prst="straightConnector1">
            <a:avLst/>
          </a:prstGeom>
          <a:ln w="20320" cmpd="sng">
            <a:solidFill>
              <a:schemeClr val="accent3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平行四边形 37"/>
          <p:cNvSpPr/>
          <p:nvPr/>
        </p:nvSpPr>
        <p:spPr>
          <a:xfrm>
            <a:off x="3831590" y="1605280"/>
            <a:ext cx="1705610" cy="739140"/>
          </a:xfrm>
          <a:prstGeom prst="parallelogram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accent6">
                    <a:lumMod val="75000"/>
                  </a:schemeClr>
                </a:solidFill>
                <a:latin typeface="黑体" charset="0"/>
                <a:ea typeface="黑体" charset="0"/>
              </a:rPr>
              <a:t>推理</a:t>
            </a:r>
            <a:r>
              <a:rPr lang="zh-CN" altLang="en-US" sz="2000">
                <a:solidFill>
                  <a:schemeClr val="accent6">
                    <a:lumMod val="75000"/>
                  </a:schemeClr>
                </a:solidFill>
                <a:latin typeface="黑体" charset="0"/>
                <a:ea typeface="黑体" charset="0"/>
              </a:rPr>
              <a:t>结论</a:t>
            </a:r>
            <a:endParaRPr lang="zh-CN" altLang="en-US" sz="2000">
              <a:solidFill>
                <a:schemeClr val="accent6">
                  <a:lumMod val="75000"/>
                </a:schemeClr>
              </a:solidFill>
              <a:latin typeface="黑体" charset="0"/>
              <a:ea typeface="黑体" charset="0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 flipV="1">
            <a:off x="4633595" y="2272665"/>
            <a:ext cx="0" cy="386715"/>
          </a:xfrm>
          <a:prstGeom prst="straightConnector1">
            <a:avLst/>
          </a:prstGeom>
          <a:ln w="20320" cmpd="sng">
            <a:solidFill>
              <a:schemeClr val="accent3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Shape 8"/>
          <p:cNvSpPr/>
          <p:nvPr/>
        </p:nvSpPr>
        <p:spPr>
          <a:xfrm>
            <a:off x="5553075" y="1955038"/>
            <a:ext cx="301752" cy="0"/>
          </a:xfrm>
          <a:prstGeom prst="line">
            <a:avLst/>
          </a:prstGeom>
          <a:noFill/>
          <a:ln w="20320">
            <a:solidFill>
              <a:srgbClr val="68747A"/>
            </a:solidFill>
            <a:prstDash val="solid"/>
            <a:tailEnd type="triangle"/>
          </a:ln>
        </p:spPr>
      </p:sp>
      <p:sp>
        <p:nvSpPr>
          <p:cNvPr id="41" name="Shape 14"/>
          <p:cNvSpPr/>
          <p:nvPr/>
        </p:nvSpPr>
        <p:spPr>
          <a:xfrm>
            <a:off x="6130290" y="1605280"/>
            <a:ext cx="2385695" cy="885190"/>
          </a:xfrm>
          <a:prstGeom prst="rect">
            <a:avLst/>
          </a:prstGeom>
          <a:solidFill>
            <a:srgbClr val="F2E8D4"/>
          </a:solidFill>
          <a:ln w="11430">
            <a:solidFill>
              <a:srgbClr val="F2E8D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3" name="Text 15"/>
          <p:cNvSpPr/>
          <p:nvPr/>
        </p:nvSpPr>
        <p:spPr>
          <a:xfrm>
            <a:off x="6130290" y="1605280"/>
            <a:ext cx="2385695" cy="831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zh-CN" altLang="en-US" sz="2000" b="1" dirty="0">
                <a:solidFill>
                  <a:srgbClr val="AD741C"/>
                </a:solidFill>
                <a:latin typeface="黑体" charset="0"/>
                <a:ea typeface="黑体" charset="0"/>
                <a:cs typeface="黑体" charset="0"/>
              </a:rPr>
              <a:t>循环结束</a:t>
            </a:r>
            <a:endParaRPr lang="zh-CN" altLang="en-US" sz="2000" b="1" dirty="0">
              <a:solidFill>
                <a:srgbClr val="AD741C"/>
              </a:solidFill>
              <a:latin typeface="黑体" charset="0"/>
              <a:ea typeface="黑体" charset="0"/>
              <a:cs typeface="黑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34" grpId="0" animBg="1"/>
      <p:bldP spid="36" grpId="0" animBg="1"/>
      <p:bldP spid="18" grpId="0"/>
      <p:bldP spid="22" grpId="0"/>
      <p:bldP spid="26" grpId="0"/>
      <p:bldP spid="38" grpId="0" animBg="1"/>
      <p:bldP spid="41" grpId="0" animBg="1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3250" y="694309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Codex：</a:t>
            </a:r>
            <a:r>
              <a:rPr lang="zh-CN" alt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现象级</a:t>
            </a:r>
            <a:r>
              <a:rPr lang="en-US" altLang="zh-CN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Agent Harnes</a:t>
            </a:r>
            <a:r>
              <a:rPr lang="en-US" altLang="zh-CN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s</a:t>
            </a:r>
            <a:endParaRPr lang="en-US" altLang="zh-CN" sz="3400" b="1" dirty="0">
              <a:solidFill>
                <a:srgbClr val="202B32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1045" y="1868170"/>
            <a:ext cx="2542540" cy="592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chemeClr val="accent5">
                    <a:lumMod val="75000"/>
                  </a:schemeClr>
                </a:solidFill>
                <a:latin typeface="黑体" charset="0"/>
                <a:ea typeface="黑体" charset="0"/>
                <a:cs typeface="黑体" charset="0"/>
              </a:rPr>
              <a:t>Computer Use</a:t>
            </a:r>
            <a:endParaRPr lang="zh-CN" altLang="en-US" sz="2000">
              <a:solidFill>
                <a:schemeClr val="accent5">
                  <a:lumMod val="75000"/>
                </a:schemeClr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49020" y="3077845"/>
            <a:ext cx="2542540" cy="592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chemeClr val="accent4">
                    <a:lumMod val="75000"/>
                  </a:schemeClr>
                </a:solidFill>
                <a:latin typeface="黑体" charset="0"/>
                <a:ea typeface="黑体" charset="0"/>
                <a:cs typeface="黑体" charset="0"/>
              </a:rPr>
              <a:t>Web Annotation</a:t>
            </a:r>
            <a:endParaRPr lang="en-US" altLang="zh-CN" sz="2000">
              <a:solidFill>
                <a:schemeClr val="accent4">
                  <a:lumMod val="75000"/>
                </a:schemeClr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780155" y="1868170"/>
            <a:ext cx="2542540" cy="592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chemeClr val="accent6">
                    <a:lumMod val="75000"/>
                  </a:schemeClr>
                </a:solidFill>
                <a:latin typeface="黑体" charset="0"/>
                <a:ea typeface="黑体" charset="0"/>
                <a:cs typeface="黑体" charset="0"/>
              </a:rPr>
              <a:t>Sketch</a:t>
            </a:r>
            <a:endParaRPr lang="en-US" altLang="zh-CN" sz="2000">
              <a:solidFill>
                <a:schemeClr val="accent6">
                  <a:lumMod val="75000"/>
                </a:schemeClr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080510" y="468757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2">
                    <a:lumMod val="60000"/>
                    <a:lumOff val="40000"/>
                  </a:schemeClr>
                </a:solidFill>
                <a:latin typeface="黑体" charset="0"/>
                <a:ea typeface="黑体" charset="0"/>
                <a:cs typeface="黑体" charset="0"/>
              </a:rPr>
              <a:t>关于</a:t>
            </a:r>
            <a:r>
              <a:rPr lang="en-US" altLang="zh-CN" sz="2000">
                <a:solidFill>
                  <a:schemeClr val="tx2">
                    <a:lumMod val="60000"/>
                    <a:lumOff val="40000"/>
                  </a:schemeClr>
                </a:solidFill>
                <a:latin typeface="黑体" charset="0"/>
                <a:ea typeface="黑体" charset="0"/>
                <a:cs typeface="黑体" charset="0"/>
              </a:rPr>
              <a:t>GPT-6 Astra</a:t>
            </a:r>
            <a:r>
              <a:rPr lang="zh-CN" altLang="en-US" sz="2000">
                <a:solidFill>
                  <a:schemeClr val="tx2">
                    <a:lumMod val="60000"/>
                    <a:lumOff val="40000"/>
                  </a:schemeClr>
                </a:solidFill>
                <a:latin typeface="黑体" charset="0"/>
                <a:ea typeface="黑体" charset="0"/>
                <a:cs typeface="黑体" charset="0"/>
              </a:rPr>
              <a:t>降智</a:t>
            </a:r>
            <a:endParaRPr lang="zh-CN" altLang="en-US" sz="2000">
              <a:solidFill>
                <a:schemeClr val="tx2">
                  <a:lumMod val="60000"/>
                  <a:lumOff val="40000"/>
                </a:schemeClr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722620" y="3882390"/>
            <a:ext cx="34607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charset="0"/>
                <a:ea typeface="黑体" charset="0"/>
                <a:cs typeface="黑体" charset="0"/>
              </a:rPr>
              <a:t>对话引用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charset="0"/>
                <a:ea typeface="黑体" charset="0"/>
                <a:cs typeface="黑体" charset="0"/>
              </a:rPr>
              <a:t>：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charset="0"/>
                <a:ea typeface="黑体" charset="0"/>
                <a:cs typeface="黑体" charset="0"/>
              </a:rPr>
              <a:t>合法地节省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黑体" charset="0"/>
                <a:ea typeface="黑体" charset="0"/>
                <a:cs typeface="黑体" charset="0"/>
              </a:rPr>
              <a:t>token</a:t>
            </a:r>
            <a:endParaRPr lang="en-US" altLang="zh-CN" sz="2000">
              <a:solidFill>
                <a:schemeClr val="tx1">
                  <a:lumMod val="65000"/>
                  <a:lumOff val="35000"/>
                </a:schemeClr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90820" y="276669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accent5">
                    <a:lumMod val="50000"/>
                  </a:schemeClr>
                </a:solidFill>
                <a:latin typeface="黑体" charset="0"/>
                <a:ea typeface="黑体" charset="0"/>
              </a:rPr>
              <a:t>Side Chat</a:t>
            </a:r>
            <a:endParaRPr lang="en-US" altLang="zh-CN" sz="2000">
              <a:solidFill>
                <a:schemeClr val="accent5">
                  <a:lumMod val="50000"/>
                </a:schemeClr>
              </a:solidFill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877824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Pi：Agent</a:t>
            </a:r>
            <a:r>
              <a:rPr lang="zh-CN" alt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界的</a:t>
            </a:r>
            <a:r>
              <a:rPr lang="en-US" altLang="zh-CN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VSCode</a:t>
            </a:r>
            <a:endParaRPr lang="en-US" altLang="zh-CN" sz="3400" b="1" dirty="0">
              <a:solidFill>
                <a:srgbClr val="202B32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94106" y="5084318"/>
            <a:ext cx="2551176" cy="640080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3834" y="5148326"/>
            <a:ext cx="23317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read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106" y="5861558"/>
            <a:ext cx="25511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读取文件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55594" y="5084318"/>
            <a:ext cx="2551176" cy="640080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65322" y="5148326"/>
            <a:ext cx="23317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write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355594" y="5861558"/>
            <a:ext cx="25511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写入文件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117082" y="5084318"/>
            <a:ext cx="2551176" cy="640080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26810" y="5148326"/>
            <a:ext cx="23317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edit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117082" y="5861558"/>
            <a:ext cx="25511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精确编辑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878570" y="5084318"/>
            <a:ext cx="2551176" cy="640080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988298" y="5148326"/>
            <a:ext cx="23317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bash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878570" y="5861558"/>
            <a:ext cx="255117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执行命令</a:t>
            </a:r>
            <a:endParaRPr 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4064000" y="454850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accent5">
                    <a:lumMod val="75000"/>
                  </a:schemeClr>
                </a:solidFill>
                <a:latin typeface="黑体" charset="0"/>
                <a:ea typeface="黑体" charset="0"/>
              </a:rPr>
              <a:t>初始工具</a:t>
            </a:r>
            <a:endParaRPr lang="zh-CN" altLang="en-US" sz="2000">
              <a:solidFill>
                <a:schemeClr val="accent5">
                  <a:lumMod val="75000"/>
                </a:schemeClr>
              </a:solidFill>
              <a:latin typeface="黑体" charset="0"/>
              <a:ea typeface="黑体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94360" y="1865630"/>
            <a:ext cx="9625965" cy="749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chemeClr val="accent2">
                    <a:lumMod val="75000"/>
                  </a:schemeClr>
                </a:solidFill>
                <a:latin typeface="黑体" charset="0"/>
                <a:ea typeface="黑体" charset="0"/>
                <a:cs typeface="黑体" charset="0"/>
              </a:rPr>
              <a:t>Codex</a:t>
            </a:r>
            <a:r>
              <a:rPr lang="zh-CN" altLang="en-US" sz="2000">
                <a:solidFill>
                  <a:schemeClr val="accent2">
                    <a:lumMod val="75000"/>
                  </a:schemeClr>
                </a:solidFill>
                <a:latin typeface="黑体" charset="0"/>
                <a:ea typeface="黑体" charset="0"/>
                <a:cs typeface="黑体" charset="0"/>
              </a:rPr>
              <a:t>和</a:t>
            </a:r>
            <a:r>
              <a:rPr lang="en-US" altLang="zh-CN" sz="2000">
                <a:solidFill>
                  <a:schemeClr val="accent2">
                    <a:lumMod val="75000"/>
                  </a:schemeClr>
                </a:solidFill>
                <a:latin typeface="黑体" charset="0"/>
                <a:ea typeface="黑体" charset="0"/>
                <a:cs typeface="黑体" charset="0"/>
              </a:rPr>
              <a:t>ClaudeCode：</a:t>
            </a:r>
            <a:r>
              <a:rPr lang="zh-CN" altLang="en-US" sz="2000">
                <a:solidFill>
                  <a:schemeClr val="accent2">
                    <a:lumMod val="75000"/>
                  </a:schemeClr>
                </a:solidFill>
                <a:latin typeface="黑体" charset="0"/>
                <a:ea typeface="黑体" charset="0"/>
                <a:cs typeface="黑体" charset="0"/>
              </a:rPr>
              <a:t>系统提示词冗长</a:t>
            </a:r>
            <a:r>
              <a:rPr lang="en-US" altLang="zh-CN" sz="2000">
                <a:solidFill>
                  <a:schemeClr val="accent2">
                    <a:lumMod val="75000"/>
                  </a:schemeClr>
                </a:solidFill>
                <a:latin typeface="黑体" charset="0"/>
                <a:ea typeface="黑体" charset="0"/>
                <a:cs typeface="黑体" charset="0"/>
              </a:rPr>
              <a:t>，</a:t>
            </a:r>
            <a:r>
              <a:rPr lang="zh-CN" altLang="en-US" sz="2000">
                <a:solidFill>
                  <a:schemeClr val="accent2">
                    <a:lumMod val="75000"/>
                  </a:schemeClr>
                </a:solidFill>
                <a:latin typeface="黑体" charset="0"/>
                <a:ea typeface="黑体" charset="0"/>
                <a:cs typeface="黑体" charset="0"/>
              </a:rPr>
              <a:t>工具繁杂</a:t>
            </a:r>
            <a:r>
              <a:rPr lang="en-US" altLang="zh-CN" sz="2000">
                <a:solidFill>
                  <a:schemeClr val="accent2">
                    <a:lumMod val="75000"/>
                  </a:schemeClr>
                </a:solidFill>
                <a:latin typeface="黑体" charset="0"/>
                <a:ea typeface="黑体" charset="0"/>
                <a:cs typeface="黑体" charset="0"/>
              </a:rPr>
              <a:t>。</a:t>
            </a:r>
            <a:endParaRPr lang="en-US" altLang="zh-CN" sz="2000">
              <a:solidFill>
                <a:schemeClr val="accent2">
                  <a:lumMod val="75000"/>
                </a:schemeClr>
              </a:solidFill>
              <a:latin typeface="黑体" charset="0"/>
              <a:ea typeface="黑体" charset="0"/>
              <a:cs typeface="黑体" charset="0"/>
            </a:endParaRPr>
          </a:p>
          <a:p>
            <a:r>
              <a:rPr lang="zh-CN" altLang="en-US" sz="2000">
                <a:solidFill>
                  <a:schemeClr val="accent2">
                    <a:lumMod val="75000"/>
                  </a:schemeClr>
                </a:solidFill>
                <a:latin typeface="黑体" charset="0"/>
                <a:ea typeface="黑体" charset="0"/>
                <a:cs typeface="黑体" charset="0"/>
              </a:rPr>
              <a:t>为了“开箱即用”对性能出了巨大的牺牲</a:t>
            </a:r>
            <a:r>
              <a:rPr lang="en-US" altLang="zh-CN" sz="2000">
                <a:solidFill>
                  <a:schemeClr val="accent2">
                    <a:lumMod val="75000"/>
                  </a:schemeClr>
                </a:solidFill>
                <a:latin typeface="黑体" charset="0"/>
                <a:ea typeface="黑体" charset="0"/>
                <a:cs typeface="黑体" charset="0"/>
              </a:rPr>
              <a:t>。</a:t>
            </a:r>
            <a:endParaRPr lang="en-US" altLang="zh-CN" sz="2000">
              <a:solidFill>
                <a:schemeClr val="accent2">
                  <a:lumMod val="75000"/>
                </a:schemeClr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94360" y="3110865"/>
            <a:ext cx="8789035" cy="942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Pi：</a:t>
            </a:r>
            <a:r>
              <a:rPr lang="zh-CN" altLang="en-US" sz="200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默认的系统提示词只有几句话</a:t>
            </a:r>
            <a:r>
              <a:rPr lang="en-US" altLang="zh-CN" sz="200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，</a:t>
            </a:r>
            <a:r>
              <a:rPr lang="zh-CN" altLang="en-US" sz="200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初始的工具只有</a:t>
            </a:r>
            <a:r>
              <a:rPr lang="en-US" altLang="zh-CN" sz="200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4</a:t>
            </a:r>
            <a:r>
              <a:rPr lang="zh-CN" altLang="en-US" sz="200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个</a:t>
            </a:r>
            <a:r>
              <a:rPr lang="en-US" altLang="zh-CN" sz="200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。</a:t>
            </a:r>
            <a:endParaRPr lang="en-US" altLang="zh-CN" sz="2000">
              <a:solidFill>
                <a:srgbClr val="7030A0"/>
              </a:solidFill>
              <a:latin typeface="黑体" charset="0"/>
              <a:ea typeface="黑体" charset="0"/>
              <a:cs typeface="黑体" charset="0"/>
            </a:endParaRPr>
          </a:p>
          <a:p>
            <a:r>
              <a:rPr lang="zh-CN" altLang="en-US" sz="200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作为开源</a:t>
            </a:r>
            <a:r>
              <a:rPr lang="en-US" altLang="zh-CN" sz="200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Agent，</a:t>
            </a:r>
            <a:r>
              <a:rPr lang="zh-CN" altLang="en-US" sz="200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设置了大量插件接口</a:t>
            </a:r>
            <a:r>
              <a:rPr lang="en-US" altLang="zh-CN" sz="200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，</a:t>
            </a:r>
            <a:r>
              <a:rPr lang="zh-CN" altLang="en-US" sz="200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允许用户植入</a:t>
            </a:r>
            <a:r>
              <a:rPr lang="en-US" altLang="zh-CN" sz="200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task-specific</a:t>
            </a:r>
            <a:r>
              <a:rPr lang="zh-CN" altLang="en-US" sz="200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能力</a:t>
            </a:r>
            <a:r>
              <a:rPr lang="en-US" altLang="zh-CN" sz="2000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。</a:t>
            </a:r>
            <a:endParaRPr lang="en-US" altLang="zh-CN" sz="2000">
              <a:solidFill>
                <a:srgbClr val="7030A0"/>
              </a:solidFill>
              <a:latin typeface="黑体" charset="0"/>
              <a:ea typeface="黑体" charset="0"/>
              <a:cs typeface="黑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9" grpId="0"/>
      <p:bldP spid="10" grpId="0"/>
      <p:bldP spid="12" grpId="0"/>
      <p:bldP spid="13" grpId="0"/>
      <p:bldP spid="15" grpId="0"/>
      <p:bldP spid="16" grpId="0"/>
      <p:bldP spid="18" grpId="0"/>
      <p:bldP spid="19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81889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zh-CN" alt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从文档出发</a:t>
            </a:r>
            <a:r>
              <a:rPr lang="en-US" altLang="zh-CN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，</a:t>
            </a:r>
            <a:r>
              <a:rPr lang="zh-CN" alt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配置一个</a:t>
            </a:r>
            <a:r>
              <a:rPr lang="en-US" altLang="zh-CN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Pi</a:t>
            </a:r>
            <a:endParaRPr lang="en-US" altLang="zh-CN" sz="3400" b="1" dirty="0">
              <a:solidFill>
                <a:srgbClr val="202B32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76656" y="2286000"/>
            <a:ext cx="3493008" cy="2953512"/>
          </a:xfrm>
          <a:prstGeom prst="rect">
            <a:avLst/>
          </a:prstGeom>
          <a:solidFill>
            <a:srgbClr val="FFFFFF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" y="2286000"/>
            <a:ext cx="50292" cy="2953512"/>
          </a:xfrm>
          <a:prstGeom prst="rect">
            <a:avLst/>
          </a:prstGeom>
          <a:solidFill>
            <a:srgbClr val="7756A0"/>
          </a:solidFill>
          <a:ln w="11430">
            <a:solidFill>
              <a:srgbClr val="7756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2770759"/>
            <a:ext cx="305409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Pi</a:t>
            </a:r>
            <a:r>
              <a:rPr lang="zh-CN" altLang="en-US" sz="20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本体</a:t>
            </a:r>
            <a:r>
              <a:rPr lang="zh-CN" altLang="en-US" sz="20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下载</a:t>
            </a:r>
            <a:endParaRPr lang="zh-CN" altLang="en-US" sz="2000" b="1" dirty="0">
              <a:solidFill>
                <a:srgbClr val="202B32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96112" y="3703320"/>
            <a:ext cx="3054096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zh-CN" altLang="en-US" sz="20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推荐使用</a:t>
            </a:r>
            <a:r>
              <a:rPr lang="en-US" altLang="zh-CN" sz="20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npm</a:t>
            </a:r>
            <a:endParaRPr lang="en-US" altLang="zh-CN" sz="2000" dirty="0">
              <a:solidFill>
                <a:srgbClr val="6874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352544" y="2286000"/>
            <a:ext cx="3493008" cy="2953512"/>
          </a:xfrm>
          <a:prstGeom prst="rect">
            <a:avLst/>
          </a:prstGeom>
          <a:solidFill>
            <a:srgbClr val="FFFFFF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52544" y="2286000"/>
            <a:ext cx="50292" cy="2953512"/>
          </a:xfrm>
          <a:prstGeom prst="rect">
            <a:avLst/>
          </a:prstGeom>
          <a:solidFill>
            <a:srgbClr val="087F91"/>
          </a:solidFill>
          <a:ln w="11430">
            <a:solidFill>
              <a:srgbClr val="087F9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2770759"/>
            <a:ext cx="305409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zh-CN" altLang="en-US" sz="20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插件与</a:t>
            </a:r>
            <a:r>
              <a:rPr lang="zh-CN" altLang="en-US" sz="20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个性化</a:t>
            </a:r>
            <a:endParaRPr lang="zh-CN" altLang="en-US" sz="2000" b="1" dirty="0">
              <a:solidFill>
                <a:srgbClr val="202B32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572000" y="3703320"/>
            <a:ext cx="3054096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zh-CN" altLang="en-US" sz="20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去社区搜索</a:t>
            </a:r>
            <a:r>
              <a:rPr lang="en-US" altLang="zh-CN" sz="20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，</a:t>
            </a:r>
            <a:r>
              <a:rPr lang="zh-CN" altLang="en-US" sz="20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然后</a:t>
            </a:r>
            <a:r>
              <a:rPr lang="en-US" sz="20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pi install</a:t>
            </a:r>
            <a:endParaRPr lang="en-US" sz="2000" dirty="0">
              <a:solidFill>
                <a:srgbClr val="6874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028432" y="2286000"/>
            <a:ext cx="3493008" cy="2953512"/>
          </a:xfrm>
          <a:prstGeom prst="rect">
            <a:avLst/>
          </a:prstGeom>
          <a:solidFill>
            <a:srgbClr val="FFFFFF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28432" y="2286000"/>
            <a:ext cx="50292" cy="2953512"/>
          </a:xfrm>
          <a:prstGeom prst="rect">
            <a:avLst/>
          </a:prstGeom>
          <a:solidFill>
            <a:srgbClr val="AD741C"/>
          </a:solidFill>
          <a:ln w="11430">
            <a:solidFill>
              <a:srgbClr val="AD741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47888" y="2770759"/>
            <a:ext cx="3054096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上下文</a:t>
            </a:r>
            <a:r>
              <a:rPr lang="zh-CN" altLang="en-US" sz="20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协议</a:t>
            </a:r>
            <a:endParaRPr lang="zh-CN" altLang="en-US" sz="2000" b="1" dirty="0">
              <a:solidFill>
                <a:srgbClr val="202B32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247888" y="3703320"/>
            <a:ext cx="3054096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zh-CN" altLang="en-US" sz="20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全局与局部定制</a:t>
            </a:r>
            <a:r>
              <a:rPr lang="zh-CN" altLang="en-US" sz="20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项</a:t>
            </a:r>
            <a:endParaRPr lang="zh-CN" altLang="en-US" sz="2000" dirty="0">
              <a:solidFill>
                <a:srgbClr val="68747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pitchFamily="34" charset="-12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69410" y="136969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Pi</a:t>
            </a:r>
            <a:r>
              <a:rPr lang="zh-CN" altLang="en-US" sz="2000" b="1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官网</a:t>
            </a:r>
            <a:r>
              <a:rPr lang="en-US" altLang="zh-CN" sz="2000" b="1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&amp;</a:t>
            </a:r>
            <a:r>
              <a:rPr lang="zh-CN" altLang="en-US" sz="2000" b="1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社区</a:t>
            </a:r>
            <a:r>
              <a:rPr lang="en-US" altLang="zh-CN" sz="2000" b="1">
                <a:solidFill>
                  <a:srgbClr val="7030A0"/>
                </a:solidFill>
                <a:latin typeface="黑体" charset="0"/>
                <a:ea typeface="黑体" charset="0"/>
                <a:cs typeface="黑体" charset="0"/>
              </a:rPr>
              <a:t>： pi.dev</a:t>
            </a:r>
            <a:endParaRPr lang="en-US" altLang="zh-CN" sz="2000" b="1">
              <a:solidFill>
                <a:srgbClr val="7030A0"/>
              </a:solidFill>
              <a:latin typeface="黑体" charset="0"/>
              <a:ea typeface="黑体" charset="0"/>
              <a:cs typeface="黑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6" grpId="0"/>
      <p:bldP spid="17" grpId="0"/>
      <p:bldP spid="21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471424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插件</a:t>
            </a:r>
            <a:r>
              <a:rPr lang="zh-CN" alt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实验</a:t>
            </a:r>
            <a:endParaRPr lang="zh-CN" altLang="en-US" sz="3400" b="1" dirty="0">
              <a:solidFill>
                <a:srgbClr val="202B32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6428232"/>
            <a:ext cx="11000232" cy="0"/>
          </a:xfrm>
          <a:prstGeom prst="line">
            <a:avLst/>
          </a:prstGeom>
          <a:noFill/>
          <a:ln w="15240">
            <a:solidFill>
              <a:srgbClr val="D9D8D0"/>
            </a:solidFill>
            <a:prstDash val="solid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603504" y="6528816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EP3  /  04 / Pi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634472" y="6510528"/>
            <a:ext cx="9601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3000"/>
              </a:lnSpc>
              <a:buNone/>
            </a:pPr>
            <a:r>
              <a:rPr lang="en-US" sz="10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14 / 29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066925" y="3150870"/>
            <a:ext cx="6357620" cy="429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7756A0"/>
                </a:solidFill>
                <a:latin typeface="黑体" charset="0"/>
                <a:ea typeface="黑体" charset="0"/>
                <a:cs typeface="黑体" charset="0"/>
              </a:rPr>
              <a:t>@scpz24/pi-breath：</a:t>
            </a:r>
            <a:r>
              <a:rPr lang="zh-CN" altLang="en-US" sz="2000" b="1" dirty="0">
                <a:solidFill>
                  <a:srgbClr val="7756A0"/>
                </a:solidFill>
                <a:latin typeface="黑体" charset="0"/>
                <a:ea typeface="黑体" charset="0"/>
                <a:cs typeface="黑体" charset="0"/>
              </a:rPr>
              <a:t>状态呼吸灯</a:t>
            </a:r>
            <a:endParaRPr lang="zh-CN" altLang="en-US" sz="2000" b="1" dirty="0">
              <a:solidFill>
                <a:srgbClr val="7756A0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066925" y="2595880"/>
            <a:ext cx="5274310" cy="497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AD741C"/>
                </a:solidFill>
                <a:latin typeface="黑体" charset="0"/>
                <a:ea typeface="黑体" charset="0"/>
                <a:cs typeface="黑体" charset="0"/>
              </a:rPr>
              <a:t>@scpz24/pi-worktree-hud：</a:t>
            </a:r>
            <a:r>
              <a:rPr lang="zh-CN" altLang="en-US" sz="2000" b="1" dirty="0">
                <a:solidFill>
                  <a:srgbClr val="AD741C"/>
                </a:solidFill>
                <a:latin typeface="黑体" charset="0"/>
                <a:ea typeface="黑体" charset="0"/>
                <a:cs typeface="黑体" charset="0"/>
              </a:rPr>
              <a:t>工作区</a:t>
            </a:r>
            <a:r>
              <a:rPr lang="zh-CN" altLang="en-US" sz="2000" b="1" dirty="0">
                <a:solidFill>
                  <a:srgbClr val="AD741C"/>
                </a:solidFill>
                <a:latin typeface="黑体" charset="0"/>
                <a:ea typeface="黑体" charset="0"/>
                <a:cs typeface="黑体" charset="0"/>
              </a:rPr>
              <a:t>显示</a:t>
            </a:r>
            <a:endParaRPr lang="zh-CN" altLang="en-US" sz="2000" b="1" dirty="0">
              <a:solidFill>
                <a:srgbClr val="AD741C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066925" y="2075815"/>
            <a:ext cx="4087495" cy="520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pi-web-access</a:t>
            </a:r>
            <a:r>
              <a:rPr lang="zh-CN" alt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：原生搜索</a:t>
            </a:r>
            <a:r>
              <a:rPr lang="zh-CN" alt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能力</a:t>
            </a:r>
            <a:endParaRPr lang="zh-CN" altLang="en-US" sz="2000" b="1" dirty="0">
              <a:solidFill>
                <a:srgbClr val="087F9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630426" y="4271391"/>
            <a:ext cx="10881360" cy="4663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zh-CN" altLang="en-US" sz="2000" dirty="0">
                <a:solidFill>
                  <a:srgbClr val="002060"/>
                </a:solidFill>
                <a:latin typeface="黑体" charset="0"/>
                <a:ea typeface="黑体" charset="0"/>
                <a:cs typeface="黑体" charset="0"/>
              </a:rPr>
              <a:t>适配大型任务：</a:t>
            </a:r>
            <a:r>
              <a:rPr lang="en-US" altLang="zh-CN" sz="2000" dirty="0">
                <a:solidFill>
                  <a:srgbClr val="002060"/>
                </a:solidFill>
                <a:latin typeface="黑体" charset="0"/>
                <a:ea typeface="黑体" charset="0"/>
                <a:cs typeface="黑体" charset="0"/>
              </a:rPr>
              <a:t>@ilikexiaoni/pi-task-list</a:t>
            </a:r>
            <a:r>
              <a:rPr lang="zh-CN" altLang="en-US" sz="2000" dirty="0">
                <a:solidFill>
                  <a:srgbClr val="002060"/>
                </a:solidFill>
                <a:latin typeface="黑体" charset="0"/>
                <a:ea typeface="黑体" charset="0"/>
                <a:cs typeface="黑体" charset="0"/>
              </a:rPr>
              <a:t>；</a:t>
            </a:r>
            <a:r>
              <a:rPr lang="en-US" altLang="zh-CN" sz="2000" dirty="0">
                <a:solidFill>
                  <a:srgbClr val="002060"/>
                </a:solidFill>
                <a:latin typeface="黑体" charset="0"/>
                <a:ea typeface="黑体" charset="0"/>
                <a:cs typeface="黑体" charset="0"/>
              </a:rPr>
              <a:t>@narumitw/pi-plan-mode</a:t>
            </a:r>
            <a:endParaRPr lang="en-US" altLang="zh-CN" sz="2000" dirty="0">
              <a:solidFill>
                <a:srgbClr val="002060"/>
              </a:solidFill>
              <a:latin typeface="黑体" charset="0"/>
              <a:ea typeface="黑体" charset="0"/>
              <a:cs typeface="黑体" charset="0"/>
            </a:endParaRPr>
          </a:p>
          <a:p>
            <a:pPr marL="0" indent="0">
              <a:lnSpc>
                <a:spcPct val="113000"/>
              </a:lnSpc>
              <a:buNone/>
            </a:pPr>
            <a:r>
              <a:rPr lang="zh-CN" altLang="en-US" sz="2000" dirty="0">
                <a:solidFill>
                  <a:srgbClr val="002060"/>
                </a:solidFill>
                <a:latin typeface="黑体" charset="0"/>
                <a:ea typeface="黑体" charset="0"/>
                <a:cs typeface="黑体" charset="0"/>
              </a:rPr>
              <a:t>工作树能力</a:t>
            </a:r>
            <a:r>
              <a:rPr lang="en-US" altLang="zh-CN" sz="2000" dirty="0">
                <a:solidFill>
                  <a:srgbClr val="002060"/>
                </a:solidFill>
                <a:latin typeface="黑体" charset="0"/>
                <a:ea typeface="黑体" charset="0"/>
                <a:cs typeface="黑体" charset="0"/>
              </a:rPr>
              <a:t>：@narumitw/pi-worktree</a:t>
            </a:r>
            <a:endParaRPr lang="en-US" altLang="zh-CN" sz="2000" dirty="0">
              <a:solidFill>
                <a:srgbClr val="002060"/>
              </a:solidFill>
              <a:latin typeface="黑体" charset="0"/>
              <a:ea typeface="黑体" charset="0"/>
              <a:cs typeface="黑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14" grpId="0"/>
      <p:bldP spid="14" grpId="1"/>
      <p:bldP spid="8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83794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上下文</a:t>
            </a:r>
            <a:r>
              <a:rPr lang="zh-CN" alt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管理</a:t>
            </a:r>
            <a:endParaRPr lang="zh-CN" altLang="en-US" sz="3400" b="1" dirty="0">
              <a:solidFill>
                <a:srgbClr val="202B32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4360" y="1223010"/>
            <a:ext cx="7339965" cy="521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accent6">
                    <a:lumMod val="50000"/>
                  </a:schemeClr>
                </a:solidFill>
                <a:latin typeface="黑体" charset="0"/>
                <a:ea typeface="黑体" charset="0"/>
                <a:cs typeface="黑体" charset="0"/>
              </a:rPr>
              <a:t>通过完全掌控系统提示词和工具集来提升</a:t>
            </a:r>
            <a:r>
              <a:rPr lang="en-US" altLang="zh-CN" sz="2000">
                <a:solidFill>
                  <a:schemeClr val="accent6">
                    <a:lumMod val="50000"/>
                  </a:schemeClr>
                </a:solidFill>
                <a:latin typeface="黑体" charset="0"/>
                <a:ea typeface="黑体" charset="0"/>
                <a:cs typeface="黑体" charset="0"/>
              </a:rPr>
              <a:t>token</a:t>
            </a:r>
            <a:r>
              <a:rPr lang="zh-CN" altLang="en-US" sz="2000">
                <a:solidFill>
                  <a:schemeClr val="accent6">
                    <a:lumMod val="50000"/>
                  </a:schemeClr>
                </a:solidFill>
                <a:latin typeface="黑体" charset="0"/>
                <a:ea typeface="黑体" charset="0"/>
                <a:cs typeface="黑体" charset="0"/>
              </a:rPr>
              <a:t>效率</a:t>
            </a:r>
            <a:r>
              <a:rPr lang="en-US" altLang="zh-CN" sz="2000">
                <a:solidFill>
                  <a:schemeClr val="accent6">
                    <a:lumMod val="50000"/>
                  </a:schemeClr>
                </a:solidFill>
                <a:latin typeface="黑体" charset="0"/>
                <a:ea typeface="黑体" charset="0"/>
                <a:cs typeface="黑体" charset="0"/>
              </a:rPr>
              <a:t>。</a:t>
            </a:r>
            <a:endParaRPr lang="en-US" altLang="zh-CN" sz="2000">
              <a:solidFill>
                <a:schemeClr val="accent6">
                  <a:lumMod val="50000"/>
                </a:schemeClr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00" name="系统提示词－框"/>
          <p:cNvSpPr/>
          <p:nvPr/>
        </p:nvSpPr>
        <p:spPr>
          <a:xfrm>
            <a:off x="594360" y="1874520"/>
            <a:ext cx="3200400" cy="3575304"/>
          </a:xfrm>
          <a:prstGeom prst="roundRect">
            <a:avLst>
              <a:gd name="adj" fmla="val 8000"/>
            </a:avLst>
          </a:prstGeom>
          <a:solidFill>
            <a:srgbClr val="FAFCFD"/>
          </a:solidFill>
          <a:ln w="12700">
            <a:solidFill>
              <a:srgbClr val="98A9AE"/>
            </a:solidFill>
          </a:ln>
        </p:spPr>
        <p:txBody>
          <a:bodyPr wrap="square" lIns="128016" tIns="32004" rIns="12801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01" name="系统提示词－标题"/>
          <p:cNvSpPr/>
          <p:nvPr/>
        </p:nvSpPr>
        <p:spPr>
          <a:xfrm>
            <a:off x="786384" y="1956816"/>
            <a:ext cx="2798064" cy="347472"/>
          </a:xfrm>
          <a:prstGeom prst="roundRect">
            <a:avLst>
              <a:gd name="adj" fmla="val 8000"/>
            </a:avLst>
          </a:prstGeom>
          <a:noFill/>
          <a:ln w="12700">
            <a:noFill/>
          </a:ln>
        </p:spPr>
        <p:txBody>
          <a:bodyPr wrap="square" lIns="128016" tIns="32004" rIns="12801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2300" b="1">
                <a:solidFill>
                  <a:srgbClr val="315A62"/>
                </a:solidFill>
                <a:latin typeface="黑体"/>
                <a:ea typeface="黑体"/>
                <a:cs typeface="黑体"/>
              </a:rPr>
              <a:t>系统提示词</a:t>
            </a:r>
            <a:endParaRPr lang="zh-CN" sz="2300" b="1">
              <a:solidFill>
                <a:srgbClr val="315A6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02" name="组成项－基础提示词"/>
          <p:cNvSpPr/>
          <p:nvPr/>
        </p:nvSpPr>
        <p:spPr>
          <a:xfrm>
            <a:off x="777240" y="2450592"/>
            <a:ext cx="2834640" cy="530352"/>
          </a:xfrm>
          <a:prstGeom prst="roundRect">
            <a:avLst>
              <a:gd name="adj" fmla="val 8000"/>
            </a:avLst>
          </a:prstGeom>
          <a:solidFill>
            <a:srgbClr val="ECE7F5"/>
          </a:solidFill>
          <a:ln w="12700">
            <a:noFill/>
          </a:ln>
        </p:spPr>
        <p:txBody>
          <a:bodyPr wrap="square" lIns="128016" tIns="32004" rIns="12801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2000" b="1">
                <a:solidFill>
                  <a:srgbClr val="654B89"/>
                </a:solidFill>
                <a:latin typeface="黑体"/>
                <a:ea typeface="黑体"/>
                <a:cs typeface="黑体"/>
              </a:rPr>
              <a:t>基础提示词</a:t>
            </a:r>
            <a:endParaRPr lang="zh-CN" sz="2000" b="1">
              <a:solidFill>
                <a:srgbClr val="654B89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03" name="组成项－追加提示词"/>
          <p:cNvSpPr/>
          <p:nvPr/>
        </p:nvSpPr>
        <p:spPr>
          <a:xfrm>
            <a:off x="777240" y="3035808"/>
            <a:ext cx="2834640" cy="530352"/>
          </a:xfrm>
          <a:prstGeom prst="roundRect">
            <a:avLst>
              <a:gd name="adj" fmla="val 8000"/>
            </a:avLst>
          </a:prstGeom>
          <a:solidFill>
            <a:srgbClr val="E4F1F5"/>
          </a:solidFill>
          <a:ln w="12700">
            <a:noFill/>
          </a:ln>
        </p:spPr>
        <p:txBody>
          <a:bodyPr wrap="square" lIns="128016" tIns="32004" rIns="12801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2000" b="1">
                <a:solidFill>
                  <a:srgbClr val="236B7B"/>
                </a:solidFill>
                <a:latin typeface="黑体"/>
                <a:ea typeface="黑体"/>
                <a:cs typeface="黑体"/>
              </a:rPr>
              <a:t>追加提示词</a:t>
            </a:r>
            <a:endParaRPr lang="zh-CN" sz="2000" b="1">
              <a:solidFill>
                <a:srgbClr val="236B7B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04" name="组成项－AGENTS.md"/>
          <p:cNvSpPr/>
          <p:nvPr/>
        </p:nvSpPr>
        <p:spPr>
          <a:xfrm>
            <a:off x="777240" y="3621024"/>
            <a:ext cx="2834640" cy="530352"/>
          </a:xfrm>
          <a:prstGeom prst="roundRect">
            <a:avLst>
              <a:gd name="adj" fmla="val 8000"/>
            </a:avLst>
          </a:prstGeom>
          <a:solidFill>
            <a:srgbClr val="F9EDD9"/>
          </a:solidFill>
          <a:ln w="12700">
            <a:noFill/>
          </a:ln>
        </p:spPr>
        <p:txBody>
          <a:bodyPr wrap="square" lIns="128016" tIns="32004" rIns="12801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2000" b="1">
                <a:solidFill>
                  <a:srgbClr val="936015"/>
                </a:solidFill>
                <a:latin typeface="黑体"/>
                <a:ea typeface="黑体"/>
                <a:cs typeface="黑体"/>
              </a:rPr>
              <a:t>AGENTS.md</a:t>
            </a:r>
            <a:endParaRPr lang="zh-CN" sz="2000" b="1">
              <a:solidFill>
                <a:srgbClr val="936015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05" name="组成项－可用 Skills 列表"/>
          <p:cNvSpPr/>
          <p:nvPr/>
        </p:nvSpPr>
        <p:spPr>
          <a:xfrm>
            <a:off x="777240" y="4206240"/>
            <a:ext cx="2834640" cy="530352"/>
          </a:xfrm>
          <a:prstGeom prst="roundRect">
            <a:avLst>
              <a:gd name="adj" fmla="val 8000"/>
            </a:avLst>
          </a:prstGeom>
          <a:solidFill>
            <a:srgbClr val="E8F1DF"/>
          </a:solidFill>
          <a:ln w="12700">
            <a:noFill/>
          </a:ln>
        </p:spPr>
        <p:txBody>
          <a:bodyPr wrap="square" lIns="128016" tIns="32004" rIns="12801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2000" b="1">
                <a:solidFill>
                  <a:srgbClr val="56713E"/>
                </a:solidFill>
                <a:latin typeface="黑体"/>
                <a:ea typeface="黑体"/>
                <a:cs typeface="黑体"/>
              </a:rPr>
              <a:t>可用 Skills 列表</a:t>
            </a:r>
            <a:endParaRPr lang="zh-CN" sz="2000" b="1">
              <a:solidFill>
                <a:srgbClr val="56713E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06" name="组成项－当前工作目录"/>
          <p:cNvSpPr/>
          <p:nvPr/>
        </p:nvSpPr>
        <p:spPr>
          <a:xfrm>
            <a:off x="777240" y="4791456"/>
            <a:ext cx="2834640" cy="530352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 w="12700">
            <a:noFill/>
          </a:ln>
        </p:spPr>
        <p:txBody>
          <a:bodyPr wrap="square" lIns="128016" tIns="32004" rIns="12801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2000" b="1">
                <a:solidFill>
                  <a:srgbClr val="516B83"/>
                </a:solidFill>
                <a:latin typeface="黑体"/>
                <a:ea typeface="黑体"/>
                <a:cs typeface="黑体"/>
              </a:rPr>
              <a:t>当前工作目录</a:t>
            </a:r>
            <a:endParaRPr lang="zh-CN" sz="2000" b="1">
              <a:solidFill>
                <a:srgbClr val="516B83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07" name="工具集－由插件植入"/>
          <p:cNvSpPr/>
          <p:nvPr/>
        </p:nvSpPr>
        <p:spPr>
          <a:xfrm>
            <a:off x="594360" y="5577840"/>
            <a:ext cx="3200400" cy="713232"/>
          </a:xfrm>
          <a:prstGeom prst="roundRect">
            <a:avLst>
              <a:gd name="adj" fmla="val 8000"/>
            </a:avLst>
          </a:prstGeom>
          <a:solidFill>
            <a:srgbClr val="E1F0F3"/>
          </a:solidFill>
          <a:ln w="12700">
            <a:solidFill>
              <a:srgbClr val="78A7AF"/>
            </a:solidFill>
          </a:ln>
        </p:spPr>
        <p:txBody>
          <a:bodyPr wrap="square" lIns="182880" tIns="32004" rIns="182880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2100" b="1">
                <a:solidFill>
                  <a:srgbClr val="236B7B"/>
                </a:solidFill>
                <a:latin typeface="黑体"/>
                <a:ea typeface="黑体"/>
                <a:cs typeface="黑体"/>
              </a:rPr>
              <a:t>工具集 tools</a:t>
            </a:r>
            <a:endParaRPr lang="zh-CN" sz="2100" b="1">
              <a:solidFill>
                <a:srgbClr val="236B7B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600" b="0">
                <a:solidFill>
                  <a:srgbClr val="426A71"/>
                </a:solidFill>
                <a:latin typeface="黑体"/>
                <a:ea typeface="黑体"/>
                <a:cs typeface="黑体"/>
              </a:rPr>
              <a:t>由插件植入</a:t>
            </a:r>
            <a:endParaRPr lang="zh-CN" sz="1600" b="0">
              <a:solidFill>
                <a:srgbClr val="426A7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08" name="说明气泡－基础提示词"/>
          <p:cNvSpPr/>
          <p:nvPr/>
        </p:nvSpPr>
        <p:spPr>
          <a:xfrm>
            <a:off x="4187952" y="2414016"/>
            <a:ext cx="7360920" cy="2999232"/>
          </a:xfrm>
          <a:prstGeom prst="wedgeRoundRectCallout">
            <a:avLst>
              <a:gd name="adj1" fmla="val -56957"/>
              <a:gd name="adj2" fmla="val -39939"/>
              <a:gd name="adj3" fmla="val 16667"/>
            </a:avLst>
          </a:prstGeom>
          <a:solidFill>
            <a:srgbClr val="E2EFD9"/>
          </a:solidFill>
          <a:ln w="12700">
            <a:solidFill>
              <a:srgbClr val="7D94B0"/>
            </a:solidFill>
          </a:ln>
        </p:spPr>
        <p:txBody>
          <a:bodyPr wrap="square" lIns="228600" tIns="32004" rIns="228600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2200" b="1">
                <a:solidFill>
                  <a:srgbClr val="315A62"/>
                </a:solidFill>
                <a:latin typeface="黑体"/>
                <a:ea typeface="黑体"/>
                <a:cs typeface="黑体"/>
              </a:rPr>
              <a:t>基础提示词 · 选择一份</a:t>
            </a:r>
            <a:endParaRPr lang="zh-CN" sz="2200" b="1">
              <a:solidFill>
                <a:srgbClr val="315A6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局部：工作目录/.pi/SYSTEM.md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全局：~/.pi/agent/SYSTEM.md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读取顺序：局部 → 全局 → Pi 默认基础提示词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局部优先，两份不拼接；不向父目录扫描。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600" b="0">
                <a:solidFill>
                  <a:srgbClr val="526B50"/>
                </a:solidFill>
                <a:latin typeface="黑体"/>
                <a:ea typeface="黑体"/>
                <a:cs typeface="黑体"/>
              </a:rPr>
              <a:t>项目级资源需当前项目已受信任。</a:t>
            </a:r>
            <a:endParaRPr lang="zh-CN" sz="1600" b="0">
              <a:solidFill>
                <a:srgbClr val="526B50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09" name="说明气泡－追加提示词"/>
          <p:cNvSpPr/>
          <p:nvPr/>
        </p:nvSpPr>
        <p:spPr>
          <a:xfrm>
            <a:off x="4187952" y="2414016"/>
            <a:ext cx="7360920" cy="2999232"/>
          </a:xfrm>
          <a:prstGeom prst="wedgeRoundRectCallout">
            <a:avLst>
              <a:gd name="adj1" fmla="val -56957"/>
              <a:gd name="adj2" fmla="val -20427"/>
              <a:gd name="adj3" fmla="val 16667"/>
            </a:avLst>
          </a:prstGeom>
          <a:solidFill>
            <a:srgbClr val="E2EFD9"/>
          </a:solidFill>
          <a:ln w="12700">
            <a:solidFill>
              <a:srgbClr val="7D94B0"/>
            </a:solidFill>
          </a:ln>
        </p:spPr>
        <p:txBody>
          <a:bodyPr wrap="square" lIns="228600" tIns="32004" rIns="228600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2200" b="1">
                <a:solidFill>
                  <a:srgbClr val="315A62"/>
                </a:solidFill>
                <a:latin typeface="黑体"/>
                <a:ea typeface="黑体"/>
                <a:cs typeface="黑体"/>
              </a:rPr>
              <a:t>追加提示词 · 选取后追加</a:t>
            </a:r>
            <a:endParaRPr lang="zh-CN" sz="2200" b="1">
              <a:solidFill>
                <a:srgbClr val="315A6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局部：工作目录/.pi/APPEND_SYSTEM.md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全局：~/.pi/agent/APPEND_SYSTEM.md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局部存在则选局部，否则选全局；均无则不追加。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将选中的内容追加在基础提示词后。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局部与全局不拼接；不向父目录扫描。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600" b="0">
                <a:solidFill>
                  <a:srgbClr val="526B50"/>
                </a:solidFill>
                <a:latin typeface="黑体"/>
                <a:ea typeface="黑体"/>
                <a:cs typeface="黑体"/>
              </a:rPr>
              <a:t>项目级资源需当前项目已受信任。</a:t>
            </a:r>
            <a:endParaRPr lang="zh-CN" sz="1600" b="0">
              <a:solidFill>
                <a:srgbClr val="526B50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10" name="说明气泡－AGENTS.md"/>
          <p:cNvSpPr/>
          <p:nvPr/>
        </p:nvSpPr>
        <p:spPr>
          <a:xfrm>
            <a:off x="4187952" y="2414016"/>
            <a:ext cx="7360920" cy="2999232"/>
          </a:xfrm>
          <a:prstGeom prst="wedgeRoundRectCallout">
            <a:avLst>
              <a:gd name="adj1" fmla="val -56957"/>
              <a:gd name="adj2" fmla="val -915"/>
              <a:gd name="adj3" fmla="val 16667"/>
            </a:avLst>
          </a:prstGeom>
          <a:solidFill>
            <a:srgbClr val="E2EFD9"/>
          </a:solidFill>
          <a:ln w="12700">
            <a:solidFill>
              <a:srgbClr val="7D94B0"/>
            </a:solidFill>
          </a:ln>
        </p:spPr>
        <p:txBody>
          <a:bodyPr wrap="square" lIns="228600" tIns="32004" rIns="228600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2200" b="1">
                <a:solidFill>
                  <a:srgbClr val="315A62"/>
                </a:solidFill>
                <a:latin typeface="黑体"/>
                <a:ea typeface="黑体"/>
                <a:cs typeface="黑体"/>
              </a:rPr>
              <a:t>AGENTS.md · 从宽泛到具体</a:t>
            </a:r>
            <a:endParaRPr lang="zh-CN" sz="2200" b="1">
              <a:solidFill>
                <a:srgbClr val="315A6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全局：~/.pi/agent/AGENTS.md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局部：收集当前目录及每一级祖先目录的规则。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拼装：全局 → 远层父目录 → 近层父目录 → 当前目录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同一目录只选一份，优先级：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AGENTS.override.md &gt; AGENTS.md &gt; CLAUDE.md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向上扫描到文件系统根目录，不止于 Git 仓库根目录。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11" name="说明气泡－可用 Skills 列表"/>
          <p:cNvSpPr/>
          <p:nvPr/>
        </p:nvSpPr>
        <p:spPr>
          <a:xfrm>
            <a:off x="4187952" y="2414016"/>
            <a:ext cx="7360920" cy="2999232"/>
          </a:xfrm>
          <a:prstGeom prst="wedgeRoundRectCallout">
            <a:avLst>
              <a:gd name="adj1" fmla="val -56957"/>
              <a:gd name="adj2" fmla="val 18598"/>
              <a:gd name="adj3" fmla="val 16667"/>
            </a:avLst>
          </a:prstGeom>
          <a:solidFill>
            <a:srgbClr val="E2EFD9"/>
          </a:solidFill>
          <a:ln w="12700">
            <a:solidFill>
              <a:srgbClr val="7D94B0"/>
            </a:solidFill>
          </a:ln>
        </p:spPr>
        <p:txBody>
          <a:bodyPr wrap="square" lIns="228600" tIns="32004" rIns="228600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2200" b="1">
                <a:solidFill>
                  <a:srgbClr val="315A62"/>
                </a:solidFill>
                <a:latin typeface="黑体"/>
                <a:ea typeface="黑体"/>
                <a:cs typeface="黑体"/>
              </a:rPr>
              <a:t>可用 Skills 列表 · 先索引，后正文</a:t>
            </a:r>
            <a:endParaRPr lang="zh-CN" sz="2200" b="1">
              <a:solidFill>
                <a:srgbClr val="315A6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全局：~/.pi/agent/skills/  与  ~/.agents/skills/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局部：工作目录/.pi/skills/（只检查当前目录）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另扫描当前目录及祖先目录的 .agents/skills/：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在 Git 仓库中通常止于仓库根目录；否则可到文件系统根。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系统提示词先注入名称、描述和位置；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完整 SKILL.md 在任务需要时读取。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600" b="0">
                <a:solidFill>
                  <a:srgbClr val="526B50"/>
                </a:solidFill>
                <a:latin typeface="黑体"/>
                <a:ea typeface="黑体"/>
                <a:cs typeface="黑体"/>
              </a:rPr>
              <a:t>项目级资源需当前项目已受信任。</a:t>
            </a:r>
            <a:endParaRPr lang="zh-CN" sz="1600" b="0">
              <a:solidFill>
                <a:srgbClr val="526B50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12" name="说明气泡－当前工作目录"/>
          <p:cNvSpPr/>
          <p:nvPr/>
        </p:nvSpPr>
        <p:spPr>
          <a:xfrm>
            <a:off x="4187952" y="2414016"/>
            <a:ext cx="7360920" cy="2999232"/>
          </a:xfrm>
          <a:prstGeom prst="wedgeRoundRectCallout">
            <a:avLst>
              <a:gd name="adj1" fmla="val -56957"/>
              <a:gd name="adj2" fmla="val 38110"/>
              <a:gd name="adj3" fmla="val 16667"/>
            </a:avLst>
          </a:prstGeom>
          <a:solidFill>
            <a:srgbClr val="E2EFD9"/>
          </a:solidFill>
          <a:ln w="12700">
            <a:solidFill>
              <a:srgbClr val="7D94B0"/>
            </a:solidFill>
          </a:ln>
        </p:spPr>
        <p:txBody>
          <a:bodyPr wrap="square" lIns="228600" tIns="32004" rIns="228600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2200" b="1">
                <a:solidFill>
                  <a:srgbClr val="315A62"/>
                </a:solidFill>
                <a:latin typeface="黑体"/>
                <a:ea typeface="黑体"/>
                <a:cs typeface="黑体"/>
              </a:rPr>
              <a:t>当前工作目录 · 来自运行环境</a:t>
            </a:r>
            <a:endParaRPr lang="zh-CN" sz="2200" b="1">
              <a:solidFill>
                <a:srgbClr val="315A6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在终端的哪个目录启动 Pi，那个目录就是 cwd。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Pi 将当前工作目录作为运行环境信息加入系统提示词。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建议在项目根目录启动 Pi。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这一项不是从全局或局部文档中读取的。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13" name="前端项目－情景名称"/>
          <p:cNvSpPr/>
          <p:nvPr/>
        </p:nvSpPr>
        <p:spPr>
          <a:xfrm>
            <a:off x="4187952" y="1920240"/>
            <a:ext cx="7360920" cy="411480"/>
          </a:xfrm>
          <a:prstGeom prst="roundRect">
            <a:avLst>
              <a:gd name="adj" fmla="val 8000"/>
            </a:avLst>
          </a:prstGeom>
          <a:noFill/>
          <a:ln w="12700">
            <a:noFill/>
          </a:ln>
        </p:spPr>
        <p:txBody>
          <a:bodyPr wrap="square" lIns="45720" tIns="32004" rIns="45720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1">
                <a:solidFill>
                  <a:srgbClr val="315A62"/>
                </a:solidFill>
                <a:latin typeface="黑体"/>
                <a:ea typeface="黑体"/>
                <a:cs typeface="黑体"/>
              </a:rPr>
              <a:t>前端项目 · 情景示例（Skills、路径、工具为示意）</a:t>
            </a:r>
            <a:endParaRPr lang="zh-CN" sz="1800" b="1">
              <a:solidFill>
                <a:srgbClr val="315A6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14" name="前端项目－基础提示词"/>
          <p:cNvSpPr/>
          <p:nvPr/>
        </p:nvSpPr>
        <p:spPr>
          <a:xfrm>
            <a:off x="4187952" y="2450592"/>
            <a:ext cx="7360920" cy="530352"/>
          </a:xfrm>
          <a:prstGeom prst="roundRect">
            <a:avLst>
              <a:gd name="adj" fmla="val 8000"/>
            </a:avLst>
          </a:prstGeom>
          <a:solidFill>
            <a:srgbClr val="ECE7F5"/>
          </a:solidFill>
          <a:ln w="12700">
            <a:noFill/>
          </a:ln>
        </p:spPr>
        <p:txBody>
          <a:bodyPr wrap="square" lIns="173736" tIns="32004" rIns="17373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你负责前端开发。完成后通过 lint check；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用户要求时，用 browser 验证页面。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15" name="前端项目－追加提示词"/>
          <p:cNvSpPr/>
          <p:nvPr/>
        </p:nvSpPr>
        <p:spPr>
          <a:xfrm>
            <a:off x="4187952" y="3035808"/>
            <a:ext cx="7360920" cy="530352"/>
          </a:xfrm>
          <a:prstGeom prst="roundRect">
            <a:avLst>
              <a:gd name="adj" fmla="val 8000"/>
            </a:avLst>
          </a:prstGeom>
          <a:solidFill>
            <a:srgbClr val="E4F1F5"/>
          </a:solidFill>
          <a:ln w="12700">
            <a:noFill/>
          </a:ln>
        </p:spPr>
        <p:txBody>
          <a:bodyPr wrap="square" lIns="173736" tIns="32004" rIns="17373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保持设计系统一致性；修改界面前查看 DESIGN.md。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16" name="前端项目－AGENTS.md"/>
          <p:cNvSpPr/>
          <p:nvPr/>
        </p:nvSpPr>
        <p:spPr>
          <a:xfrm>
            <a:off x="4187952" y="3621024"/>
            <a:ext cx="7360920" cy="530352"/>
          </a:xfrm>
          <a:prstGeom prst="roundRect">
            <a:avLst>
              <a:gd name="adj" fmla="val 8000"/>
            </a:avLst>
          </a:prstGeom>
          <a:solidFill>
            <a:srgbClr val="F9EDD9"/>
          </a:solidFill>
          <a:ln w="12700">
            <a:noFill/>
          </a:ln>
        </p:spPr>
        <p:txBody>
          <a:bodyPr wrap="square" lIns="173736" tIns="32004" rIns="17373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使用仓库约定的包管理器；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复用 src/components/ 中的公共组件。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17" name="前端项目－可用 Skills 列表"/>
          <p:cNvSpPr/>
          <p:nvPr/>
        </p:nvSpPr>
        <p:spPr>
          <a:xfrm>
            <a:off x="4187952" y="4206240"/>
            <a:ext cx="7360920" cy="530352"/>
          </a:xfrm>
          <a:prstGeom prst="roundRect">
            <a:avLst>
              <a:gd name="adj" fmla="val 8000"/>
            </a:avLst>
          </a:prstGeom>
          <a:solidFill>
            <a:srgbClr val="E8F1DF"/>
          </a:solidFill>
          <a:ln w="12700">
            <a:noFill/>
          </a:ln>
        </p:spPr>
        <p:txBody>
          <a:bodyPr wrap="square" lIns="173736" tIns="32004" rIns="17373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design-review：检查设计一致性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a11y-review：检查可访问性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18" name="前端项目－当前工作目录"/>
          <p:cNvSpPr/>
          <p:nvPr/>
        </p:nvSpPr>
        <p:spPr>
          <a:xfrm>
            <a:off x="4187952" y="4791456"/>
            <a:ext cx="7360920" cy="530352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 w="12700">
            <a:noFill/>
          </a:ln>
        </p:spPr>
        <p:txBody>
          <a:bodyPr wrap="square" lIns="173736" tIns="32004" rIns="17373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/workspace/web-app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19" name="前端项目－工具集"/>
          <p:cNvSpPr/>
          <p:nvPr/>
        </p:nvSpPr>
        <p:spPr>
          <a:xfrm>
            <a:off x="4187952" y="5577840"/>
            <a:ext cx="7360920" cy="713232"/>
          </a:xfrm>
          <a:prstGeom prst="roundRect">
            <a:avLst>
              <a:gd name="adj" fmla="val 8000"/>
            </a:avLst>
          </a:prstGeom>
          <a:solidFill>
            <a:srgbClr val="E1F0F3"/>
          </a:solidFill>
          <a:ln w="12700">
            <a:noFill/>
          </a:ln>
        </p:spPr>
        <p:txBody>
          <a:bodyPr wrap="square" lIns="173736" tIns="32004" rIns="17373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browser 验收、plan 计划工具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20" name="后端项目－情景名称"/>
          <p:cNvSpPr/>
          <p:nvPr/>
        </p:nvSpPr>
        <p:spPr>
          <a:xfrm>
            <a:off x="4187952" y="1920240"/>
            <a:ext cx="7360920" cy="411480"/>
          </a:xfrm>
          <a:prstGeom prst="roundRect">
            <a:avLst>
              <a:gd name="adj" fmla="val 8000"/>
            </a:avLst>
          </a:prstGeom>
          <a:noFill/>
          <a:ln w="12700">
            <a:noFill/>
          </a:ln>
        </p:spPr>
        <p:txBody>
          <a:bodyPr wrap="square" lIns="45720" tIns="32004" rIns="45720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1">
                <a:solidFill>
                  <a:srgbClr val="315A62"/>
                </a:solidFill>
                <a:latin typeface="黑体"/>
                <a:ea typeface="黑体"/>
                <a:cs typeface="黑体"/>
              </a:rPr>
              <a:t>后端项目 · 情景示例（Skills、路径、工具为示意）</a:t>
            </a:r>
            <a:endParaRPr lang="zh-CN" sz="1800" b="1">
              <a:solidFill>
                <a:srgbClr val="315A6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21" name="后端项目－基础提示词"/>
          <p:cNvSpPr/>
          <p:nvPr/>
        </p:nvSpPr>
        <p:spPr>
          <a:xfrm>
            <a:off x="4187952" y="2450592"/>
            <a:ext cx="7360920" cy="530352"/>
          </a:xfrm>
          <a:prstGeom prst="roundRect">
            <a:avLst>
              <a:gd name="adj" fmla="val 8000"/>
            </a:avLst>
          </a:prstGeom>
          <a:solidFill>
            <a:srgbClr val="ECE7F5"/>
          </a:solidFill>
          <a:ln w="12700">
            <a:noFill/>
          </a:ln>
        </p:spPr>
        <p:txBody>
          <a:bodyPr wrap="square" lIns="173736" tIns="32004" rIns="17373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你负责后端开发。遵守接口契约；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完成后运行测试并验证异常路径。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22" name="后端项目－追加提示词"/>
          <p:cNvSpPr/>
          <p:nvPr/>
        </p:nvSpPr>
        <p:spPr>
          <a:xfrm>
            <a:off x="4187952" y="3035808"/>
            <a:ext cx="7360920" cy="530352"/>
          </a:xfrm>
          <a:prstGeom prst="roundRect">
            <a:avLst>
              <a:gd name="adj" fmla="val 8000"/>
            </a:avLst>
          </a:prstGeom>
          <a:solidFill>
            <a:srgbClr val="E4F1F5"/>
          </a:solidFill>
          <a:ln w="12700">
            <a:noFill/>
          </a:ln>
        </p:spPr>
        <p:txBody>
          <a:bodyPr wrap="square" lIns="173736" tIns="32004" rIns="17373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优先兼容现有接口；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涉及数据结构变更时说明迁移与回滚。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23" name="后端项目－AGENTS.md"/>
          <p:cNvSpPr/>
          <p:nvPr/>
        </p:nvSpPr>
        <p:spPr>
          <a:xfrm>
            <a:off x="4187952" y="3621024"/>
            <a:ext cx="7360920" cy="530352"/>
          </a:xfrm>
          <a:prstGeom prst="roundRect">
            <a:avLst>
              <a:gd name="adj" fmla="val 8000"/>
            </a:avLst>
          </a:prstGeom>
          <a:solidFill>
            <a:srgbClr val="F9EDD9"/>
          </a:solidFill>
          <a:ln w="12700">
            <a:noFill/>
          </a:ln>
        </p:spPr>
        <p:txBody>
          <a:bodyPr wrap="square" lIns="173736" tIns="32004" rIns="17373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遵守模块边界；补充接口测试，不手工修改生成文件。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24" name="后端项目－可用 Skills 列表"/>
          <p:cNvSpPr/>
          <p:nvPr/>
        </p:nvSpPr>
        <p:spPr>
          <a:xfrm>
            <a:off x="4187952" y="4206240"/>
            <a:ext cx="7360920" cy="530352"/>
          </a:xfrm>
          <a:prstGeom prst="roundRect">
            <a:avLst>
              <a:gd name="adj" fmla="val 8000"/>
            </a:avLst>
          </a:prstGeom>
          <a:solidFill>
            <a:srgbClr val="E8F1DF"/>
          </a:solidFill>
          <a:ln w="12700">
            <a:noFill/>
          </a:ln>
        </p:spPr>
        <p:txBody>
          <a:bodyPr wrap="square" lIns="173736" tIns="32004" rIns="17373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api-review：审查接口契约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migration-review：检查数据库迁移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25" name="后端项目－当前工作目录"/>
          <p:cNvSpPr/>
          <p:nvPr/>
        </p:nvSpPr>
        <p:spPr>
          <a:xfrm>
            <a:off x="4187952" y="4791456"/>
            <a:ext cx="7360920" cy="530352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 w="12700">
            <a:noFill/>
          </a:ln>
        </p:spPr>
        <p:txBody>
          <a:bodyPr wrap="square" lIns="173736" tIns="32004" rIns="17373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/workspace/api-service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26" name="后端项目－工具集"/>
          <p:cNvSpPr/>
          <p:nvPr/>
        </p:nvSpPr>
        <p:spPr>
          <a:xfrm>
            <a:off x="4187952" y="5577840"/>
            <a:ext cx="7360920" cy="713232"/>
          </a:xfrm>
          <a:prstGeom prst="roundRect">
            <a:avLst>
              <a:gd name="adj" fmla="val 8000"/>
            </a:avLst>
          </a:prstGeom>
          <a:solidFill>
            <a:srgbClr val="E1F0F3"/>
          </a:solidFill>
          <a:ln w="12700">
            <a:noFill/>
          </a:ln>
        </p:spPr>
        <p:txBody>
          <a:bodyPr wrap="square" lIns="173736" tIns="32004" rIns="17373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API 请求、数据库查询、plan 计划工具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27" name="文档仓库－情景名称"/>
          <p:cNvSpPr/>
          <p:nvPr/>
        </p:nvSpPr>
        <p:spPr>
          <a:xfrm>
            <a:off x="4187952" y="1920240"/>
            <a:ext cx="7360920" cy="411480"/>
          </a:xfrm>
          <a:prstGeom prst="roundRect">
            <a:avLst>
              <a:gd name="adj" fmla="val 8000"/>
            </a:avLst>
          </a:prstGeom>
          <a:noFill/>
          <a:ln w="12700">
            <a:noFill/>
          </a:ln>
        </p:spPr>
        <p:txBody>
          <a:bodyPr wrap="square" lIns="45720" tIns="32004" rIns="45720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1">
                <a:solidFill>
                  <a:srgbClr val="315A62"/>
                </a:solidFill>
                <a:latin typeface="黑体"/>
                <a:ea typeface="黑体"/>
                <a:cs typeface="黑体"/>
              </a:rPr>
              <a:t>文档仓库 · 情景示例（Skills、路径、工具为示意）</a:t>
            </a:r>
            <a:endParaRPr lang="zh-CN" sz="1800" b="1">
              <a:solidFill>
                <a:srgbClr val="315A6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28" name="文档仓库－基础提示词"/>
          <p:cNvSpPr/>
          <p:nvPr/>
        </p:nvSpPr>
        <p:spPr>
          <a:xfrm>
            <a:off x="4187952" y="2450592"/>
            <a:ext cx="7360920" cy="530352"/>
          </a:xfrm>
          <a:prstGeom prst="roundRect">
            <a:avLst>
              <a:gd name="adj" fmla="val 8000"/>
            </a:avLst>
          </a:prstGeom>
          <a:solidFill>
            <a:srgbClr val="ECE7F5"/>
          </a:solidFill>
          <a:ln w="12700">
            <a:noFill/>
          </a:ln>
        </p:spPr>
        <p:txBody>
          <a:bodyPr wrap="square" lIns="173736" tIns="32004" rIns="17373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你负责文档维护。保持事实准确、术语一致，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区分已有能力与规划内容。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29" name="文档仓库－追加提示词"/>
          <p:cNvSpPr/>
          <p:nvPr/>
        </p:nvSpPr>
        <p:spPr>
          <a:xfrm>
            <a:off x="4187952" y="3035808"/>
            <a:ext cx="7360920" cy="530352"/>
          </a:xfrm>
          <a:prstGeom prst="roundRect">
            <a:avLst>
              <a:gd name="adj" fmla="val 8000"/>
            </a:avLst>
          </a:prstGeom>
          <a:solidFill>
            <a:srgbClr val="E4F1F5"/>
          </a:solidFill>
          <a:ln w="12700">
            <a:noFill/>
          </a:ln>
        </p:spPr>
        <p:txBody>
          <a:bodyPr wrap="square" lIns="173736" tIns="32004" rIns="17373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延续已有写作风格；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涉及行为变化时同步更新示例与使用说明。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30" name="文档仓库－AGENTS.md"/>
          <p:cNvSpPr/>
          <p:nvPr/>
        </p:nvSpPr>
        <p:spPr>
          <a:xfrm>
            <a:off x="4187952" y="3621024"/>
            <a:ext cx="7360920" cy="530352"/>
          </a:xfrm>
          <a:prstGeom prst="roundRect">
            <a:avLst>
              <a:gd name="adj" fmla="val 8000"/>
            </a:avLst>
          </a:prstGeom>
          <a:solidFill>
            <a:srgbClr val="F9EDD9"/>
          </a:solidFill>
          <a:ln w="12700">
            <a:noFill/>
          </a:ln>
        </p:spPr>
        <p:txBody>
          <a:bodyPr wrap="square" lIns="173736" tIns="32004" rIns="17373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查看 STYLE_GUIDE.md；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图片放入 assets/，使用相对链接。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31" name="文档仓库－可用 Skills 列表"/>
          <p:cNvSpPr/>
          <p:nvPr/>
        </p:nvSpPr>
        <p:spPr>
          <a:xfrm>
            <a:off x="4187952" y="4206240"/>
            <a:ext cx="7360920" cy="530352"/>
          </a:xfrm>
          <a:prstGeom prst="roundRect">
            <a:avLst>
              <a:gd name="adj" fmla="val 8000"/>
            </a:avLst>
          </a:prstGeom>
          <a:solidFill>
            <a:srgbClr val="E8F1DF"/>
          </a:solidFill>
          <a:ln w="12700">
            <a:noFill/>
          </a:ln>
        </p:spPr>
        <p:txBody>
          <a:bodyPr wrap="square" lIns="173736" tIns="32004" rIns="17373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doc-review：检查结构与术语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link-audit：检查链接与引用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32" name="文档仓库－当前工作目录"/>
          <p:cNvSpPr/>
          <p:nvPr/>
        </p:nvSpPr>
        <p:spPr>
          <a:xfrm>
            <a:off x="4187952" y="4791456"/>
            <a:ext cx="7360920" cy="530352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 w="12700">
            <a:noFill/>
          </a:ln>
        </p:spPr>
        <p:txBody>
          <a:bodyPr wrap="square" lIns="173736" tIns="32004" rIns="17373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/workspace/docs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33" name="文档仓库－工具集"/>
          <p:cNvSpPr/>
          <p:nvPr/>
        </p:nvSpPr>
        <p:spPr>
          <a:xfrm>
            <a:off x="4187952" y="5577840"/>
            <a:ext cx="7360920" cy="713232"/>
          </a:xfrm>
          <a:prstGeom prst="roundRect">
            <a:avLst>
              <a:gd name="adj" fmla="val 8000"/>
            </a:avLst>
          </a:prstGeom>
          <a:solidFill>
            <a:srgbClr val="E1F0F3"/>
          </a:solidFill>
          <a:ln w="12700">
            <a:noFill/>
          </a:ln>
        </p:spPr>
        <p:txBody>
          <a:bodyPr wrap="square" lIns="173736" tIns="32004" rIns="173736" bIns="32004" anchor="ctr">
            <a:noAutofit/>
          </a:bodyPr>
          <a:lstStyle/>
          <a:p>
            <a:pPr marL="0" indent="0" algn="l">
              <a:lnSpc>
                <a:spcPct val="102000"/>
              </a:lnSpc>
              <a:spcAft>
                <a:spcPts val="0"/>
              </a:spcAft>
              <a:buNone/>
            </a:pPr>
            <a:r>
              <a:rPr lang="zh-CN" sz="1800" b="0">
                <a:solidFill>
                  <a:srgbClr val="202B32"/>
                </a:solidFill>
                <a:latin typeface="黑体"/>
                <a:ea typeface="黑体"/>
                <a:cs typeface="黑体"/>
              </a:rPr>
              <a:t>文档检索、链接检查、plan 计划工具</a:t>
            </a:r>
            <a:endParaRPr lang="zh-CN" sz="1800" b="0">
              <a:solidFill>
                <a:srgbClr val="202B32"/>
              </a:solidFill>
              <a:latin typeface="黑体"/>
              <a:ea typeface="黑体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75945" y="407289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zh-CN" alt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智能体一路走来</a:t>
            </a:r>
            <a:r>
              <a:rPr lang="en-US" altLang="zh-CN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，</a:t>
            </a:r>
            <a:r>
              <a:rPr lang="zh-CN" alt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提升的是</a:t>
            </a:r>
            <a:r>
              <a:rPr 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End to End(e2e)</a:t>
            </a:r>
            <a:r>
              <a:rPr lang="zh-CN" alt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能力</a:t>
            </a:r>
            <a:endParaRPr lang="zh-CN" altLang="en-US" sz="3400" b="1" dirty="0">
              <a:solidFill>
                <a:srgbClr val="202B32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85800" y="2276856"/>
            <a:ext cx="3035808" cy="722376"/>
          </a:xfrm>
          <a:prstGeom prst="rect">
            <a:avLst/>
          </a:prstGeom>
          <a:solidFill>
            <a:srgbClr val="EDE7F3"/>
          </a:solidFill>
          <a:ln w="11430">
            <a:solidFill>
              <a:srgbClr val="EDE7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2340864"/>
            <a:ext cx="281635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7756A0"/>
                </a:solidFill>
                <a:latin typeface="黑体" charset="0"/>
                <a:ea typeface="黑体" charset="0"/>
                <a:cs typeface="黑体" charset="0"/>
              </a:rPr>
              <a:t>人提出目标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617720" y="2276856"/>
            <a:ext cx="3017520" cy="722376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340864"/>
            <a:ext cx="2798064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AI</a:t>
            </a:r>
            <a:r>
              <a:rPr lang="zh-CN" alt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工作</a:t>
            </a:r>
            <a:endParaRPr lang="zh-CN" altLang="en-US" sz="2000" b="1" dirty="0">
              <a:solidFill>
                <a:srgbClr val="087F91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522208" y="2276856"/>
            <a:ext cx="3008376" cy="722376"/>
          </a:xfrm>
          <a:prstGeom prst="rect">
            <a:avLst/>
          </a:prstGeom>
          <a:solidFill>
            <a:srgbClr val="EDE7F3"/>
          </a:solidFill>
          <a:ln w="11430">
            <a:solidFill>
              <a:srgbClr val="EDE7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31936" y="2340864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7756A0"/>
                </a:solidFill>
                <a:latin typeface="黑体" charset="0"/>
                <a:ea typeface="黑体" charset="0"/>
                <a:cs typeface="黑体" charset="0"/>
              </a:rPr>
              <a:t>人检查与反馈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785616" y="2651760"/>
            <a:ext cx="749808" cy="0"/>
          </a:xfrm>
          <a:prstGeom prst="line">
            <a:avLst/>
          </a:prstGeom>
          <a:noFill/>
          <a:ln w="19050">
            <a:solidFill>
              <a:srgbClr val="68747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699248" y="2651760"/>
            <a:ext cx="740664" cy="0"/>
          </a:xfrm>
          <a:prstGeom prst="line">
            <a:avLst/>
          </a:prstGeom>
          <a:noFill/>
          <a:ln w="19050">
            <a:solidFill>
              <a:srgbClr val="68747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557016" y="3410712"/>
            <a:ext cx="5065776" cy="13075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8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49040" y="4059936"/>
            <a:ext cx="463600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推理 → 工具 → 观察 → 再推理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126480" y="3017520"/>
            <a:ext cx="0" cy="356616"/>
          </a:xfrm>
          <a:prstGeom prst="line">
            <a:avLst/>
          </a:prstGeom>
          <a:noFill/>
          <a:ln w="17780">
            <a:solidFill>
              <a:srgbClr val="087F91"/>
            </a:solidFill>
            <a:prstDash val="solid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3557143" y="1664843"/>
            <a:ext cx="535838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内层：怎么做？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3387471" y="5353558"/>
            <a:ext cx="5394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zh-CN" altLang="en-US" sz="2000" b="1" dirty="0">
                <a:solidFill>
                  <a:srgbClr val="7756A0"/>
                </a:solidFill>
                <a:latin typeface="黑体" charset="0"/>
                <a:ea typeface="黑体" charset="0"/>
                <a:cs typeface="黑体" charset="0"/>
              </a:rPr>
              <a:t>外层</a:t>
            </a:r>
            <a:r>
              <a:rPr lang="en-US" altLang="zh-CN" sz="2000" b="1" dirty="0">
                <a:solidFill>
                  <a:srgbClr val="7756A0"/>
                </a:solidFill>
                <a:latin typeface="黑体" charset="0"/>
                <a:ea typeface="黑体" charset="0"/>
                <a:cs typeface="黑体" charset="0"/>
              </a:rPr>
              <a:t>：</a:t>
            </a:r>
            <a:r>
              <a:rPr lang="zh-CN" altLang="en-US" sz="2000" b="1" dirty="0">
                <a:solidFill>
                  <a:srgbClr val="7756A0"/>
                </a:solidFill>
                <a:latin typeface="黑体" charset="0"/>
                <a:ea typeface="黑体" charset="0"/>
                <a:cs typeface="黑体" charset="0"/>
              </a:rPr>
              <a:t>要做什么</a:t>
            </a:r>
            <a:r>
              <a:rPr lang="en-US" sz="2000" b="1" dirty="0">
                <a:solidFill>
                  <a:srgbClr val="7756A0"/>
                </a:solidFill>
                <a:latin typeface="黑体" charset="0"/>
                <a:ea typeface="黑体" charset="0"/>
                <a:cs typeface="黑体" charset="0"/>
              </a:rPr>
              <a:t>？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877824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AI</a:t>
            </a:r>
            <a:r>
              <a:rPr lang="zh-CN" alt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助手</a:t>
            </a:r>
            <a:r>
              <a:rPr lang="zh-CN" alt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发展趋势</a:t>
            </a:r>
            <a:endParaRPr lang="zh-CN" altLang="en-US" sz="3400" b="1" dirty="0">
              <a:solidFill>
                <a:srgbClr val="202B32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85800" y="2450719"/>
            <a:ext cx="21671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zh-CN" altLang="en-US" sz="1300" b="1" kern="0" spc="120" dirty="0">
                <a:solidFill>
                  <a:srgbClr val="68747A"/>
                </a:solidFill>
                <a:latin typeface="黑体" charset="0"/>
                <a:ea typeface="黑体" charset="0"/>
                <a:cs typeface="黑体" charset="0"/>
              </a:rPr>
              <a:t>时代</a:t>
            </a:r>
            <a:endParaRPr lang="zh-CN" altLang="en-US" sz="1300" b="1" kern="0" spc="120" dirty="0">
              <a:solidFill>
                <a:srgbClr val="68747A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017520" y="2450719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AI职责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33488" y="2450719"/>
            <a:ext cx="41513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b="1" kern="0" spc="120" dirty="0">
                <a:solidFill>
                  <a:srgbClr val="7756A0"/>
                </a:solidFill>
                <a:latin typeface="黑体" charset="0"/>
                <a:ea typeface="黑体" charset="0"/>
                <a:cs typeface="黑体" charset="0"/>
              </a:rPr>
              <a:t>人类职责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2853055"/>
            <a:ext cx="2167128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17520" y="2853055"/>
            <a:ext cx="4114800" cy="566928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33488" y="2853055"/>
            <a:ext cx="4151376" cy="566928"/>
          </a:xfrm>
          <a:prstGeom prst="rect">
            <a:avLst/>
          </a:prstGeom>
          <a:solidFill>
            <a:srgbClr val="EDE7F3"/>
          </a:solidFill>
          <a:ln w="11430">
            <a:solidFill>
              <a:srgbClr val="EDE7F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2889631"/>
            <a:ext cx="1947672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7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ChatBox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154680" y="2917063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087F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解释与生成候选代码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470648" y="2917063"/>
            <a:ext cx="387705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7756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搬运、执行、反馈、验收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85800" y="3493135"/>
            <a:ext cx="2167128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017520" y="3493135"/>
            <a:ext cx="4114800" cy="566928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33488" y="3493135"/>
            <a:ext cx="4151376" cy="566928"/>
          </a:xfrm>
          <a:prstGeom prst="rect">
            <a:avLst/>
          </a:prstGeom>
          <a:solidFill>
            <a:srgbClr val="EDE7F3"/>
          </a:solidFill>
          <a:ln w="11430">
            <a:solidFill>
              <a:srgbClr val="EDE7F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5528" y="3529711"/>
            <a:ext cx="1947672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7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Prompt</a:t>
            </a:r>
            <a:endParaRPr lang="en-US" sz="1700" dirty="0"/>
          </a:p>
          <a:p>
            <a:pPr marL="0" indent="0">
              <a:lnSpc>
                <a:spcPct val="113000"/>
              </a:lnSpc>
              <a:buNone/>
            </a:pPr>
            <a:r>
              <a:rPr lang="en-US" sz="17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Engineering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3154680" y="3557143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087F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按明确要求生成候选结果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470648" y="3557143"/>
            <a:ext cx="387705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7756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写清目标，继续搬运与执行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685800" y="4133215"/>
            <a:ext cx="2167128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017520" y="4133215"/>
            <a:ext cx="4114800" cy="566928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33488" y="4133215"/>
            <a:ext cx="4151376" cy="566928"/>
          </a:xfrm>
          <a:prstGeom prst="rect">
            <a:avLst/>
          </a:prstGeom>
          <a:solidFill>
            <a:srgbClr val="EDE7F3"/>
          </a:solidFill>
          <a:ln w="11430">
            <a:solidFill>
              <a:srgbClr val="EDE7F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4169791"/>
            <a:ext cx="1947672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7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Context</a:t>
            </a:r>
            <a:endParaRPr lang="en-US" sz="1700" dirty="0"/>
          </a:p>
          <a:p>
            <a:pPr marL="0" indent="0">
              <a:lnSpc>
                <a:spcPct val="113000"/>
              </a:lnSpc>
              <a:buNone/>
            </a:pPr>
            <a:r>
              <a:rPr lang="en-US" sz="17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Engineering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3154680" y="4197223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087F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按需取得材料，再行动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7470648" y="4197223"/>
            <a:ext cx="387705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7756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整理来源，检查缺口与结果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685800" y="4773295"/>
            <a:ext cx="2167128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017520" y="4773295"/>
            <a:ext cx="4114800" cy="566928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333488" y="4773295"/>
            <a:ext cx="4151376" cy="566928"/>
          </a:xfrm>
          <a:prstGeom prst="rect">
            <a:avLst/>
          </a:prstGeom>
          <a:solidFill>
            <a:srgbClr val="EDE7F3"/>
          </a:solidFill>
          <a:ln w="11430">
            <a:solidFill>
              <a:srgbClr val="EDE7F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95528" y="4809871"/>
            <a:ext cx="1947672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7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Harness</a:t>
            </a:r>
            <a:endParaRPr lang="en-US" sz="1700" dirty="0"/>
          </a:p>
          <a:p>
            <a:pPr marL="0" indent="0">
              <a:lnSpc>
                <a:spcPct val="113000"/>
              </a:lnSpc>
              <a:buNone/>
            </a:pPr>
            <a:r>
              <a:rPr lang="en-US" sz="17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Engineering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3154680" y="4837303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087F9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组织执行、检查、重试与上报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7470648" y="4837303"/>
            <a:ext cx="3877056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7756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目标、授权、取舍、最终判断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7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877824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编程语言在 AI 时代的生态位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85800" y="238658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44168" y="2313432"/>
            <a:ext cx="233172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Python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831336" y="2267712"/>
            <a:ext cx="742492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202B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适合做实验/数学建模/脚本，用处最多，求职最广。建议会。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335024" y="3063240"/>
            <a:ext cx="9939528" cy="0"/>
          </a:xfrm>
          <a:prstGeom prst="line">
            <a:avLst/>
          </a:prstGeom>
          <a:noFill/>
          <a:ln w="15240">
            <a:solidFill>
              <a:srgbClr val="D9D8D0"/>
            </a:solidFill>
            <a:prstDash val="solid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685800" y="3310128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344168" y="3236976"/>
            <a:ext cx="233172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TypeScript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831336" y="3191256"/>
            <a:ext cx="742492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202B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适合做Agent产品与前端。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1335024" y="3986784"/>
            <a:ext cx="9939528" cy="0"/>
          </a:xfrm>
          <a:prstGeom prst="line">
            <a:avLst/>
          </a:prstGeom>
          <a:noFill/>
          <a:ln w="15240">
            <a:solidFill>
              <a:srgbClr val="D9D8D0"/>
            </a:solidFill>
            <a:prstDash val="solid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685800" y="423367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03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344168" y="4160520"/>
            <a:ext cx="233172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C++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831336" y="4114800"/>
            <a:ext cx="742492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202B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完成复杂、性能敏感的系统。可以配合CUDA写驱动GPU的LLM推理引擎。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1335024" y="4910328"/>
            <a:ext cx="9939528" cy="0"/>
          </a:xfrm>
          <a:prstGeom prst="line">
            <a:avLst/>
          </a:prstGeom>
          <a:noFill/>
          <a:ln w="15240">
            <a:solidFill>
              <a:srgbClr val="D9D8D0"/>
            </a:solidFill>
            <a:prstDash val="solid"/>
            <a:tailEnd type="none"/>
          </a:ln>
        </p:spPr>
      </p:sp>
      <p:sp>
        <p:nvSpPr>
          <p:cNvPr id="20" name="Text 17"/>
          <p:cNvSpPr/>
          <p:nvPr/>
        </p:nvSpPr>
        <p:spPr>
          <a:xfrm>
            <a:off x="685800" y="5157216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04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344168" y="5084064"/>
            <a:ext cx="233172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Rust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3831336" y="5038344"/>
            <a:ext cx="742492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202B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强调内存安全与性能控制。用于写高性能Agent Harness或者轻量工具。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877824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计算机基础：一定要做 Lab！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13232" y="2331720"/>
            <a:ext cx="57150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可以不做笔记，</a:t>
            </a:r>
            <a:endParaRPr lang="en-US" sz="2000" dirty="0"/>
          </a:p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但是一定要做Lab！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995160" y="2286000"/>
            <a:ext cx="4498848" cy="3364992"/>
          </a:xfrm>
          <a:prstGeom prst="rect">
            <a:avLst/>
          </a:prstGeom>
          <a:solidFill>
            <a:srgbClr val="FFFFFF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78624" y="25146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b="1" kern="0" spc="120" dirty="0">
                <a:solidFill>
                  <a:srgbClr val="AD741C"/>
                </a:solidFill>
                <a:latin typeface="黑体" charset="0"/>
                <a:ea typeface="黑体" charset="0"/>
                <a:cs typeface="黑体" charset="0"/>
              </a:rPr>
              <a:t>入门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278624" y="3054096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CS61A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296912" y="3886200"/>
            <a:ext cx="374904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Python为主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278624" y="4590288"/>
            <a:ext cx="3849624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最后Lab：</a:t>
            </a:r>
            <a:endParaRPr lang="en-US" sz="2000" dirty="0"/>
          </a:p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手写一个Python解释器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22376" y="4288536"/>
            <a:ext cx="5715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202B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函数、递归、数据抽象、面向对象等内容，</a:t>
            </a:r>
            <a:endParaRPr lang="en-US" sz="2000" dirty="0"/>
          </a:p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202B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训练如何组织程序、控制复杂度。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877824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有意思的编程课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94944" y="2267712"/>
            <a:ext cx="6437376" cy="3749040"/>
          </a:xfrm>
          <a:prstGeom prst="rect">
            <a:avLst/>
          </a:prstGeom>
          <a:solidFill>
            <a:srgbClr val="FFFFFF"/>
          </a:solidFill>
          <a:ln w="1143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33488" y="2267712"/>
            <a:ext cx="4142232" cy="3749040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3544" y="2496312"/>
            <a:ext cx="59161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b="1" kern="0" spc="120" dirty="0">
                <a:solidFill>
                  <a:srgbClr val="AD741C"/>
                </a:solidFill>
                <a:latin typeface="黑体" charset="0"/>
                <a:ea typeface="黑体" charset="0"/>
                <a:cs typeface="黑体" charset="0"/>
              </a:rPr>
              <a:t>JAVA · 面向对象 · 数据结构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23544" y="2962656"/>
            <a:ext cx="587044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CS61B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23544" y="3694176"/>
            <a:ext cx="5870448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202B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Java为主。包含两大块：Java与面向对象编程；数据结构。学完等于掌握本校大一下的面向对象程序设计和大二上的数据结构。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23544" y="5093208"/>
            <a:ext cx="587044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最后要求自己动脑经实现“地图生成游戏”：课程给脚手架，学生填充具体算法。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562088" y="2496312"/>
            <a:ext cx="36667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TYPESCRIPT · 软件工程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62088" y="2962656"/>
            <a:ext cx="3666744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MIT6.102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562088" y="3721608"/>
            <a:ext cx="3666744" cy="1801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202B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TypeScript为主，讲解学校里不会教的软件工程的细节和习惯。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7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877824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数学强化：在模型中找到大学数学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85800" y="2194560"/>
            <a:ext cx="5285232" cy="694944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2258568"/>
            <a:ext cx="506577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MIT18.06 · 线性代数常青树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27064" y="2194560"/>
            <a:ext cx="5285232" cy="694944"/>
          </a:xfrm>
          <a:prstGeom prst="rect">
            <a:avLst/>
          </a:prstGeom>
          <a:solidFill>
            <a:srgbClr val="F2E8D4"/>
          </a:solidFill>
          <a:ln w="11430">
            <a:solidFill>
              <a:srgbClr val="F2E8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36792" y="2258568"/>
            <a:ext cx="506577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AD741C"/>
                </a:solidFill>
                <a:latin typeface="黑体" charset="0"/>
                <a:ea typeface="黑体" charset="0"/>
                <a:cs typeface="黑体" charset="0"/>
              </a:rPr>
              <a:t>MIT6.041 · 足够硬核的概率论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31520" y="3191256"/>
            <a:ext cx="10789920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当代LLM推理架构一般是transformers。</a:t>
            </a:r>
            <a:endParaRPr lang="en-US" sz="2000" dirty="0"/>
          </a:p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transformers里其实能找到大学数学的影子：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68096" y="4187952"/>
            <a:ext cx="32004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前向传播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032504" y="4389120"/>
            <a:ext cx="493776" cy="0"/>
          </a:xfrm>
          <a:prstGeom prst="line">
            <a:avLst/>
          </a:prstGeom>
          <a:noFill/>
          <a:ln w="15240">
            <a:solidFill>
              <a:srgbClr val="68747A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4681728" y="4187952"/>
            <a:ext cx="6720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202B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线性代数 / 矩阵乘法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68096" y="4773168"/>
            <a:ext cx="32004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反向传播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032504" y="4974336"/>
            <a:ext cx="493776" cy="0"/>
          </a:xfrm>
          <a:prstGeom prst="line">
            <a:avLst/>
          </a:prstGeom>
          <a:noFill/>
          <a:ln w="15240">
            <a:solidFill>
              <a:srgbClr val="68747A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4681728" y="4773168"/>
            <a:ext cx="6720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202B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偏导数、链式法则 / 高等数学；梯度、矩阵偏导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68096" y="5358384"/>
            <a:ext cx="32004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SoftMax / token采样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4032504" y="5559552"/>
            <a:ext cx="493776" cy="0"/>
          </a:xfrm>
          <a:prstGeom prst="line">
            <a:avLst/>
          </a:prstGeom>
          <a:noFill/>
          <a:ln w="15240">
            <a:solidFill>
              <a:srgbClr val="68747A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4681728" y="5358384"/>
            <a:ext cx="67208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202B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概率论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877824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机器学习：三种课程入口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932688" y="2368296"/>
            <a:ext cx="378561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MIT6.036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50976" y="2916936"/>
            <a:ext cx="37124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7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Python + numpy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919472" y="2368296"/>
            <a:ext cx="6309360" cy="7955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202B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比较难的“机器学习基础课”。适合数学好的同学，有挑战性。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32688" y="3630168"/>
            <a:ext cx="378561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吴恩达机器学习系列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50976" y="4178808"/>
            <a:ext cx="37124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7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Python + Pytorch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919472" y="3630168"/>
            <a:ext cx="6309360" cy="7955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202B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门槛低，更像科普。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32688" y="4892040"/>
            <a:ext cx="378561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MIT6.S184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50976" y="5440680"/>
            <a:ext cx="37124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7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Python + Pytorch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919472" y="4892040"/>
            <a:ext cx="63093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202B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AI图像生成精品小课。讲清楚用于图像生成的Flow/Diffusion模型原理，扩展到U-net/ViT。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877824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CS224N：进入自然语言处理的世界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40664" y="21945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PYTHON + PYTORCH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779776"/>
            <a:ext cx="10753344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讲清楚人类处理自然语言的</a:t>
            </a:r>
            <a:endParaRPr lang="en-US" sz="2000" dirty="0"/>
          </a:p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各种工具和尝试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40664" y="4352544"/>
            <a:ext cx="2340864" cy="722376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4416552"/>
            <a:ext cx="212140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N-Gram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136392" y="4718304"/>
            <a:ext cx="356616" cy="0"/>
          </a:xfrm>
          <a:prstGeom prst="line">
            <a:avLst/>
          </a:prstGeom>
          <a:noFill/>
          <a:ln w="19050">
            <a:solidFill>
              <a:srgbClr val="68747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557016" y="4352544"/>
            <a:ext cx="2340864" cy="722376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66744" y="4416552"/>
            <a:ext cx="212140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RNN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952744" y="4718304"/>
            <a:ext cx="356616" cy="0"/>
          </a:xfrm>
          <a:prstGeom prst="line">
            <a:avLst/>
          </a:prstGeom>
          <a:noFill/>
          <a:ln w="19050">
            <a:solidFill>
              <a:srgbClr val="68747A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373368" y="4352544"/>
            <a:ext cx="2340864" cy="722376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83096" y="4416552"/>
            <a:ext cx="212140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LSTM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769096" y="4718304"/>
            <a:ext cx="356616" cy="0"/>
          </a:xfrm>
          <a:prstGeom prst="line">
            <a:avLst/>
          </a:prstGeom>
          <a:noFill/>
          <a:ln w="19050">
            <a:solidFill>
              <a:srgbClr val="68747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189720" y="4352544"/>
            <a:ext cx="2340864" cy="722376"/>
          </a:xfrm>
          <a:prstGeom prst="rect">
            <a:avLst/>
          </a:prstGeom>
          <a:solidFill>
            <a:srgbClr val="E3EFF0"/>
          </a:solidFill>
          <a:ln w="11430">
            <a:solidFill>
              <a:srgbClr val="E3EF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99448" y="4416552"/>
            <a:ext cx="212140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Transformers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03504" y="5715000"/>
            <a:ext cx="10991088" cy="530352"/>
          </a:xfrm>
          <a:prstGeom prst="rect">
            <a:avLst/>
          </a:prstGeom>
          <a:solidFill>
            <a:srgbClr val="F2E8D4"/>
          </a:solidFill>
          <a:ln w="11430">
            <a:solidFill>
              <a:srgbClr val="F2E8D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" y="5715000"/>
            <a:ext cx="50292" cy="530352"/>
          </a:xfrm>
          <a:prstGeom prst="rect">
            <a:avLst/>
          </a:prstGeom>
          <a:solidFill>
            <a:srgbClr val="AD741C"/>
          </a:solidFill>
          <a:ln w="11430">
            <a:solidFill>
              <a:srgbClr val="AD741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4672" y="5751576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AD741C"/>
                </a:solidFill>
                <a:latin typeface="黑体" charset="0"/>
                <a:ea typeface="黑体" charset="0"/>
                <a:cs typeface="黑体" charset="0"/>
              </a:rPr>
              <a:t>Lab:机器学习翻译器。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8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877824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CUDA：从语言到 GPU 实践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49808" y="225856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CUDA PROGRAMMING COURSE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2852928"/>
            <a:ext cx="10817352" cy="10149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High-Performance Computing</a:t>
            </a:r>
            <a:endParaRPr lang="en-US" sz="2000" dirty="0"/>
          </a:p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with GPUs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" y="4352544"/>
            <a:ext cx="107899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从0学习CUDA语言。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03504" y="5669280"/>
            <a:ext cx="10991088" cy="530352"/>
          </a:xfrm>
          <a:prstGeom prst="rect">
            <a:avLst/>
          </a:prstGeom>
          <a:solidFill>
            <a:srgbClr val="F2E8D4"/>
          </a:solidFill>
          <a:ln w="11430">
            <a:solidFill>
              <a:srgbClr val="F2E8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3504" y="5669280"/>
            <a:ext cx="50292" cy="530352"/>
          </a:xfrm>
          <a:prstGeom prst="rect">
            <a:avLst/>
          </a:prstGeom>
          <a:solidFill>
            <a:srgbClr val="AD741C"/>
          </a:solidFill>
          <a:ln w="11430">
            <a:solidFill>
              <a:srgbClr val="AD74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5705856"/>
            <a:ext cx="10533888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AD741C"/>
                </a:solidFill>
                <a:latin typeface="黑体" charset="0"/>
                <a:ea typeface="黑体" charset="0"/>
                <a:cs typeface="黑体" charset="0"/>
              </a:rPr>
              <a:t>Lab:用CUDA实现一个多层感知器，用于手写数字识别。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5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877824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CMU11868：手写一个“小 Pytorch”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1520" y="207568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68747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用C++和Python理解现代LLM原理，三侧入手：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49808" y="2962656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b="1" kern="0" spc="120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72184" y="2880360"/>
            <a:ext cx="2587752" cy="5212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087F91"/>
                </a:solidFill>
                <a:latin typeface="黑体" charset="0"/>
                <a:ea typeface="黑体" charset="0"/>
                <a:cs typeface="黑体" charset="0"/>
              </a:rPr>
              <a:t>数学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315968" y="2843784"/>
            <a:ext cx="7123176" cy="758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202B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数学上讲清Transformers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1472184" y="3703320"/>
            <a:ext cx="9994392" cy="0"/>
          </a:xfrm>
          <a:prstGeom prst="line">
            <a:avLst/>
          </a:prstGeom>
          <a:noFill/>
          <a:ln w="15240">
            <a:solidFill>
              <a:srgbClr val="D9D8D0"/>
            </a:solidFill>
            <a:prstDash val="solid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749808" y="3941064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b="1" kern="0" spc="120" dirty="0">
                <a:solidFill>
                  <a:srgbClr val="AD741C"/>
                </a:solidFill>
                <a:latin typeface="黑体" charset="0"/>
                <a:ea typeface="黑体" charset="0"/>
                <a:cs typeface="黑体" charset="0"/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472184" y="3858768"/>
            <a:ext cx="2587752" cy="5212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AD741C"/>
                </a:solidFill>
                <a:latin typeface="黑体" charset="0"/>
                <a:ea typeface="黑体" charset="0"/>
                <a:cs typeface="黑体" charset="0"/>
              </a:rPr>
              <a:t>工程化引擎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315968" y="3822192"/>
            <a:ext cx="7123176" cy="758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202B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数学的矩阵乘法在GPU硬件上如何加速；CUDA语言/GEMM是什么？显存/计算谁是瓶颈？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1472184" y="4681728"/>
            <a:ext cx="9994392" cy="0"/>
          </a:xfrm>
          <a:prstGeom prst="line">
            <a:avLst/>
          </a:prstGeom>
          <a:noFill/>
          <a:ln w="15240">
            <a:solidFill>
              <a:srgbClr val="D9D8D0"/>
            </a:solidFill>
            <a:prstDash val="solid"/>
            <a:tailEnd type="none"/>
          </a:ln>
        </p:spPr>
      </p:sp>
      <p:sp>
        <p:nvSpPr>
          <p:cNvPr id="17" name="Text 14"/>
          <p:cNvSpPr/>
          <p:nvPr/>
        </p:nvSpPr>
        <p:spPr>
          <a:xfrm>
            <a:off x="749808" y="4919472"/>
            <a:ext cx="5760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b="1" kern="0" spc="120" dirty="0">
                <a:solidFill>
                  <a:srgbClr val="7756A0"/>
                </a:solidFill>
                <a:latin typeface="黑体" charset="0"/>
                <a:ea typeface="黑体" charset="0"/>
                <a:cs typeface="黑体" charset="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472184" y="4837176"/>
            <a:ext cx="2587752" cy="5212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b="1" dirty="0">
                <a:solidFill>
                  <a:srgbClr val="7756A0"/>
                </a:solidFill>
                <a:latin typeface="黑体" charset="0"/>
                <a:ea typeface="黑体" charset="0"/>
                <a:cs typeface="黑体" charset="0"/>
              </a:rPr>
              <a:t>推理加速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315968" y="4800600"/>
            <a:ext cx="7123176" cy="758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2000" dirty="0">
                <a:solidFill>
                  <a:srgbClr val="202B3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pitchFamily="34" charset="-120"/>
              </a:rPr>
              <a:t>多卡协作（显存/计算/通信/流水线调度）；量化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877824"/>
            <a:ext cx="11018520" cy="987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96112" y="976757"/>
            <a:ext cx="10378440" cy="1746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zh-CN" altLang="en-US" sz="3200" b="1" dirty="0">
                <a:solidFill>
                  <a:srgbClr val="202B32"/>
                </a:solidFill>
                <a:latin typeface="黑体" charset="0"/>
                <a:ea typeface="黑体" charset="0"/>
                <a:cs typeface="黑体" charset="0"/>
              </a:rPr>
              <a:t>感谢大家</a:t>
            </a:r>
            <a:endParaRPr lang="zh-CN" altLang="en-US" sz="3200" b="1" dirty="0">
              <a:solidFill>
                <a:srgbClr val="202B32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pic>
        <p:nvPicPr>
          <p:cNvPr id="4" name="图片 3" descr="qrcode_1790012395567"/>
          <p:cNvPicPr>
            <a:picLocks noChangeAspect="1"/>
          </p:cNvPicPr>
          <p:nvPr/>
        </p:nvPicPr>
        <p:blipFill>
          <a:blip r:embed="rId1"/>
          <a:srcRect l="12810" t="30472" r="11406" b="28111"/>
          <a:stretch>
            <a:fillRect/>
          </a:stretch>
        </p:blipFill>
        <p:spPr>
          <a:xfrm>
            <a:off x="4627245" y="2723515"/>
            <a:ext cx="2915285" cy="28403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4891</Words>
  <Application>WPS 演示</Application>
  <PresentationFormat>On-screen Show (16:9)</PresentationFormat>
  <Paragraphs>686</Paragraphs>
  <Slides>27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9" baseType="lpstr">
      <vt:lpstr>Arial</vt:lpstr>
      <vt:lpstr>宋体</vt:lpstr>
      <vt:lpstr>Wingdings</vt:lpstr>
      <vt:lpstr>黑体</vt:lpstr>
      <vt:lpstr>汉仪中黑KW</vt:lpstr>
      <vt:lpstr>Noto Sans SC</vt:lpstr>
      <vt:lpstr>Thonburi</vt:lpstr>
      <vt:lpstr>宋体</vt:lpstr>
      <vt:lpstr>PingFang SC</vt:lpstr>
      <vt:lpstr>等线</vt:lpstr>
      <vt:lpstr>汉仪中等线KW</vt:lpstr>
      <vt:lpstr>微软雅黑</vt:lpstr>
      <vt:lpstr>方正雅意黑 GB18030L2</vt:lpstr>
      <vt:lpstr>Calibri</vt:lpstr>
      <vt:lpstr>Helvetica Neue</vt:lpstr>
      <vt:lpstr>汉仪书宋二KW</vt:lpstr>
      <vt:lpstr>Arial Unicode MS</vt:lpstr>
      <vt:lpstr>PingFang SC</vt:lpstr>
      <vt:lpstr>黑体</vt:lpstr>
      <vt:lpstr>Noto Sans SC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AI赋能新时代软件工程——主流智能开发工具实战与趋势</dc:title>
  <dc:creator/>
  <dc:subject>EP3 分享会｜制作执行版</dc:subject>
  <cp:lastModifiedBy>SorrowP</cp:lastModifiedBy>
  <cp:revision>41</cp:revision>
  <dcterms:created xsi:type="dcterms:W3CDTF">2026-09-22T05:43:00Z</dcterms:created>
  <dcterms:modified xsi:type="dcterms:W3CDTF">2026-09-22T05:43:00Z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552C3F978724310D93CAAA6A9613E176_42</vt:lpwstr>
  </property>
</Properties>
</file>