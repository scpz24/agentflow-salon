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60" r:id="rId6"/>
    <p:sldId id="285" r:id="rId7"/>
    <p:sldId id="261" r:id="rId8"/>
    <p:sldId id="263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对应脚本：P14
制作说明：本页为可编辑静态课件；截图框待讲者补入真实素材。未制作或运行 HTML、实机演示。
#### P14｜插件究竟挂在哪里？
**预算：2 分钟。**
画一个简化运行时：LLM → 工具执行 → 结果回传；外围有四个接点：工具注册、事件/控制、上下文处理、终端 UI。
将刚才插件的可见行为贴回接点。`pi-breath` 和 HUD 主要演示 UI 与运行事件；网页抓取主要演示工具注册和结果回传。不需要展示插件全部内部实现。
**屏幕文案：** “别只看装了什么，要看它改变了哪个环节。”
Pi 扩展可以注册模型工具、用户命令，订阅事件、调整上下文并定制 UI；这些机制不是给模型增加训练参数。第三方扩展会执行代码，安装前审查来源和权限，不能把插件当成没有风险的主题文件。[^S08][^S11]
过渡：“现在看最容易被误解的一部分：这些材料到底怎样进入模型上下文？”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对应脚本：P18
制作说明：本页为可编辑静态课件；截图框待讲者补入真实素材。未制作或运行 HTML、实机演示。
### P18｜决定可用性的，往往是失败之后怎么办
**预算：4 分钟；使用 A03 异常分支。**
**屏幕文案：**
&gt; 不只设计成功路径，还要设计停止、回退与上报。
**动画异常分支 A03-F：**
1. 执行测试后得到失败结果，左侧出现失败卡。
2. Agent 提出一个越界动作：改动受保护的验收基准文件，以便“让检查通过”。
3. Harness 的明确权限/路径策略拒绝该动作，返回“拒绝原因”，原文件保持不变。
4. Agent 收到拒绝与测试反馈，选择在允许范围内修复；若本次尝试预算耗尽，则提交“已做事项、未解决问题、需要人类判断的点”。
5. 人类侧出现一次真正有内容的介入：澄清验收条件、允许特定动作，或者终止任务；不是盲点“继续”。
这是教学仿真，用来说明运行系统该承担的职责，不声称当前 Codex、Pi 或刚才的插件已经默认实现全部策略。脚本中的“拒绝”也不能作为安全沙箱有效性的证明。真实强约束需要覆盖相关工具与执行入口，而不只是搜索一句危险命令或在 AGENTS.md 写一句禁止。
**讲者补充：** 除了错误，停止条件还可能来自预算、取消、权限不足和目标歧义。自主运行时间更长不是单独的成功标准；有价值的是能否交付满足条件的结果，以及出问题时能否定位和接管。
**趋势证据卡（约 40 秒）：** OpenAI 在 Harness engineering 的公开实践中描述了对工作环境、可读资料、界面/日志反馈与机械检查的投入。这里用它支撑“工程工作向环境和反馈系统扩展”的判断，不照搬其内部项目的效率数字，也不将单个组织的实践当成所有项目的默认解。[^S16]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对应脚本：P19
制作说明：本页为可编辑静态课件；截图框待讲者补入真实素材。未制作或运行 HTML、实机演示。
### P19｜工程背景的差异化，落在什么东西上？
**预算：3 分钟。**
画面回到 Campus Day，用三组具体材料代替抽象口号：
| 能力 | 这次分享已经看过的实物 | 听众可以如何复用 |
|---|---|---|
| 定义与取舍 | 批注、范围约束、空白/有效姓名验收条件 | 把模糊要求变成可判断结果 |
| 组织与执行 | 工具接点、项目规则、按需加载、可运行命令 | 让 Agent 找得到材料、做得动事情 |
| 验证与接管 | 小 diff、测试日志、界面复验、异常上报 | 不只看“完成”，还能判断是否应接受 |
**讲述重点：** 不把差异化等同于“会写更多插件”或“装了最复杂的 Agent”。选择合适的成品工具、删掉无效约束、设计可靠检查，本身就是工程判断。没必要为了证明自己有技术而重写现成能力。
**过渡到第三节：**
&gt; “前面这些判断不是靠记住几个提示词就能稳定做好的。它们背后仍然是编程、软件工程和对系统的理解。接下来进入已经准备好的 AI/CS 学习路线。”
第三节按原案讲授，不在这里增加新的课程推荐或改写既定学习顺序。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对应脚本：P20
制作说明：本页为可编辑静态课件；截图框待讲者补入真实素材。未制作或运行 HTML、实机演示。
### P20｜今晚只改进一次真实工作流
**预算：5 分钟，含问答；位于第三节之后。**
屏幕只保留一个行动任务：
&gt; 在你现有的项目中，给下一次 Agent 任务补上清楚的范围、一项可运行检查和可展示的完成证据。
可以用一小行展开：“目标 / 不要改什么 / 怎么检查 / 交付哪些证据”。不强迫听众当晚换工具、安装全部插件或写一个自己的 Harness。
资源区预留三项：本次课件与动画、演示项目、官方资料索引。二维码必须指向已经真实发布并测试过的地址；尚未发布时，使用可复制的实际资源地址，不制作虚构二维码。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dirty="0">
                <a:latin typeface="黑体" charset="0"/>
                <a:ea typeface="黑体" charset="0"/>
              </a:rPr>
              <a:t>今日看点</a:t>
            </a:r>
            <a:endParaRPr lang="zh-CN" altLang="en-US" sz="3400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关于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226685" y="3077845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Pi：Agent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VSCode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6656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76656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438144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47872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438144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99632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99632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961120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961120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先区分：界面变化与模型能力变化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UI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96112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界面与可观察状态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活动、diff 与终端显示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帮助人观察运行过程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0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模型可调用的工具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检索、抓取与返回结果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改变可请求的行动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47888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FLOW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流程与上下文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材料装配与事件处理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组织运行中的行为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03504" y="5650992"/>
            <a:ext cx="10991088" cy="53035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" y="5650992"/>
            <a:ext cx="50292" cy="53035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" y="5687568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主题改变你怎么看，不等于改变模型看到了什么。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安装几个插件，看它们分别改变什么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pi-breath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活动状态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868680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86968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活动状态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05256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活动条截图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361688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worktree-hud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61688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本次改动与 diff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61688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544568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62856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本次改动与 diff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81144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文件列表与 diff 截图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037576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037576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专门的检索／抓取工具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37576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220456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38744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专门的检索／抓取工具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257032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工具调用与结果截图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22376" y="5660136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课后候选：pi-task-list     问答备用：pi-plan-mode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插件究竟挂在哪里？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15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0848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运行时内部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404872" y="2761488"/>
            <a:ext cx="7370064" cy="1874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52344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62072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056632" y="3273552"/>
            <a:ext cx="2167128" cy="74066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66360" y="3337560"/>
            <a:ext cx="194767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工具执行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808976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18704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489704" y="3648456"/>
            <a:ext cx="502920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278624" y="3648456"/>
            <a:ext cx="46634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5800" y="2770632"/>
            <a:ext cx="1426464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" y="2834640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工具注册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2157984" y="3072384"/>
            <a:ext cx="246888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85800" y="3941064"/>
            <a:ext cx="1426464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" y="4005072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事件／控制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2157984" y="4251960"/>
            <a:ext cx="246888" cy="0"/>
          </a:xfrm>
          <a:prstGeom prst="line">
            <a:avLst/>
          </a:prstGeom>
          <a:noFill/>
          <a:ln w="1651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0058400" y="2770632"/>
            <a:ext cx="1453896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68128" y="283464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上下文处理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9774936" y="3072384"/>
            <a:ext cx="265176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10058400" y="3941064"/>
            <a:ext cx="1453896" cy="63093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168128" y="4005072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终端 UI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9774936" y="4251960"/>
            <a:ext cx="265176" cy="0"/>
          </a:xfrm>
          <a:prstGeom prst="line">
            <a:avLst/>
          </a:prstGeom>
          <a:noFill/>
          <a:ln w="1651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30" name="Text 27"/>
          <p:cNvSpPr/>
          <p:nvPr/>
        </p:nvSpPr>
        <p:spPr>
          <a:xfrm>
            <a:off x="713232" y="5047488"/>
            <a:ext cx="1088136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网页抓取：工具注册与结果回传      pi-breath / HUD：UI 与运行事件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别只看装了什么，要看它改变了哪个环节。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上下文不是一个大字符串，而是一条装配过程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2103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资源来源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58184" y="2103120"/>
            <a:ext cx="23408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装配／选择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21031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本次请求 · 逻辑结构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578608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" y="2642616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默认规则 / SYSTEM.md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85800" y="3209544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" y="3273552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补充规则 / 项目说明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85800" y="3840480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5528" y="3904488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Skills 目录 / 按需读正文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4535424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 / 模板 / 会话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758184" y="3675888"/>
            <a:ext cx="31089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142232" y="2825496"/>
            <a:ext cx="1965960" cy="172821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51960" y="2889504"/>
            <a:ext cx="1746504" cy="160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替换基础块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追加上下文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按需加载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63056" y="3675888"/>
            <a:ext cx="35661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629400" y="2560320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21424" y="2633472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system_prompt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6821424" y="295351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规则、项目上下文、技能目录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629400" y="3410712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21424" y="3483864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6821424" y="3803904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活跃工具定义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629400" y="4261104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21424" y="4334256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messages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821424" y="4654296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任务、历史、工具结果、Skill 正文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294376"/>
            <a:ext cx="10826496" cy="71323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824" y="5431536"/>
            <a:ext cx="104241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本地状态  /  主题与终端外观不必然进入模型上下文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13232" y="6135624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教学示意：Skill 出现在目录里 ≠ 正文已经加载；规则文件 ≠ 权限屏障。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两个 Loop，别混成一个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17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0021824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7" name="Shape 14"/>
          <p:cNvSpPr/>
          <p:nvPr/>
        </p:nvSpPr>
        <p:spPr>
          <a:xfrm flipH="1">
            <a:off x="2194560" y="5148072"/>
            <a:ext cx="7827264" cy="0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 flipV="1">
            <a:off x="2194560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58184" y="357530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交付内部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749808" y="5641848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内层：下一步怎么做？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208776" y="564184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外层：怎样才算真正完成？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同一个任务，在四种协作方式里怎么完成？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1956816"/>
            <a:ext cx="108813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固定目标：修复空白姓名报名，并证明正常报名没有被破坏。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660904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关注方式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17520" y="266090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/ 系统职责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660904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306324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306324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309981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312724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312724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70332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70332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70332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73989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76732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76732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34340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34340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34340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37997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40740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40740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98348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98348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98348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2005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504748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504748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731520" y="5843016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教学模型：四种方式可以共存。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6812280" y="5815584"/>
            <a:ext cx="47091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候选结果 → 证据 → 验收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决定可用性的，往往是失败之后怎么办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19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404872"/>
            <a:ext cx="2231136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468880"/>
            <a:ext cx="201168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测试失败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84448" y="2404872"/>
            <a:ext cx="2761488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4176" y="2468880"/>
            <a:ext cx="2542032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提出越界修改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986016" y="2404872"/>
            <a:ext cx="2615184" cy="7589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95744" y="2468880"/>
            <a:ext cx="2395728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 拒绝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999232" y="2779776"/>
            <a:ext cx="493776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419088" y="2779776"/>
            <a:ext cx="475488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293608" y="3218688"/>
            <a:ext cx="0" cy="448056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58968" y="3721608"/>
            <a:ext cx="6053328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68696" y="3785616"/>
            <a:ext cx="58338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收到拒绝原因与测试反馈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85800" y="4690872"/>
            <a:ext cx="5074920" cy="676656"/>
          </a:xfrm>
          <a:prstGeom prst="rect">
            <a:avLst/>
          </a:prstGeom>
          <a:solidFill>
            <a:srgbClr val="E1EEE7"/>
          </a:solidFill>
          <a:ln w="11430">
            <a:solidFill>
              <a:srgbClr val="E1EE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4754880"/>
            <a:ext cx="485546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348166"/>
                </a:solidFill>
                <a:latin typeface="黑体" charset="0"/>
                <a:ea typeface="黑体" charset="0"/>
                <a:cs typeface="黑体" charset="0"/>
              </a:rPr>
              <a:t>允许范围内修复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336792" y="4690872"/>
            <a:ext cx="5175504" cy="67665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46520" y="4754880"/>
            <a:ext cx="49560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预算耗尽：停止并上报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 flipH="1">
            <a:off x="3200400" y="4389120"/>
            <a:ext cx="3511296" cy="237744"/>
          </a:xfrm>
          <a:prstGeom prst="line">
            <a:avLst/>
          </a:prstGeom>
          <a:noFill/>
          <a:ln w="17780">
            <a:solidFill>
              <a:srgbClr val="348166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692640" y="4389120"/>
            <a:ext cx="0" cy="2377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31520" y="5715000"/>
            <a:ext cx="108264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人类介入：澄清条件 / 授权特定动作 / 终止任务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758952" y="6245352"/>
            <a:ext cx="10789920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教学仿真：不声称具体工具已默认实现全部策略。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工程背景的差异化，落在什么东西上？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20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32257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5256" y="248716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定义与取舍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401568" y="243230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批注 · 范围约束 · 验收条件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401568" y="281635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把模糊要求变成可判断结果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76656" y="332841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349300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组织与执行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401568" y="343814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工具接点 · 项目规则 · 可运行命令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401568" y="382219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 Agent 找得到材料、做得动事情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76656" y="433425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5256" y="449884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验证与接管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401568" y="444398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小 diff · 测试日志 · 界面复验 · 异常上报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401568" y="482803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判断是否应接受候选交付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03504" y="5687568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3504" y="5687568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4672" y="5724144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选择合适工具、删掉无效约束、设计可靠检查，也是工程判断。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21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22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我正在学。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24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749808" y="6071616"/>
            <a:ext cx="106527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反向传播是高数和线代的大舞台。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 / 29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Lab里有一个机器学习翻译器。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27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最后用CUDA实现一个多层感知器，用于手写数字识别。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07 / 行动与问答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今晚只改进一次真实工作流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07 / 行动与问答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29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084832"/>
            <a:ext cx="10698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给下一次 Agent 任务补上：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22376" y="2798064"/>
            <a:ext cx="10753344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清楚的范围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可运行的检查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可展示的完成证据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" y="5074920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目标 / 不要改什么 / 怎么检查 / 交付哪些证据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49808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749808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课件资源  ·  待补地址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425696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4" name="Text 11"/>
          <p:cNvSpPr/>
          <p:nvPr/>
        </p:nvSpPr>
        <p:spPr>
          <a:xfrm>
            <a:off x="4425696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演示项目  ·  待补地址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01584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8101584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官方资料  ·  待补地址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4081</Words>
  <Application>WPS 演示</Application>
  <PresentationFormat>On-screen Show (16:9)</PresentationFormat>
  <Paragraphs>697</Paragraphs>
  <Slides>24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44" baseType="lpstr">
      <vt:lpstr>Arial</vt:lpstr>
      <vt:lpstr>宋体</vt:lpstr>
      <vt:lpstr>Wingdings</vt:lpstr>
      <vt:lpstr>黑体</vt:lpstr>
      <vt:lpstr>汉仪中黑KW</vt:lpstr>
      <vt:lpstr>PingFang SC</vt:lpstr>
      <vt:lpstr>PingFang SC</vt:lpstr>
      <vt:lpstr>Menlo</vt:lpstr>
      <vt:lpstr>Menlo</vt:lpstr>
      <vt:lpstr>Menlo</vt:lpstr>
      <vt:lpstr>等线</vt:lpstr>
      <vt:lpstr>汉仪中等线KW</vt:lpstr>
      <vt:lpstr>微软雅黑</vt:lpstr>
      <vt:lpstr>方正雅意黑 GB18030L2</vt:lpstr>
      <vt:lpstr>Calibri</vt:lpstr>
      <vt:lpstr>Helvetica Neue</vt:lpstr>
      <vt:lpstr>汉仪书宋二KW</vt:lpstr>
      <vt:lpstr>宋体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23</cp:revision>
  <dcterms:created xsi:type="dcterms:W3CDTF">2026-09-20T12:40:24Z</dcterms:created>
  <dcterms:modified xsi:type="dcterms:W3CDTF">2026-09-20T12:40:24Z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552C3F978724310D93CAAA6A9613E176_42</vt:lpwstr>
  </property>
</Properties>
</file>