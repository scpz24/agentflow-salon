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对应脚本：封面
制作说明：本页为可编辑静态课件；截图框待讲者补入真实素材。未制作或运行 HTML、实机演示。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对应脚本：P01
制作说明：本页为可编辑静态课件；截图框待讲者补入真实素材。未制作或运行 HTML、实机演示。
### P01｜AI在手，软件工程专业学生和业余VibeCoder的壁垒是？
**预算：7 分钟，导师主讲。**
**屏幕文案：**
&gt; AI在手，软件工程专业学生和业余VibeCoder的壁垒是？
下面只放死句话：
“我有Codex，不懂编程的人也有Codex。”
“大家都可以向神(Astra)许愿”
“程序员的工作已经没有壁垒”
“计算机已死”
**导师展开方向：** 可以肯定 AI 的帮助，再讨论使用过程是否留下了理解、判断和复盘。不要将“使用 AI”本身定义成学习失败，也不要把使用时长直接当成能力高低的证据。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对应脚本：P02
制作说明：本页为可编辑静态课件；截图框待讲者补入真实素材。未制作或运行 HTML、实机演示。
### P02｜工具可以提速，但是别被宠坏
**预算：8 分钟，导师主讲；最后约 30 秒交棒。**
**屏幕文案：**
&gt; 工具可以提速，但是别被宠坏。
**画面：** 左侧三张工作卡：“生成实现”“执行命令”“整理说明”；右侧三张责任卡：“明确目标”“识别错误”“判断是否满足需求”。中间不是一道永久不可跨越的墙，而是标有“授权与验证”的连接带，避免暗示人类永远必须逐行手写或逐步操作。
**导师展开方向：** 用自己熟悉的课程或项目例子讲“看起来完成”和“真正完成”的差别。评价学生能力时，保留解释、修改、验收环节，而不只看一次生成的作品。
**讲者接棒建议：**
&gt; “我和一位在字节工作的学长交流时，他接触到的团队已经在重度使用 Agent，审查方式也有差异。这只是个人交流的观察，不代表整个公司的统一规定。它让我更在意一个问题：大家都会用之后，我们的差异体现在哪里？”
&gt; “接下来不重复‘怎么启动 Agent’，而是看两件事：一个集成工具如何完成修改与验收；一个极简工具如何被你组织成自己的工作流。”
不把这个见闻写成导师必须背书的结论。导师对案例不熟悉时，由讲者在 P03 口头补充即可。
---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对应脚本：P03
制作说明：本页为可编辑静态课件；截图框待讲者补入真实素材。未制作或运行 HTML、实机演示。
### P03｜今天从“会使用”往前走一步
**预算：3 分钟。**
**屏幕文案：**
&gt; 让它改 → 让它看懂 → 让它执行 → 知道它有没有做好
**画面：** 四个横向阶段。只把“让它改”标为听众已有经验，其余三个是今天的增量。底部放 Codex 与 Pi 两张卡，分别写“集成工作流”和“可定制运行时”。
**过渡：** “先拆开一次调用，再看工具的成品体验。”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对应脚本：P04
制作说明：本页为可编辑静态课件；截图框待讲者补入真实素材。未制作或运行 HTML、实机演示。
#### P04｜一次 LLM 调用，看见什么，交出什么？
**预算：3 分钟。**
**屏幕文案：**
&gt; 模型接收本次上下文，输出回答或行动请求。
**画面：** 左侧四个输入格：“规则”“当前任务与历史”“工具说明”“已经获取的文件/页面/工具结果”；中间一个 LLM 方框；右侧两条出口：“面向用户的回答”“交给运行时的工具调用”。
**讲述边界：**
- 本场用“模型可见的有效上下文”作逻辑模型，不宣称所有 API 都让客户端每次按同一种格式重发完整历史。
- 项目文件在磁盘上，不等于文件正文已经在上下文里；读取、检索、附件处理等步骤决定哪些内容进入这一轮。
- 工具说明告诉模型可以请求什么，工具实现负责实际做事；两者不是同一个东西。
- 以本场客户端执行的读文件/改文件工具为例，模型产出调用请求，Harness 执行并回传结果；不要把这个简化说法推广成“所有平台内置工具都由本机执行”。
**核验说明：** OpenAI 的 function calling 文档明确区分模型返回调用、应用执行、结果送回模型及后续回答/调用。此处借它解释通用工程过程，不要求学生记忆 OpenAI 的字段。[^S01]
**过渡：** “一次调用不会自己长出循环；循环由外面的程序组织。”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对应脚本：P05
制作说明：本页为可编辑静态课件；截图框待讲者补入真实素材。未制作或运行 HTML、实机演示。
#### P05｜它为什么能连续读文件、修改、运行测试？
**预算：4 分钟；切 A01。**
**屏幕文案：**
&gt; Action 改变环境，Observation 改变下一轮输入。
PPT 留一张 A01 的完整静态帧，动画失败时仍能讲完。讲者用动画带大家经历一次“余票文案修复”。
A01静态替代：四次调用依次为读取、修改、测试、最终回答。执行结果回传后才进入下一次输入。失败反馈回到修复；final 是候选交付。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对应脚本：P06
制作说明：本页为可编辑静态课件；截图框待讲者补入真实素材。未制作或运行 HTML、实机演示。
#### P06｜用三个问题检查任何 Agent
**预算：1 分钟。**
屏幕只放三句：“这一轮看到了什么？”“通过什么工具行动？”“凭什么继续或结束？”
用一句话引入 Harness：“本场把模型之外，负责上下文、工具执行和循环控制的运行时组织层称作 Harness。”这是教学工作定义，不要求各产品用完全相同的命名。
过渡到 Codex：“先看一套已经把这些环节集成起来的体验。”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对应脚本：P07
制作说明：本页为可编辑静态课件；截图框待讲者补入真实素材。未制作或运行 HTML、实机演示。
#### P07｜Codex：把“指哪里改哪里”接到交付闭环
**预算：1 分钟。**
屏幕放四步：“指出目标 → 修改实现 → 操作页面 → 检查结果”。右上角注明“本场展示桌面工作流”。
讲述重点不是模型名字、版本榜单或让它新建整个网站，而是反馈如何变成任务、实际界面如何变成验证证据。
过渡：“第一项，人把问题指准确；第二项，Agent 自己去复现与检查。”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对应脚本：P08
制作说明：本页为可编辑静态课件；截图框待讲者补入真实素材。未制作或运行 HTML、实机演示。
#### P08｜不要只说“改好看”，把反馈钉在具体位置
**预算：4 分钟；主演示 D01。**
PPT 显示修改前/目标后两张等尺寸截图，中间预留一个批注标记。目标后截图必须来自彩排真实结果，不能用理想设计图冒充实际产物。
**屏幕结论：** “减少指代歧义，比把提示词写得更长更重要。”这是本场对演示的分析，不作为普遍量化结论。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对应脚本：P09
制作说明：本页为可编辑静态课件；截图框待讲者补入真实素材。未制作或运行 HTML、实机演示。
#### P09｜写完不是结束，让 Agent 把操作再走一遍
**预算：4 分钟；主演示 D02。**
屏幕放一个“操作 → 失败证据 → 修复 → 相同操作复验”的环。重点镜头是鼠标/输入和页面状态变化，不是长篇聊天输出。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对应脚本：P10
制作说明：本页为可编辑静态课件；截图框待讲者补入真实素材。未制作或运行 HTML、实机演示。
#### P10｜Codex 部分，只带走这条工作流
**预算：1 分钟。**
&gt; 指准问题 → 限定范围 → 让它行动 → 要求证据
把 D01 的批注截屏和 D02 的复验截屏并列。此时不再插入新的功能。
过渡：“刚才是集成起来的成品体验。接下来反过来，看一个极简内核怎样被我们定制。”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对应脚本：P11
制作说明：本页为可编辑静态课件；截图框待讲者补入真实素材。未制作或运行 HTML、实机演示。
#### P11｜先看没有额外包装的 Pi
**预算：4 分钟；主演示 D03。**
屏幕左侧放四张工具卡，右侧放一个 10 行以内的函数片段，强调这是小任务，不是复杂项目重构。
安装入口只占 20–30 秒：PPT 展示当前官方 npm 安装方式，配 `/login` 和 `/model` 的路径说明，随后切到已经登录的环境。不要现场等待 Node 安装、OAuth 回跳或填写 API Key。
```bash
# 课后安装入口；上台环境必须使用已彩排并锁定的版本。
npm install -g --ignore-scripts @earendil-works/pi-coding-agent
pi
```
```text
/login
/model
```
当前官方 README 的包名为 `@earendil-works/pi-coding-agent`。课后资料与现场版本一致即可，不要把不同年代的包名、命令和截图拼成一套说明。认证路径以实际 provider 支持和账户权限为准，不对全场承诺某订阅一定可用。[^S07]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对应脚本：P12
制作说明：本页为可编辑静态课件；截图框待讲者补入真实素材。未制作或运行 HTML、实机演示。
#### P12｜先区分：界面变化与模型能力变化
**预算：2 分钟。**
先用 `/settings` 切到准备好的讲座主题，短暂展示 Ghostty 透明终端适配。投影难读时立即恢复不透明背景。
**屏幕文案：** “主题改变你怎么看，不等于改变模型看到了什么。”
随后将定制分成三个盒子：“界面与可观察状态”“模型可调用的工具”“流程与上下文”。这些是教学分类，一个插件可以跨多个盒子，不是产品官方分类法。
Pi 主题、扩展和 UI 定制能力有官方文档依据；具体主题名称使用讲者已经制作并彩排的主题，不在讲义里虚构一个现成主题包。[^S07][^S08]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对应脚本：P13
制作说明：本页为可编辑静态课件；截图框待讲者补入真实素材。未制作或运行 HTML、实机演示。
#### P13｜安装几个插件，看它们分别改变什么
**预算：6 分钟；主演示 D04。**
**最终主舞台选择：** `pi-breath`、`worktree-hud`、`pi-web-access`。
| 候选 | 本场安排 | 要证明的变化 | 不作出的承诺 |
|---|---|---|---|
| `pi-breath` | 主演，约 30 秒 | 运行活动能以很小的界面元素被感知 | 不把颜色当成模型完整思维的可视化 |
| `worktree-hud` | 主演，约 60 秒 | 不离开终端便能查看本次改动与 diff | 不展开完整 Git 教学或并行 worktree 工作流 |
| `pi-web-access` | 主演，约 90 秒 | 增加专门的检索/抓取工具及其结果 | 不说安装前模型绝对不能联网 |
| `pi-task-list` | 保留为课后候选/截图备用 | 任务状态展示或管理思路 | 本轮没有核实用户现用包的唯一来源、命令和注册项，不写死 |
| `pi-plan-mode` | 保留为问答备用 | 先规划后执行的工作流思路 | 不把“提示词说只读”当成已验证的权限隔离 |
剩余时间用于插件安装、切换和解释。原案的五个候选全部保留在讲义，但不逐一占用完整实机时段。
**核验说明：** 讲者的仓库已有两个独立包：`@scpz24/pi-breath` 与 `@scpz24/pi-worktree-hud`。前者展示活动状态；后者提供 worktree 摘要、文件列表和 diff 预览。其 README 记载的宿主要求涉及 Pi 0.84.1；HUD 另有 Node/Git/终端要求。彩排要核对整体组合，不能只确认插件代码下载成功。HUD 文档的 npm 安装说明带有“发布后”条件，本轮没有核实 npm 发布状态，故现场优先从预先准备好的本地目录加载。[^S09][^S10]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对应脚本：P14
制作说明：本页为可编辑静态课件；截图框待讲者补入真实素材。未制作或运行 HTML、实机演示。
#### P14｜插件究竟挂在哪里？
**预算：2 分钟。**
画一个简化运行时：LLM → 工具执行 → 结果回传；外围有四个接点：工具注册、事件/控制、上下文处理、终端 UI。
将刚才插件的可见行为贴回接点。`pi-breath` 和 HUD 主要演示 UI 与运行事件；网页抓取主要演示工具注册和结果回传。不需要展示插件全部内部实现。
**屏幕文案：** “别只看装了什么，要看它改变了哪个环节。”
Pi 扩展可以注册模型工具、用户命令，订阅事件、调整上下文并定制 UI；这些机制不是给模型增加训练参数。第三方扩展会执行代码，安装前审查来源和权限，不能把插件当成没有风险的主题文件。[^S08][^S11]
过渡：“现在看最容易被误解的一部分：这些材料到底怎样进入模型上下文？”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对应脚本：P15
制作说明：本页为可编辑静态课件；截图框待讲者补入真实素材。未制作或运行 HTML、实机演示。
#### P15｜上下文不是一个大字符串文件，而是一条装配过程
**预算：6 分钟；切 A02。**
**原案来源：** 讲者提供 `https://scpz24.cn/posts/pi`，用于讲系统提示词拼装。本轮访问未成功，因此没有读取、复述或验证该文章的具体内容。
**本轮补充依据：** 用当前 Pi 官方 README、`system-prompt.ts` 与 skills 文档给出一份独立的制作说明。后续拿到博客正文后可以核对措辞，但不得在 PPT 上标成“已按博客逐项核验”。[^S07][^S13][^S14]
**屏幕文案：** “不同材料走不同入口；不是所有文件都叫 system prompt。”
#### A02｜Pi 上下文装配台
**文件：** `animations/a02-pi-context.html`  
**用途：** 解释系统提示词的来源、工具与对话的独立位置，以及按需加载。  
**演示方式：** 8 个手动状态，约 5 分钟；最后用 1 分钟提问。
**固定布局：** 左侧“资源来源”，中间“装配/选择”，右侧“本次请求的逻辑结构”。右侧始终有 `system_prompt`、`tools`、`messages` 三个独立盒子。下方另设“不发送给模型的本地状态”栏。
| 状态 | 演出内容 | 本页必须讲清楚 |
|---|---|---|
| A02-0 来源出现 | 左侧出现默认规则、AGENTS.md、skills、模板、扩展、主题、会话 | 材料来源不等于最终消息类型 |
| A02-1 默认系统提示词 | 默认身份/规则、工具简述等形成基础块 | 默认文本来自 Harness，而不是每次由用户手写 |
| A02-2 系统补充 | `APPEND_SYSTEM.md`、加载到的项目说明、skill 目录信息、cwd 分别入位 | 只表现已核验的来源；不自行加一个“全仓库正文”块 |
| A02-3 自定义分支 | 点击 `SYSTEM.md`，只替换默认基础块，后续上下文块仍保留 | 当前构建函数的自定义分支不等于清空其他上下文 |
| A02-4 工具目录 | 活跃工具定义进入 `tools`；简述可能也出现在系统规则中 | 工具 schema/定义与提示词里的介绍不能画成同一个数据对象 |
| A02-5 模板与历史 | 用户命令展开的提示词进入消息；当前会话分支形成历史 | Prompt template 通常展开为用户请求，不是自动获得 system 级别 |
| A02-6 按需读取 skill | 先有技能名称/描述；收到相关任务后读取一个 SKILL.md，正文进入消息/工具结果路径 | “列在目录里”和“全文已经读到”不是一回事 |
| A02-7 运行与整理 | 工具结果追加；老历史可被摘要替代，近期上下文保留；主题停在本地栏 | 扩展可能改变模型输入，也可能只改 UI；压缩不等于改变模型权重 |
**系统提示词的制作细节：** 当前 `buildSystemPrompt` 的默认分支会组织基础说明、可见工具简述与规则，再追加补充提示、项目上下文、满足条件的 skills 信息以及工作目录。自定义基础提示词分支仍会追加相应项目/技能/目录内容。动画按本次读取的源码组织，不把某个拼接顺序宣称成所有版本永久不变的协议。[^S13]
**项目规则的制作细节：** 只展示全局和当前项目两个 AGENTS 示例，避免在舞台上展开所有祖先目录和覆盖规则。补充说明：实际来源与覆盖策略由当前版本资源加载器决定；规则文件是模型指令，不是天然的文件系统权限屏障。[^S07]
**技能的制作细节：** 默认发现流程先暴露名称/描述等目录信息，匹配任务后再读正文；显式 `/skill:name` 有主动加载入口。不要把技能全部正文一开场就塞进 system，也不要保证模型永远能自动选对 skill。[^S14]
**两组可切换样本：**
| 样本 | 规则 / 输入 | 用途 |
|---|---|---|
| 精简、相关 | “只修改目标源文件；保持现有风格；运行 test:seats；不得放宽测试” | 显示与本轮小任务直接相关的约束 |
| 冗长、冲突 | 旧项目框架说明、过期命令、大量无关日志，再混入本轮需求 | 显示需要筛选的材料，不宣称存在一个普适 token 阈值 |
这些样本是教学构造，不是实测性能数据。若要显示 token 数，必须来自固定 provider/tokenizer 的实际计数；默认只用相对长度，不写看似精确的估值。
**动效规则：** 来源卡复制成内容块后，来源仍保留在左侧，避免暗示文件被移动/删除。更改主题只让本地 UI 栏变化，右侧上下文不得跟着无理由变长。上下文压缩只作用于示意的历史材料，不让整个 system prompt 突然变成一段聊天摘要。
**互动问题：** “一套主题会不会必然占据模型上下文？”“一个 skill 出现在目录里，是否说明正文已加载？”“AGENTS.md 写不能动某文件，和运行时拦截访问，是同一件事吗？”
**收束句：** “上下文工程不是把更多东西塞进去，而是让这一轮拿到需要的信息。”这是对本动画的总结；相关性、按需读取和长任务上下文整理也有公开工程实践支持。[^S15]
---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对应脚本：P16
制作说明：本页为可编辑静态课件；截图框待讲者补入真实素材。未制作或运行 HTML、实机演示。
### P16｜两个 Loop，别混成一个
**预算：2 分钟。**
**画面：** 外圈“人提出目标 → Agent 交付 → 人检查与反馈 → 再交付”；其中“Agent 交付”内部嵌一个较小的“推理 → 工具 → 观察 → 再推理”。
**屏幕文案：**
&gt; 内层：下一步怎么做？  
&gt; 外层：做到什么，算真正完成？
**讲述例子：** D02 里，读源码、编辑、测试可以发生在 Agent 的内部循环；讲者先提出“空白姓名不能成功”，再判断结果是否满足要求，属于外层协作。一次人类消息可以触发多次工具调用，二者不一一对应。
**过渡：** “接下来的‘时代变化’，看的是外层人机分工，不是模型内部循环多了几个箭头。”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对应脚本：P17
制作说明：本页为可编辑静态课件；截图框待讲者补入真实素材。未制作或运行 HTML、实机演示。
### P17｜同一个任务，在四种协作方式里怎么完成？
**预算：7 分钟；切 A03 的四阶段主线。**
PPT 放四个阶段名和一句问题：“哪些动作从人手里移到了系统里，哪些判断仍需要人？”不再开一个全新的例子。
### A03｜一次 e2e 的人机职责迁移
**文件：** `animations/a03-e2e-loops.html`  
**用途：** 看见人类、Agent 与 Harness 如何共同完成同一个任务。  
**演示方式：** 四阶段 + 一个异常分支；不自动轮播。P17 讲主线，P18 复用异常分支，不制作第四个 HTML。
**固定问题：** “修复 Campus Day 空白姓名也能报名的问题，并证明没有破坏正常报名。”
**固定布局：** 左侧 55% 是 Agent 职责侧，右侧 45% 是人类职责侧。左侧内部另有一个细边框区域标注“Harness / 工具 / 检查”，避免把脚本、测试和权限机制都画成模型脑内能力。顶端固定目标与验收条件，底部固定“候选结果 → 证据 → 验收”的状态条。
六类任务使用固定 ID，切阶段时同一张卡移动而不是换一套图标：定义目标、提供/取得资料、生成修改、执行与验证、失败处理、最终判断。人类侧的目标、关键取舍与授权不能在最后一幕凭空消失。
| 阶段 | Agent / 系统侧 | 人类侧 | 动画应该表达什么 |
|---|---|---|---|
| ChatBox | 根据粘贴的内容解释、生成候选代码 | 找文件、粘贴、复制修改、运行页面、把错误再贴回去、验收 | 大量跨边界搬运；AI 主要交付文本 |
| Prompt Engineering | 在更明确的任务、边界、输出格式下生成候选结果 | 花心思写清要求，仍主要自己搬运与执行 | 问法改善了，但不会自动得到文件权限、执行器或测试循环 |
| Context Engineering | 在本场选定的带工具工作流中，按需取得项目规范、源码、日志，再行动 | 整理可靠来源、定义要提供什么、检查信息缺口与结果 | 重点从“这句话怎么写”扩展到“这一轮看到了什么”；工具执行能力不是 Context Engineering 这个名词凭空赋予的 |
| Harness Engineering | 上下文加载、执行、检查、失败重试、状态记录、异常上报由运行系统协同组织 | 定义目标与不可破坏的约束，做必要审批、处理歧义、接受或拒绝结果 | 更多可验证的过程在系统内闭合，人保留关键判断和控制入口 |
**逐步分镜：**
| 状态 | 动作 | 讲者台词要点 |
|---|---|---|
| A03-0 固定目标 | 顶部出现同一任务与三条验收条件 | 比较工作方式，不靠更换难度制造进步感 |
| A03-1 ChatBox | 资料与代码包反复跨越中线；人按下“运行” | 人在担任文件搬运、执行器和反馈中转站 |
| A03-2 Prompt | 人类需求卡展开为目标/范围/验收；搬运箭头仍保留 | 更好的说明很重要，但它没有自动创建执行闭环 |
| A03-3 Context | 规范、代码、错误输出沿明确路径进入左侧；无关资料留在外面 | 把正确材料提供给正确的一轮 |
| A03-4 Harness | 左侧展开“执行 → 检查 → 失败反馈 → 再执行”；跨中线箭头集中到关键判断处 | 不是多写一段 system prompt，而是把过程变成运行系统 |
| A03-5 候选交付 | 出现 diff、测试、UI 复验三张证据卡，状态为“待验收” | 先拿证据，再接受结果 |
| A03-6 人类判断 | 讲者点击“接受”或“提出新约束”；拒绝时回到任务边界 | 外层 Loop 可以继续；并非任何 final 都结束 e2e |
**数量表达：** 可以显示当前示意图里经过了哪些步骤，但不写“效率提升 10 倍”“人类参与下降 80%”等未测数据。若显示箭头计数，必须注明“本图示意，不是实测指标”。默认不放计数器。
**不要偷换概念：** Prompt Engineering 与 Context Engineering 的区分在这里是关注对象的扩大，不是前者没有上下文；Harness 也不是把人删掉或无限增加插件。模型能力提升后，有些专门补丁可以被移除；需要继续保留的是当前任务真正需要的执行、反馈与边界。
**验收：** 在四种模式中，观众能找到同一个目标、同一个任务和最终的接受/拒绝入口；能分清哪些是 LLM 输出，哪些是普通程序执行。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对应脚本：P18
制作说明：本页为可编辑静态课件；截图框待讲者补入真实素材。未制作或运行 HTML、实机演示。
### P18｜决定可用性的，往往是失败之后怎么办
**预算：4 分钟；使用 A03 异常分支。**
**屏幕文案：**
&gt; 不只设计成功路径，还要设计停止、回退与上报。
**动画异常分支 A03-F：**
1. 执行测试后得到失败结果，左侧出现失败卡。
2. Agent 提出一个越界动作：改动受保护的验收基准文件，以便“让检查通过”。
3. Harness 的明确权限/路径策略拒绝该动作，返回“拒绝原因”，原文件保持不变。
4. Agent 收到拒绝与测试反馈，选择在允许范围内修复；若本次尝试预算耗尽，则提交“已做事项、未解决问题、需要人类判断的点”。
5. 人类侧出现一次真正有内容的介入：澄清验收条件、允许特定动作，或者终止任务；不是盲点“继续”。
这是教学仿真，用来说明运行系统该承担的职责，不声称当前 Codex、Pi 或刚才的插件已经默认实现全部策略。脚本中的“拒绝”也不能作为安全沙箱有效性的证明。真实强约束需要覆盖相关工具与执行入口，而不只是搜索一句危险命令或在 AGENTS.md 写一句禁止。
**讲者补充：** 除了错误，停止条件还可能来自预算、取消、权限不足和目标歧义。自主运行时间更长不是单独的成功标准；有价值的是能否交付满足条件的结果，以及出问题时能否定位和接管。
**趋势证据卡（约 40 秒）：** OpenAI 在 Harness engineering 的公开实践中描述了对工作环境、可读资料、界面/日志反馈与机械检查的投入。这里用它支撑“工程工作向环境和反馈系统扩展”的判断，不照搬其内部项目的效率数字，也不将单个组织的实践当成所有项目的默认解。[^S16]
### A03｜一次 e2e 的人机职责迁移
**文件：** `animations/a03-e2e-loops.html`  
**用途：** 看见人类、Agent 与 Harness 如何共同完成同一个任务。  
**演示方式：** 四阶段 + 一个异常分支；不自动轮播。P17 讲主线，P18 复用异常分支，不制作第四个 HTML。
**固定问题：** “修复 Campus Day 空白姓名也能报名的问题，并证明没有破坏正常报名。”
**固定布局：** 左侧 55% 是 Agent 职责侧，右侧 45% 是人类职责侧。左侧内部另有一个细边框区域标注“Harness / 工具 / 检查”，避免把脚本、测试和权限机制都画成模型脑内能力。顶端固定目标与验收条件，底部固定“候选结果 → 证据 → 验收”的状态条。
六类任务使用固定 ID，切阶段时同一张卡移动而不是换一套图标：定义目标、提供/取得资料、生成修改、执行与验证、失败处理、最终判断。人类侧的目标、关键取舍与授权不能在最后一幕凭空消失。
| 阶段 | Agent / 系统侧 | 人类侧 | 动画应该表达什么 |
|---|---|---|---|
| ChatBox | 根据粘贴的内容解释、生成候选代码 | 找文件、粘贴、复制修改、运行页面、把错误再贴回去、验收 | 大量跨边界搬运；AI 主要交付文本 |
| Prompt Engineering | 在更明确的任务、边界、输出格式下生成候选结果 | 花心思写清要求，仍主要自己搬运与执行 | 问法改善了，但不会自动得到文件权限、执行器或测试循环 |
| Context Engineering | 在本场选定的带工具工作流中，按需取得项目规范、源码、日志，再行动 | 整理可靠来源、定义要提供什么、检查信息缺口与结果 | 重点从“这句话怎么写”扩展到“这一轮看到了什么”；工具执行能力不是 Context Engineering 这个名词凭空赋予的 |
| Harness Engineering | 上下文加载、执行、检查、失败重试、状态记录、异常上报由运行系统协同组织 | 定义目标与不可破坏的约束，做必要审批、处理歧义、接受或拒绝结果 | 更多可验证的过程在系统内闭合，人保留关键判断和控制入口 |
**逐步分镜：**
| 状态 | 动作 | 讲者台词要点 |
|---|---|---|
| A03-0 固定目标 | 顶部出现同一任务与三条验收条件 | 比较工作方式，不靠更换难度制造进步感 |
| A03-1 ChatBox | 资料与代码包反复跨越中线；人按下“运行” | 人在担任文件搬运、执行器和反馈中转站 |
| A03-2 Prompt | 人类需求卡展开为目标/范围/验收；搬运箭头仍保留 | 更好的说明很重要，但它没有自动创建执行闭环 |
| A03-3 Context | 规范、代码、错误输出沿明确路径进入左侧；无关资料留在外面 | 把正确材料提供给正确的一轮 |
| A03-4 Harness | 左侧展开“执行 → 检查 → 失败反馈 → 再执行”；跨中线箭头集中到关键判断处 | 不是多写一段 system prompt，而是把过程变成运行系统 |
| A03-5 候选交付 | 出现 diff、测试、UI 复验三张证据卡，状态为“待验收” | 先拿证据，再接受结果 |
| A03-6 人类判断 | 讲者点击“接受”或“提出新约束”；拒绝时回到任务边界 | 外层 Loop 可以继续；并非任何 final 都结束 e2e |
**数量表达：** 可以显示当前示意图里经过了哪些步骤，但不写“效率提升 10 倍”“人类参与下降 80%”等未测数据。若显示箭头计数，必须注明“本图示意，不是实测指标”。默认不放计数器。
**不要偷换概念：** Prompt Engineering 与 Context Engineering 的区分在这里是关注对象的扩大，不是前者没有上下文；Harness 也不是把人删掉或无限增加插件。模型能力提升后，有些专门补丁可以被移除；需要继续保留的是当前任务真正需要的执行、反馈与边界。
**验收：** 在四种模式中，观众能找到同一个目标、同一个任务和最终的接受/拒绝入口；能分清哪些是 LLM 输出，哪些是普通程序执行。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对应脚本：P19
制作说明：本页为可编辑静态课件；截图框待讲者补入真实素材。未制作或运行 HTML、实机演示。
### P19｜工程背景的差异化，落在什么东西上？
**预算：3 分钟。**
画面回到 Campus Day，用三组具体材料代替抽象口号：
| 能力 | 这次分享已经看过的实物 | 听众可以如何复用 |
|---|---|---|
| 定义与取舍 | 批注、范围约束、空白/有效姓名验收条件 | 把模糊要求变成可判断结果 |
| 组织与执行 | 工具接点、项目规则、按需加载、可运行命令 | 让 Agent 找得到材料、做得动事情 |
| 验证与接管 | 小 diff、测试日志、界面复验、异常上报 | 不只看“完成”，还能判断是否应接受 |
**讲述重点：** 不把差异化等同于“会写更多插件”或“装了最复杂的 Agent”。选择合适的成品工具、删掉无效约束、设计可靠检查，本身就是工程判断。没必要为了证明自己有技术而重写现成能力。
**过渡到第三节：**
&gt; “前面这些判断不是靠记住几个提示词就能稳定做好的。它们背后仍然是编程、软件工程和对系统的理解。接下来进入已经准备好的 AI/CS 学习路线。”
第三节按原案讲授，不在这里增加新的课程推荐或改写既定学习顺序。
---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对应脚本：R01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对应脚本：R02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对应脚本：R03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对应脚本：R04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对应脚本：R05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对应脚本：R06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对应脚本：R07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对应脚本：R08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对应脚本：P20
制作说明：本页为可编辑静态课件；截图框待讲者补入真实素材。未制作或运行 HTML、实机演示。
### P20｜今晚只改进一次真实工作流
**预算：5 分钟，含问答；位于第三节之后。**
屏幕只保留一个行动任务：
&gt; 在你现有的项目中，给下一次 Agent 任务补上清楚的范围、一项可运行检查和可展示的完成证据。
可以用一小行展开：“目标 / 不要改什么 / 怎么检查 / 交付哪些证据”。不强迫听众当晚换工具、安装全部插件或写一个自己的 Harness。
资源区预留三项：本次课件与动画、演示项目、官方资料索引。二维码必须指向已经真实发布并测试过的地址；尚未发布时，使用可复制的实际资源地址，不制作虚构二维码。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96112" y="1682877"/>
            <a:ext cx="10378440" cy="1746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AI赋能新时代软件工程</a:t>
            </a:r>
            <a:endParaRPr lang="en-US" sz="5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071620" y="3902075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软件学院</a:t>
            </a:r>
            <a:endParaRPr lang="zh-CN" altLang="en-US" b="1"/>
          </a:p>
          <a:p>
            <a:pPr algn="ctr"/>
            <a:r>
              <a:rPr lang="zh-CN" altLang="en-US"/>
              <a:t>张一川</a:t>
            </a:r>
            <a:r>
              <a:rPr lang="zh-CN" altLang="en-US"/>
              <a:t>教授</a:t>
            </a:r>
            <a:endParaRPr lang="zh-CN" altLang="en-US"/>
          </a:p>
          <a:p>
            <a:pPr algn="ctr"/>
            <a:r>
              <a:rPr lang="zh-CN" altLang="en-US"/>
              <a:t>赵宇彤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17245" y="68668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AI在手，软件专业学生和业余VibeCoder的壁垒是？</a:t>
            </a:r>
            <a:endParaRPr 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596900" y="2232787"/>
            <a:ext cx="9692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“我有Codex，不懂编程的人也有Codex。”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249680" y="3303270"/>
            <a:ext cx="9692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“大家都可以向神(Astra)许愿”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23850" y="4524883"/>
            <a:ext cx="9692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“程序员的工作已经没有壁垒”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17245" y="5746496"/>
            <a:ext cx="9692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“计算机已死”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59461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不要</a:t>
            </a: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被</a:t>
            </a: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AI宠坏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32104" y="2212721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300" b="1" dirty="0">
                <a:latin typeface="黑体" charset="0"/>
                <a:ea typeface="黑体" charset="0"/>
              </a:rPr>
              <a:t>ASSISTANT</a:t>
            </a:r>
            <a:endParaRPr lang="en-US" sz="1300" b="1" dirty="0">
              <a:latin typeface="黑体" charset="0"/>
              <a:ea typeface="黑体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7570851" y="2212721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USER</a:t>
            </a:r>
            <a:endParaRPr lang="en-US" sz="1300" b="1" kern="0" spc="120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58952" y="2706624"/>
            <a:ext cx="3822192" cy="62179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770632"/>
            <a:ext cx="3602736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代码</a:t>
            </a:r>
            <a:r>
              <a:rPr 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实现</a:t>
            </a:r>
            <a:endParaRPr lang="en-US" sz="2000" b="1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58952" y="3547872"/>
            <a:ext cx="3822192" cy="62179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3611880"/>
            <a:ext cx="3602736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执行</a:t>
            </a:r>
            <a:r>
              <a:rPr lang="zh-CN" alt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指令</a:t>
            </a:r>
            <a:endParaRPr lang="zh-CN" altLang="en-US" sz="2000" b="1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58952" y="4389120"/>
            <a:ext cx="3822192" cy="62179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4453128"/>
            <a:ext cx="3602736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整理</a:t>
            </a:r>
            <a:r>
              <a:rPr lang="zh-CN" alt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文档</a:t>
            </a:r>
            <a:endParaRPr lang="zh-CN" altLang="en-US" sz="2000" b="1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342632" y="2706624"/>
            <a:ext cx="4087368" cy="621792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52360" y="2770632"/>
            <a:ext cx="3867912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明确目标</a:t>
            </a:r>
            <a:endParaRPr lang="en-US" sz="2000" b="1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7342632" y="3547872"/>
            <a:ext cx="4087368" cy="621792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52360" y="3611880"/>
            <a:ext cx="3867912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识别错误</a:t>
            </a:r>
            <a:endParaRPr lang="en-US" sz="2000" b="1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7342632" y="4389120"/>
            <a:ext cx="4087368" cy="621792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52360" y="4453128"/>
            <a:ext cx="3867912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验收</a:t>
            </a:r>
            <a:r>
              <a:rPr 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需求</a:t>
            </a:r>
            <a:endParaRPr lang="en-US" sz="2000" b="1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4617720" y="3822192"/>
            <a:ext cx="2688336" cy="0"/>
          </a:xfrm>
          <a:prstGeom prst="line">
            <a:avLst/>
          </a:prstGeom>
          <a:noFill/>
          <a:ln w="2540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855464" y="2999232"/>
            <a:ext cx="2212848" cy="630936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965192" y="3063240"/>
            <a:ext cx="199339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dirty="0">
                <a:latin typeface="黑体" charset="0"/>
                <a:ea typeface="黑体" charset="0"/>
              </a:rPr>
              <a:t>端到端交付</a:t>
            </a:r>
            <a:endParaRPr lang="zh-CN" altLang="en-US" sz="2000" dirty="0">
              <a:latin typeface="黑体" charset="0"/>
              <a:ea typeface="黑体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31190" y="60350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dirty="0">
                <a:latin typeface="黑体" charset="0"/>
                <a:ea typeface="黑体" charset="0"/>
              </a:rPr>
              <a:t>今日看点</a:t>
            </a:r>
            <a:endParaRPr lang="zh-CN" altLang="en-US" sz="3400" dirty="0">
              <a:latin typeface="黑体" charset="0"/>
              <a:ea typeface="黑体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780415" y="2479675"/>
            <a:ext cx="5758180" cy="1567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隐藏功能</a:t>
            </a: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Computer Use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释放释放多模态能力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内置浏览器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altLang="zh-CN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Sketch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和对话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引用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0" indent="457200" algn="l">
              <a:lnSpc>
                <a:spcPct val="113000"/>
              </a:lnSpc>
              <a:buNone/>
            </a:pP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80415" y="3879215"/>
            <a:ext cx="7825740" cy="2108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Pi：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最受程序员欢迎的开源</a:t>
            </a:r>
            <a:r>
              <a:rPr lang="en-US" altLang="zh-CN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Agent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配置与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组装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管理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插件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生态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indent="0">
              <a:lnSpc>
                <a:spcPct val="113000"/>
              </a:lnSpc>
              <a:buFont typeface="Arial" panose="020B0604020202090204" pitchFamily="34" charset="0"/>
              <a:buNone/>
            </a:pP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244590" y="2479675"/>
            <a:ext cx="3560445" cy="83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再看</a:t>
            </a:r>
            <a:r>
              <a:rPr lang="en-US" altLang="zh-CN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Loop：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智能体发展如何改变人机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工作流</a:t>
            </a:r>
            <a:endParaRPr lang="zh-CN" altLang="en-US" sz="2000" b="1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6244590" y="419862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AI/</a:t>
            </a:r>
            <a:r>
              <a:rPr lang="zh-CN" altLang="en-US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计算机科学学习路线</a:t>
            </a:r>
            <a:endParaRPr lang="zh-CN" altLang="en-US" sz="2000" b="1">
              <a:solidFill>
                <a:schemeClr val="accent4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704850" y="1470660"/>
            <a:ext cx="4699000" cy="605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Coding Agent</a:t>
            </a:r>
            <a:r>
              <a:rPr lang="zh-CN" altLang="en-US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工作原理</a:t>
            </a:r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：ReAct Loop</a:t>
            </a:r>
            <a:endParaRPr lang="en-US" altLang="zh-CN" sz="2000" b="1">
              <a:solidFill>
                <a:schemeClr val="accent2"/>
              </a:solidFill>
              <a:latin typeface="黑体" charset="0"/>
              <a:ea typeface="黑体" charset="0"/>
              <a:cs typeface="黑体" charset="0"/>
            </a:endParaRPr>
          </a:p>
          <a:p>
            <a:endParaRPr lang="zh-CN" altLang="en-US" sz="2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75945" y="55587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一次LLM API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做了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什么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02 / 前置内容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05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76656" y="2139696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本次模型可见上下文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67512" y="2624328"/>
            <a:ext cx="3767328" cy="4937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2688336"/>
            <a:ext cx="35478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规则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67512" y="3246120"/>
            <a:ext cx="3767328" cy="4937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3310128"/>
            <a:ext cx="35478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当前任务与历史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67512" y="3867912"/>
            <a:ext cx="3767328" cy="4937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" y="3931920"/>
            <a:ext cx="35478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工具说明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67512" y="4489704"/>
            <a:ext cx="3767328" cy="83210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7240" y="4553712"/>
            <a:ext cx="3547872" cy="7040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已获取的材料</a:t>
            </a:r>
            <a:endParaRPr lang="en-US" sz="2000" dirty="0"/>
          </a:p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文件 / 页面 / 工具结果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507992" y="3730752"/>
            <a:ext cx="521208" cy="0"/>
          </a:xfrm>
          <a:prstGeom prst="line">
            <a:avLst/>
          </a:prstGeom>
          <a:noFill/>
          <a:ln w="2286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093208" y="3200400"/>
            <a:ext cx="1828800" cy="107899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02936" y="3264408"/>
            <a:ext cx="1609344" cy="9509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5212080" y="3401568"/>
            <a:ext cx="158191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967728" y="3730752"/>
            <a:ext cx="457200" cy="0"/>
          </a:xfrm>
          <a:prstGeom prst="line">
            <a:avLst/>
          </a:prstGeom>
          <a:noFill/>
          <a:ln w="21590">
            <a:solidFill>
              <a:srgbClr val="68747A"/>
            </a:solidFill>
            <a:prstDash val="solid"/>
            <a:tailEnd type="none"/>
          </a:ln>
        </p:spPr>
      </p:sp>
      <p:sp>
        <p:nvSpPr>
          <p:cNvPr id="22" name="Shape 19"/>
          <p:cNvSpPr/>
          <p:nvPr/>
        </p:nvSpPr>
        <p:spPr>
          <a:xfrm>
            <a:off x="7424928" y="3054096"/>
            <a:ext cx="0" cy="1362456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none"/>
          </a:ln>
        </p:spPr>
      </p:sp>
      <p:sp>
        <p:nvSpPr>
          <p:cNvPr id="23" name="Shape 20"/>
          <p:cNvSpPr/>
          <p:nvPr/>
        </p:nvSpPr>
        <p:spPr>
          <a:xfrm>
            <a:off x="7424928" y="3054096"/>
            <a:ext cx="347472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7424928" y="4416552"/>
            <a:ext cx="347472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827264" y="2651760"/>
            <a:ext cx="3675888" cy="76809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36992" y="2715768"/>
            <a:ext cx="34564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面向用户的回答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7827264" y="4014216"/>
            <a:ext cx="3675888" cy="768096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936992" y="4078224"/>
            <a:ext cx="34564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交给运行时的工具调用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603504" y="5605272"/>
            <a:ext cx="10991088" cy="5303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3504" y="5605272"/>
            <a:ext cx="50292" cy="53035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04672" y="5641848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文件在磁盘上 ≠ 文件正文已经进入上下文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02 / 前置内容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它为什么能连续读文件、修改、运行测试？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02 / 前置内容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06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21792" y="2048256"/>
            <a:ext cx="244144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" y="2505456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569464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本次上下文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108960" y="299008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3474720" y="2048256"/>
            <a:ext cx="244144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74720" y="2505456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2569464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模型请求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961888" y="299008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6" name="Text 13"/>
          <p:cNvSpPr/>
          <p:nvPr/>
        </p:nvSpPr>
        <p:spPr>
          <a:xfrm>
            <a:off x="6327648" y="2048256"/>
            <a:ext cx="244144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327648" y="2505456"/>
            <a:ext cx="2441448" cy="96012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2569464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Harness 执行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814816" y="299008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0" name="Text 17"/>
          <p:cNvSpPr/>
          <p:nvPr/>
        </p:nvSpPr>
        <p:spPr>
          <a:xfrm>
            <a:off x="9180576" y="2048256"/>
            <a:ext cx="244144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9180576" y="2505456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290304" y="2569464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结果回传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11018520" y="3547872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4" name="Shape 21"/>
          <p:cNvSpPr/>
          <p:nvPr/>
        </p:nvSpPr>
        <p:spPr>
          <a:xfrm flipH="1">
            <a:off x="1719072" y="4014216"/>
            <a:ext cx="9299448" cy="0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5" name="Shape 22"/>
          <p:cNvSpPr/>
          <p:nvPr/>
        </p:nvSpPr>
        <p:spPr>
          <a:xfrm flipV="1">
            <a:off x="1719072" y="3547872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2971800" y="4105656"/>
            <a:ext cx="79552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结果成为下一轮输入；调用与结果保持关联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676656" y="4754880"/>
            <a:ext cx="5047488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4818888"/>
            <a:ext cx="4828032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读取 → 修改 → 测试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980176" y="4754880"/>
            <a:ext cx="2624328" cy="640080"/>
          </a:xfrm>
          <a:prstGeom prst="rect">
            <a:avLst/>
          </a:prstGeom>
          <a:solidFill>
            <a:srgbClr val="F5E4E0"/>
          </a:solidFill>
          <a:ln w="11430">
            <a:solidFill>
              <a:srgbClr val="F5E4E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089904" y="4818888"/>
            <a:ext cx="2404872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B74643"/>
                </a:solidFill>
                <a:latin typeface="黑体" charset="0"/>
                <a:ea typeface="黑体" charset="0"/>
                <a:cs typeface="黑体" charset="0"/>
              </a:rPr>
              <a:t>失败 → 再修复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8823960" y="4754880"/>
            <a:ext cx="2688336" cy="640080"/>
          </a:xfrm>
          <a:prstGeom prst="rect">
            <a:avLst/>
          </a:prstGeom>
          <a:solidFill>
            <a:srgbClr val="E1EEE7"/>
          </a:solidFill>
          <a:ln w="11430">
            <a:solidFill>
              <a:srgbClr val="E1EEE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933688" y="4818888"/>
            <a:ext cx="246888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348166"/>
                </a:solidFill>
                <a:latin typeface="黑体" charset="0"/>
                <a:ea typeface="黑体" charset="0"/>
                <a:cs typeface="黑体" charset="0"/>
              </a:rPr>
              <a:t>通过 → 候选交付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685800" y="5742432"/>
            <a:ext cx="1088136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教学示意｜Action 改变环境，Observation 改变下一轮输入。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02 / 前置内容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用三个问题检查任何 Agent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02 / 前置内容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07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94944" y="2340864"/>
            <a:ext cx="58521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90472" y="2258568"/>
            <a:ext cx="9738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这一轮看到了什么？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94944" y="3273552"/>
            <a:ext cx="58521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490472" y="3191256"/>
            <a:ext cx="9738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通过什么工具行动？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94944" y="4206240"/>
            <a:ext cx="58521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90472" y="4123944"/>
            <a:ext cx="9738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凭什么继续或结束？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03504" y="5641848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3504" y="5641848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4672" y="5678424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Harness：组织上下文、工具执行与循环控制的运行时层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03 / CODEX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Codex：把“指哪里改哪里”接到交付闭环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03 / Codex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08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21792" y="2203704"/>
            <a:ext cx="244144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" y="2660904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724912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指出目标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108960" y="3145536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3474720" y="2203704"/>
            <a:ext cx="244144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474720" y="2660904"/>
            <a:ext cx="2441448" cy="96012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2724912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修改实现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961888" y="3145536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6" name="Text 13"/>
          <p:cNvSpPr/>
          <p:nvPr/>
        </p:nvSpPr>
        <p:spPr>
          <a:xfrm>
            <a:off x="6327648" y="2203704"/>
            <a:ext cx="244144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327648" y="2660904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2724912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操作页面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814816" y="3145536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0" name="Text 17"/>
          <p:cNvSpPr/>
          <p:nvPr/>
        </p:nvSpPr>
        <p:spPr>
          <a:xfrm>
            <a:off x="9180576" y="2203704"/>
            <a:ext cx="244144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04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9180576" y="2660904"/>
            <a:ext cx="2441448" cy="960120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290304" y="2724912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检查结果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68096" y="4242816"/>
            <a:ext cx="512064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人把问题指准确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6364224" y="4242816"/>
            <a:ext cx="52120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Agent 去复现与检查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03504" y="5623560"/>
            <a:ext cx="10991088" cy="5303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3504" y="5623560"/>
            <a:ext cx="50292" cy="53035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04672" y="566013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本场展示桌面工作流：页面反馈成为任务，界面状态成为证据。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03 / CODEX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不要只说“改好看”，把反馈钉在具体位置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03 / Codex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09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67512" y="2240280"/>
            <a:ext cx="5276088" cy="2578608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850392" y="2395728"/>
            <a:ext cx="491032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3300984"/>
            <a:ext cx="4873752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修改前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86968" y="4178808"/>
            <a:ext cx="483717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同一视口：首屏与主按钮问题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208776" y="2240280"/>
            <a:ext cx="5276088" cy="2578608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6391656" y="2395728"/>
            <a:ext cx="491032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09944" y="3300984"/>
            <a:ext cx="4873752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彩排后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28232" y="4178808"/>
            <a:ext cx="483717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同一视口：真实修改结果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193792" y="3310128"/>
            <a:ext cx="1755648" cy="548640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303520" y="3374136"/>
            <a:ext cx="1536192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批注标记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49808" y="5084064"/>
            <a:ext cx="10881360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目标区域 + 结果约束 + 不可改动范围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03504" y="5696712"/>
            <a:ext cx="10991088" cy="5303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3504" y="5696712"/>
            <a:ext cx="50292" cy="53035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04672" y="5733288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减少指代歧义，比把提示词写得更长更重要。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03 / CODEX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写完不是结束，让 Agent 把操作再走一遍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03 / Codex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10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13232" y="2048256"/>
            <a:ext cx="1088136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操作 → 失败证据 → 修复 → 相同操作复验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76656" y="2779776"/>
            <a:ext cx="3493008" cy="2212848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859536" y="2935224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77824" y="3657600"/>
            <a:ext cx="3090672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修复前：错误成功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96112" y="4352544"/>
            <a:ext cx="305409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输入三个空格后的真实状态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352544" y="2779776"/>
            <a:ext cx="3493008" cy="2212848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4535424" y="2935224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53712" y="3657600"/>
            <a:ext cx="3090672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复验：空格被拒绝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572000" y="4352544"/>
            <a:ext cx="305409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明确的错误提示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019288" y="2779776"/>
            <a:ext cx="3493008" cy="2212848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18" name="Text 15"/>
          <p:cNvSpPr/>
          <p:nvPr/>
        </p:nvSpPr>
        <p:spPr>
          <a:xfrm>
            <a:off x="8202168" y="2935224"/>
            <a:ext cx="312724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20456" y="3657600"/>
            <a:ext cx="3090672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复验：正常报名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38744" y="4352544"/>
            <a:ext cx="305409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有效姓名成功，弹窗可重开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03504" y="5623560"/>
            <a:ext cx="10991088" cy="530352"/>
          </a:xfrm>
          <a:prstGeom prst="rect">
            <a:avLst/>
          </a:prstGeom>
          <a:solidFill>
            <a:srgbClr val="E1EEE7"/>
          </a:solidFill>
          <a:ln w="11430">
            <a:solidFill>
              <a:srgbClr val="E1EEE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" y="5623560"/>
            <a:ext cx="50292" cy="530352"/>
          </a:xfrm>
          <a:prstGeom prst="rect">
            <a:avLst/>
          </a:prstGeom>
          <a:solidFill>
            <a:srgbClr val="348166"/>
          </a:solidFill>
          <a:ln w="11430">
            <a:solidFill>
              <a:srgbClr val="34816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4672" y="566013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348166"/>
                </a:solidFill>
                <a:latin typeface="黑体" charset="0"/>
                <a:ea typeface="黑体" charset="0"/>
                <a:cs typeface="黑体" charset="0"/>
              </a:rPr>
              <a:t>拒绝空格 · 接受有效姓名 · 弹窗可重开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03 / CODEX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Codex 部分，只带走这条工作流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03 / Codex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11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94944" y="2103120"/>
            <a:ext cx="10936224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指准问题 → 限定范围 → 让它行动 → 要求证据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85800" y="2916936"/>
            <a:ext cx="5276088" cy="2249424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868680" y="3072384"/>
            <a:ext cx="491032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86968" y="3813048"/>
            <a:ext cx="4873752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D01 · 页面批注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905256" y="4526280"/>
            <a:ext cx="483717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目标区域、具体约束随任务传入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217920" y="2916936"/>
            <a:ext cx="5276088" cy="2249424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6400800" y="3072384"/>
            <a:ext cx="491032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19088" y="3813048"/>
            <a:ext cx="4873752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D02 · 界面复验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37376" y="4526280"/>
            <a:ext cx="483717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展示真实操作与结果状态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13232" y="560527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修改了什么？检查了什么？哪些项目尚未完成？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先看没有额外包装的 Pi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12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221284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227685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read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76656" y="299008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读取文件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438144" y="221284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47872" y="227685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write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438144" y="299008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写入文件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199632" y="221284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09360" y="227685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edit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199632" y="299008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精确编辑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961120" y="221284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70848" y="227685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bash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961120" y="299008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执行命令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676656" y="3666744"/>
            <a:ext cx="6446520" cy="1627632"/>
          </a:xfrm>
          <a:prstGeom prst="rect">
            <a:avLst/>
          </a:prstGeom>
          <a:solidFill>
            <a:srgbClr val="202B32"/>
          </a:solidFill>
          <a:ln w="11430">
            <a:solidFill>
              <a:srgbClr val="202B3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6112" y="3849624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AC9CF"/>
                </a:solidFill>
                <a:latin typeface="黑体" charset="0"/>
                <a:ea typeface="黑体" charset="0"/>
                <a:cs typeface="黑体" charset="0"/>
              </a:rPr>
              <a:t>课后安装入口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96112" y="4261104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npm install -g --ignore-scripts \</a:t>
            </a:r>
            <a:endParaRPr lang="en-US" sz="18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@earendil-works/pi-coding-agent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896112" y="4946904"/>
            <a:ext cx="594360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600" dirty="0">
                <a:solidFill>
                  <a:srgbClr val="A5D9DD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pi  →  /login  →  /model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379208" y="3666744"/>
            <a:ext cx="4105656" cy="1627632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25" name="Text 22"/>
          <p:cNvSpPr/>
          <p:nvPr/>
        </p:nvSpPr>
        <p:spPr>
          <a:xfrm>
            <a:off x="7562088" y="3822192"/>
            <a:ext cx="373989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580376" y="4251960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待补：小任务代码片段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598664" y="4654296"/>
            <a:ext cx="366674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不超过 10 行；仅呈现目标函数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722376" y="5724144"/>
            <a:ext cx="1084478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基础 Coding 能力开箱可用；集成工作流需要选择与适配。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先区分：界面变化与模型能力变化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13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76656" y="2286000"/>
            <a:ext cx="50292" cy="2953512"/>
          </a:xfrm>
          <a:prstGeom prst="rect">
            <a:avLst/>
          </a:prstGeom>
          <a:solidFill>
            <a:srgbClr val="7756A0"/>
          </a:solidFill>
          <a:ln w="11430">
            <a:solidFill>
              <a:srgbClr val="7756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6112" y="2496312"/>
            <a:ext cx="305409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UI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96112" y="2980944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界面与可观察状态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96112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活动、diff 与终端显示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帮助人观察运行过程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352544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52544" y="2286000"/>
            <a:ext cx="50292" cy="295351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0" y="2496312"/>
            <a:ext cx="305409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TOOLS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0" y="2980944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模型可调用的工具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572000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检索、抓取与返回结果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改变可请求的行动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028432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28432" y="2286000"/>
            <a:ext cx="50292" cy="295351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47888" y="2496312"/>
            <a:ext cx="305409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FLOW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47888" y="2980944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流程与上下文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47888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材料装配与事件处理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组织运行中的行为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603504" y="5650992"/>
            <a:ext cx="10991088" cy="530352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3504" y="5650992"/>
            <a:ext cx="50292" cy="530352"/>
          </a:xfrm>
          <a:prstGeom prst="rect">
            <a:avLst/>
          </a:prstGeom>
          <a:solidFill>
            <a:srgbClr val="7756A0"/>
          </a:solidFill>
          <a:ln w="11430">
            <a:solidFill>
              <a:srgbClr val="7756A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4672" y="5687568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主题改变你怎么看，不等于改变模型看到了什么。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安装几个插件，看它们分别改变什么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14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2194560"/>
            <a:ext cx="3456432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pi-breath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2761488"/>
            <a:ext cx="345643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活动状态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85800" y="3319272"/>
            <a:ext cx="3456432" cy="1792224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868680" y="3474720"/>
            <a:ext cx="3090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86968" y="3986784"/>
            <a:ext cx="3054096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活动状态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05256" y="4471416"/>
            <a:ext cx="30175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活动条截图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361688" y="2194560"/>
            <a:ext cx="3456432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worktree-hud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361688" y="2761488"/>
            <a:ext cx="345643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本次改动与 diff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61688" y="3319272"/>
            <a:ext cx="3456432" cy="1792224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4544568" y="3474720"/>
            <a:ext cx="3090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62856" y="3986784"/>
            <a:ext cx="3054096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本次改动与 diff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581144" y="4471416"/>
            <a:ext cx="30175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文件列表与 diff 截图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037576" y="2194560"/>
            <a:ext cx="3456432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pi-web-access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037576" y="2761488"/>
            <a:ext cx="345643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专门的检索／抓取工具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037576" y="3319272"/>
            <a:ext cx="3456432" cy="1792224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23" name="Text 20"/>
          <p:cNvSpPr/>
          <p:nvPr/>
        </p:nvSpPr>
        <p:spPr>
          <a:xfrm>
            <a:off x="8220456" y="3474720"/>
            <a:ext cx="3090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38744" y="3986784"/>
            <a:ext cx="3054096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专门的检索／抓取工具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8257032" y="4471416"/>
            <a:ext cx="30175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工具调用与结果截图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22376" y="5660136"/>
            <a:ext cx="10881360" cy="4663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课后候选：pi-task-list     问答备用：pi-plan-mode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插件究竟挂在哪里？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15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68096" y="208483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运行时内部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404872" y="2761488"/>
            <a:ext cx="7370064" cy="187452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8D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52344" y="3273552"/>
            <a:ext cx="1664208" cy="74066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62072" y="3337560"/>
            <a:ext cx="1444752" cy="6126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056632" y="3273552"/>
            <a:ext cx="2167128" cy="740664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66360" y="3337560"/>
            <a:ext cx="1947672" cy="6126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工具执行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7808976" y="3273552"/>
            <a:ext cx="1664208" cy="74066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18704" y="3337560"/>
            <a:ext cx="1444752" cy="6126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结果回传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489704" y="3648456"/>
            <a:ext cx="502920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278624" y="3648456"/>
            <a:ext cx="466344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85800" y="2770632"/>
            <a:ext cx="1426464" cy="63093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5528" y="2834640"/>
            <a:ext cx="120700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工具注册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2157984" y="3072384"/>
            <a:ext cx="246888" cy="0"/>
          </a:xfrm>
          <a:prstGeom prst="line">
            <a:avLst/>
          </a:prstGeom>
          <a:noFill/>
          <a:ln w="1651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685800" y="3941064"/>
            <a:ext cx="1426464" cy="630936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" y="4005072"/>
            <a:ext cx="120700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事件／控制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2157984" y="4251960"/>
            <a:ext cx="246888" cy="0"/>
          </a:xfrm>
          <a:prstGeom prst="line">
            <a:avLst/>
          </a:prstGeom>
          <a:noFill/>
          <a:ln w="1651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10058400" y="2770632"/>
            <a:ext cx="1453896" cy="63093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168128" y="2834640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9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上下文处理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9774936" y="3072384"/>
            <a:ext cx="265176" cy="0"/>
          </a:xfrm>
          <a:prstGeom prst="line">
            <a:avLst/>
          </a:prstGeom>
          <a:noFill/>
          <a:ln w="1651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10058400" y="3941064"/>
            <a:ext cx="1453896" cy="63093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168128" y="4005072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终端 UI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9774936" y="4251960"/>
            <a:ext cx="265176" cy="0"/>
          </a:xfrm>
          <a:prstGeom prst="line">
            <a:avLst/>
          </a:prstGeom>
          <a:noFill/>
          <a:ln w="16510">
            <a:solidFill>
              <a:srgbClr val="7756A0"/>
            </a:solidFill>
            <a:prstDash val="solid"/>
            <a:tailEnd type="triangle"/>
          </a:ln>
        </p:spPr>
      </p:sp>
      <p:sp>
        <p:nvSpPr>
          <p:cNvPr id="30" name="Text 27"/>
          <p:cNvSpPr/>
          <p:nvPr/>
        </p:nvSpPr>
        <p:spPr>
          <a:xfrm>
            <a:off x="713232" y="5047488"/>
            <a:ext cx="1088136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网页抓取：工具注册与结果回传      pi-breath / HUD：UI 与运行事件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603504" y="571500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03504" y="571500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04672" y="575157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别只看装了什么，要看它改变了哪个环节。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上下文不是一个大字符串，而是一条装配过程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16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94944" y="2103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资源来源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758184" y="2103120"/>
            <a:ext cx="234086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装配／选择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75120" y="21031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本次请求 · 逻辑结构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85800" y="2578608"/>
            <a:ext cx="3008376" cy="52120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95528" y="2642616"/>
            <a:ext cx="278892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默认规则 / SYSTEM.md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85800" y="3209544"/>
            <a:ext cx="3008376" cy="52120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95528" y="3273552"/>
            <a:ext cx="278892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补充规则 / 项目说明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85800" y="3840480"/>
            <a:ext cx="3008376" cy="52120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95528" y="3904488"/>
            <a:ext cx="278892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Skills 目录 / 按需读正文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85800" y="4471416"/>
            <a:ext cx="3008376" cy="52120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5528" y="4535424"/>
            <a:ext cx="278892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工具 / 模板 / 会话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3758184" y="3675888"/>
            <a:ext cx="310896" cy="0"/>
          </a:xfrm>
          <a:prstGeom prst="line">
            <a:avLst/>
          </a:prstGeom>
          <a:noFill/>
          <a:ln w="1905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142232" y="2825496"/>
            <a:ext cx="1965960" cy="1728216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51960" y="2889504"/>
            <a:ext cx="1746504" cy="160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替换基础块</a:t>
            </a:r>
            <a:endParaRPr lang="en-US" sz="2000" dirty="0"/>
          </a:p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追加上下文</a:t>
            </a:r>
            <a:endParaRPr lang="en-US" sz="2000" dirty="0"/>
          </a:p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按需加载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163056" y="3675888"/>
            <a:ext cx="356616" cy="0"/>
          </a:xfrm>
          <a:prstGeom prst="line">
            <a:avLst/>
          </a:prstGeom>
          <a:noFill/>
          <a:ln w="1905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629400" y="2560320"/>
            <a:ext cx="4864608" cy="7589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21424" y="2633472"/>
            <a:ext cx="4462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9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system_prompt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6821424" y="2953512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规则、项目上下文、技能目录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629400" y="3410712"/>
            <a:ext cx="4864608" cy="7589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21424" y="3483864"/>
            <a:ext cx="4462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9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tools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6821424" y="3803904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活跃工具定义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6629400" y="4261104"/>
            <a:ext cx="4864608" cy="7589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21424" y="4334256"/>
            <a:ext cx="4462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9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messages</a:t>
            </a:r>
            <a:endParaRPr lang="en-US" sz="1900" dirty="0"/>
          </a:p>
        </p:txBody>
      </p:sp>
      <p:sp>
        <p:nvSpPr>
          <p:cNvPr id="31" name="Text 28"/>
          <p:cNvSpPr/>
          <p:nvPr/>
        </p:nvSpPr>
        <p:spPr>
          <a:xfrm>
            <a:off x="6821424" y="4654296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任务、历史、工具结果、Skill 正文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294376"/>
            <a:ext cx="10826496" cy="713232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77824" y="5431536"/>
            <a:ext cx="1042416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本地状态  /  主题与终端外观不必然进入模型上下文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713232" y="6135624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教学示意：Skill 出现在目录里 ≠ 正文已经加载；规则文件 ≠ 权限屏障。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05 / 智能开发工具趋势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两个 Loop，别混成一个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05 / 智能开发工具趋势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17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276856"/>
            <a:ext cx="3035808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340864"/>
            <a:ext cx="2816352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人提出目标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617720" y="2276856"/>
            <a:ext cx="3017520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27448" y="2340864"/>
            <a:ext cx="2798064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Agent 交付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522208" y="2276856"/>
            <a:ext cx="3008376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31936" y="2340864"/>
            <a:ext cx="27889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人检查与反馈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3785616" y="2651760"/>
            <a:ext cx="749808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99248" y="2651760"/>
            <a:ext cx="740664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0021824" y="3081528"/>
            <a:ext cx="0" cy="2066544"/>
          </a:xfrm>
          <a:prstGeom prst="line">
            <a:avLst/>
          </a:prstGeom>
          <a:noFill/>
          <a:ln w="17780">
            <a:solidFill>
              <a:srgbClr val="7756A0"/>
            </a:solidFill>
            <a:prstDash val="solid"/>
            <a:tailEnd type="none"/>
          </a:ln>
        </p:spPr>
      </p:sp>
      <p:sp>
        <p:nvSpPr>
          <p:cNvPr id="17" name="Shape 14"/>
          <p:cNvSpPr/>
          <p:nvPr/>
        </p:nvSpPr>
        <p:spPr>
          <a:xfrm flipH="1">
            <a:off x="2194560" y="5148072"/>
            <a:ext cx="7827264" cy="0"/>
          </a:xfrm>
          <a:prstGeom prst="line">
            <a:avLst/>
          </a:prstGeom>
          <a:noFill/>
          <a:ln w="17780">
            <a:solidFill>
              <a:srgbClr val="7756A0"/>
            </a:solidFill>
            <a:prstDash val="solid"/>
            <a:tailEnd type="none"/>
          </a:ln>
        </p:spPr>
      </p:sp>
      <p:sp>
        <p:nvSpPr>
          <p:cNvPr id="18" name="Shape 15"/>
          <p:cNvSpPr/>
          <p:nvPr/>
        </p:nvSpPr>
        <p:spPr>
          <a:xfrm flipV="1">
            <a:off x="2194560" y="3081528"/>
            <a:ext cx="0" cy="2066544"/>
          </a:xfrm>
          <a:prstGeom prst="line">
            <a:avLst/>
          </a:prstGeom>
          <a:noFill/>
          <a:ln w="17780">
            <a:solidFill>
              <a:srgbClr val="7756A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557016" y="3410712"/>
            <a:ext cx="5065776" cy="13075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8D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58184" y="3575304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AGENT 交付内部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749040" y="4059936"/>
            <a:ext cx="4636008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推理 → 工具 → 观察 → 再推理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126480" y="3017520"/>
            <a:ext cx="0" cy="356616"/>
          </a:xfrm>
          <a:prstGeom prst="line">
            <a:avLst/>
          </a:prstGeom>
          <a:noFill/>
          <a:ln w="1778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3" name="Text 20"/>
          <p:cNvSpPr/>
          <p:nvPr/>
        </p:nvSpPr>
        <p:spPr>
          <a:xfrm>
            <a:off x="749808" y="5641848"/>
            <a:ext cx="535838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内层：下一步怎么做？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6208776" y="5641848"/>
            <a:ext cx="53949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外层：怎样才算真正完成？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05 / 智能开发工具趋势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同一个任务，在四种协作方式里怎么完成？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05 / 智能开发工具趋势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18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94944" y="1956816"/>
            <a:ext cx="1088136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固定目标：修复空白姓名报名，并证明正常报名没有被破坏。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2660904"/>
            <a:ext cx="216712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关注方式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017520" y="266090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AGENT / 系统职责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33488" y="2660904"/>
            <a:ext cx="415137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人类职责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17520" y="306324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33488" y="306324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5528" y="309981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ChatBox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154680" y="312724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解释与生成候选代码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470648" y="312724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搬运、执行、反馈、验收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85800" y="370332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17520" y="370332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33488" y="370332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" y="373989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Prompt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3154680" y="376732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按明确要求生成候选结果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470648" y="376732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写清目标，继续搬运与执行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685800" y="434340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17520" y="434340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33488" y="434340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95528" y="437997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Context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3154680" y="440740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按需取得材料，再行动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470648" y="440740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整理来源，检查缺口与结果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685800" y="498348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017520" y="498348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333488" y="498348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" y="502005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Harness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3154680" y="504748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组织执行、检查、重试与上报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7470648" y="504748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目标、授权、取舍、最终判断</a:t>
            </a:r>
            <a:endParaRPr lang="en-US" sz="2000" dirty="0"/>
          </a:p>
        </p:txBody>
      </p:sp>
      <p:sp>
        <p:nvSpPr>
          <p:cNvPr id="36" name="Text 33"/>
          <p:cNvSpPr/>
          <p:nvPr/>
        </p:nvSpPr>
        <p:spPr>
          <a:xfrm>
            <a:off x="731520" y="5843016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教学模型：四种方式可以共存。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6812280" y="5815584"/>
            <a:ext cx="47091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候选结果 → 证据 → 验收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05 / 智能开发工具趋势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决定可用性的，往往是失败之后怎么办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05 / 智能开发工具趋势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19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404872"/>
            <a:ext cx="2231136" cy="758952"/>
          </a:xfrm>
          <a:prstGeom prst="rect">
            <a:avLst/>
          </a:prstGeom>
          <a:solidFill>
            <a:srgbClr val="F5E4E0"/>
          </a:solidFill>
          <a:ln w="11430">
            <a:solidFill>
              <a:srgbClr val="F5E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468880"/>
            <a:ext cx="2011680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B74643"/>
                </a:solidFill>
                <a:latin typeface="黑体" charset="0"/>
                <a:ea typeface="黑体" charset="0"/>
                <a:cs typeface="黑体" charset="0"/>
              </a:rPr>
              <a:t>测试失败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584448" y="2404872"/>
            <a:ext cx="2761488" cy="758952"/>
          </a:xfrm>
          <a:prstGeom prst="rect">
            <a:avLst/>
          </a:prstGeom>
          <a:solidFill>
            <a:srgbClr val="F5E4E0"/>
          </a:solidFill>
          <a:ln w="11430">
            <a:solidFill>
              <a:srgbClr val="F5E4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94176" y="2468880"/>
            <a:ext cx="2542032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B74643"/>
                </a:solidFill>
                <a:latin typeface="黑体" charset="0"/>
                <a:ea typeface="黑体" charset="0"/>
                <a:cs typeface="黑体" charset="0"/>
              </a:rPr>
              <a:t>提出越界修改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986016" y="2404872"/>
            <a:ext cx="2615184" cy="7589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95744" y="2468880"/>
            <a:ext cx="2395728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Harness 拒绝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999232" y="2779776"/>
            <a:ext cx="493776" cy="0"/>
          </a:xfrm>
          <a:prstGeom prst="line">
            <a:avLst/>
          </a:prstGeom>
          <a:noFill/>
          <a:ln w="20320">
            <a:solidFill>
              <a:srgbClr val="B74643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419088" y="2779776"/>
            <a:ext cx="475488" cy="0"/>
          </a:xfrm>
          <a:prstGeom prst="line">
            <a:avLst/>
          </a:prstGeom>
          <a:noFill/>
          <a:ln w="20320">
            <a:solidFill>
              <a:srgbClr val="B74643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8293608" y="3218688"/>
            <a:ext cx="0" cy="448056"/>
          </a:xfrm>
          <a:prstGeom prst="line">
            <a:avLst/>
          </a:prstGeom>
          <a:noFill/>
          <a:ln w="1905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58968" y="3721608"/>
            <a:ext cx="6053328" cy="630936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68696" y="3785616"/>
            <a:ext cx="583387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收到拒绝原因与测试反馈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85800" y="4690872"/>
            <a:ext cx="5074920" cy="676656"/>
          </a:xfrm>
          <a:prstGeom prst="rect">
            <a:avLst/>
          </a:prstGeom>
          <a:solidFill>
            <a:srgbClr val="E1EEE7"/>
          </a:solidFill>
          <a:ln w="11430">
            <a:solidFill>
              <a:srgbClr val="E1EEE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5528" y="4754880"/>
            <a:ext cx="485546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348166"/>
                </a:solidFill>
                <a:latin typeface="黑体" charset="0"/>
                <a:ea typeface="黑体" charset="0"/>
                <a:cs typeface="黑体" charset="0"/>
              </a:rPr>
              <a:t>允许范围内修复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336792" y="4690872"/>
            <a:ext cx="5175504" cy="67665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46520" y="4754880"/>
            <a:ext cx="4956048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预算耗尽：停止并上报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 flipH="1">
            <a:off x="3200400" y="4389120"/>
            <a:ext cx="3511296" cy="237744"/>
          </a:xfrm>
          <a:prstGeom prst="line">
            <a:avLst/>
          </a:prstGeom>
          <a:noFill/>
          <a:ln w="17780">
            <a:solidFill>
              <a:srgbClr val="348166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9692640" y="4389120"/>
            <a:ext cx="0" cy="237744"/>
          </a:xfrm>
          <a:prstGeom prst="line">
            <a:avLst/>
          </a:prstGeom>
          <a:noFill/>
          <a:ln w="17780">
            <a:solidFill>
              <a:srgbClr val="7756A0"/>
            </a:solidFill>
            <a:prstDash val="solid"/>
            <a:tailEnd type="triangle"/>
          </a:ln>
        </p:spPr>
      </p:sp>
      <p:sp>
        <p:nvSpPr>
          <p:cNvPr id="25" name="Text 22"/>
          <p:cNvSpPr/>
          <p:nvPr/>
        </p:nvSpPr>
        <p:spPr>
          <a:xfrm>
            <a:off x="731520" y="5715000"/>
            <a:ext cx="1082649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人类介入：澄清条件 / 授权特定动作 / 终止任务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758952" y="6245352"/>
            <a:ext cx="10789920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教学仿真：不声称具体工具已默认实现全部策略。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05 / 智能开发工具趋势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工程背景的差异化，落在什么东西上？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05 / 智能开发工具趋势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20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2322576"/>
            <a:ext cx="10835640" cy="84124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5256" y="2487168"/>
            <a:ext cx="2295144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定义与取舍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401568" y="2432304"/>
            <a:ext cx="783640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批注 · 范围约束 · 验收条件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3401568" y="2816352"/>
            <a:ext cx="78364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把模糊要求变成可判断结果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76656" y="3328416"/>
            <a:ext cx="10835640" cy="84124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5256" y="3493008"/>
            <a:ext cx="2295144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组织与执行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401568" y="3438144"/>
            <a:ext cx="783640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工具接点 · 项目规则 · 可运行命令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401568" y="3822192"/>
            <a:ext cx="78364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让 Agent 找得到材料、做得动事情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76656" y="4334256"/>
            <a:ext cx="10835640" cy="84124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5256" y="4498848"/>
            <a:ext cx="2295144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验证与接管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401568" y="4443984"/>
            <a:ext cx="783640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小 diff · 测试日志 · 界面复验 · 异常上报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3401568" y="4828032"/>
            <a:ext cx="78364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判断是否应接受候选交付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03504" y="5687568"/>
            <a:ext cx="10991088" cy="5303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03504" y="5687568"/>
            <a:ext cx="50292" cy="53035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04672" y="5724144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选择合适工具、删掉无效约束、设计可靠检查，也是工程判断。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编程语言在 AI 时代的生态位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21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2386584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44168" y="2313432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831336" y="2267712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适合做实验/数学建模/脚本，用处最多，求职最广。建议会。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335024" y="3063240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2" name="Text 9"/>
          <p:cNvSpPr/>
          <p:nvPr/>
        </p:nvSpPr>
        <p:spPr>
          <a:xfrm>
            <a:off x="685800" y="3310128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344168" y="3236976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831336" y="3191256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适合做Agent产品与前端。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1335024" y="3986784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6" name="Text 13"/>
          <p:cNvSpPr/>
          <p:nvPr/>
        </p:nvSpPr>
        <p:spPr>
          <a:xfrm>
            <a:off x="685800" y="4233672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44168" y="4160520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C++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831336" y="4114800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完成复杂、性能敏感的系统。可以配合CUDA写驱动GPU的LLM推理引擎。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335024" y="4910328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20" name="Text 17"/>
          <p:cNvSpPr/>
          <p:nvPr/>
        </p:nvSpPr>
        <p:spPr>
          <a:xfrm>
            <a:off x="685800" y="5157216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344168" y="5084064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Rust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831336" y="5038344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强调内存安全与性能控制。用于写高性能Agent Harness或者轻量工具。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计算机基础：一定要做 Lab！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22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13232" y="2331720"/>
            <a:ext cx="57150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可以不做笔记，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但是一定要做Lab！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995160" y="2286000"/>
            <a:ext cx="4498848" cy="336499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78624" y="25146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入门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78624" y="3054096"/>
            <a:ext cx="3840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CS61A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296912" y="3886200"/>
            <a:ext cx="3749040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Python为主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78624" y="4590288"/>
            <a:ext cx="3849624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最后Lab：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手写一个解释器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22376" y="4288536"/>
            <a:ext cx="571500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函数、递归、数据抽象、面向对象等内容，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训练如何组织程序、控制复杂度。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有意思的编程课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23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94944" y="2267712"/>
            <a:ext cx="6437376" cy="3749040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33488" y="2267712"/>
            <a:ext cx="4142232" cy="374904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3544" y="2496312"/>
            <a:ext cx="59161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JAVA · 面向对象 · 数据结构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23544" y="2962656"/>
            <a:ext cx="5870448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CS61B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923544" y="3694176"/>
            <a:ext cx="5870448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Java为主。包含两大块：Java与面向对象编程；数据结构。学完等于掌握本校大一下的面向对象程序设计和大二上的数据结构。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23544" y="5093208"/>
            <a:ext cx="5870448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最后要求自己动脑经实现“地图生成游戏”：课程给脚手架，学生填充具体算法。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562088" y="2496312"/>
            <a:ext cx="3666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 · 软件工程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62088" y="2962656"/>
            <a:ext cx="366674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MIT6.102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562088" y="3721608"/>
            <a:ext cx="3666744" cy="1801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我正在学。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TypeScript为主，讲解学校里不会教的软件工程的细节和习惯。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数学强化：在模型中找到大学数学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24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5285232" cy="69494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MIT18.06 · 线性代数常青树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27064" y="2194560"/>
            <a:ext cx="5285232" cy="694944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36792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MIT6.041 · 足够硬核的概率论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31520" y="3191256"/>
            <a:ext cx="10789920" cy="7406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当代LLM推理架构一般是transformers。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transformers里其实能找到大学数学的影子：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68096" y="4187952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前向传播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032504" y="4389120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4681728" y="4187952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线性代数 / 矩阵乘法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68096" y="4773168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反向传播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032504" y="4974336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4681728" y="4773168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偏导数、链式法则 / 高等数学；梯度、矩阵偏导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68096" y="5358384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SoftMax / token采样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032504" y="5559552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1" name="Text 18"/>
          <p:cNvSpPr/>
          <p:nvPr/>
        </p:nvSpPr>
        <p:spPr>
          <a:xfrm>
            <a:off x="4681728" y="5358384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概率论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749808" y="6071616"/>
            <a:ext cx="1065276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反向传播是高数和线代的大舞台。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机器学习：三种课程入口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25 / 29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32688" y="2368296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MIT6.036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50976" y="2916936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 + numpy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919472" y="2368296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比较难的“机器学习基础课”。适合数学好的同学，有挑战性。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32688" y="3630168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吴恩达机器学习系列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50976" y="4178808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919472" y="3630168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门槛低，更像科普。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32688" y="4892040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MIT6.S184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50976" y="5440680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919472" y="4892040"/>
            <a:ext cx="6309360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AI图像生成精品小课。讲清楚用于图像生成的Flow/Diffusion模型原理，扩展到U-net/ViT。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CS224N：进入自然语言处理的世界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26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0664" y="2194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 + PYTORCH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779776"/>
            <a:ext cx="1075334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讲清楚人类处理自然语言的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各种工具和尝试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740664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N-Gram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3136392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557016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66744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RNN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952744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373368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83096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LSTM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769096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189720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99448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Transformers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03504" y="571500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" y="571500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4672" y="575157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Lab里有一个机器学习翻译器。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CUDA：从语言到 GPU 实践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27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9808" y="2258568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CUDA PROGRAMMING COURSE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13232" y="2852928"/>
            <a:ext cx="10817352" cy="10149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High-Performance Computing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with GPUs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31520" y="4352544"/>
            <a:ext cx="1078992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从0学习CUDA语言。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03504" y="566928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3504" y="566928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570585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最后用CUDA实现一个多层感知器，用于手写数字识别。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5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CMU11868：手写一个“小 Pytorch”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28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31520" y="207568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用C++和Python理解现代LLM原理，三侧入手：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" y="2962656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72184" y="2880360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数学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315968" y="2843784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数学上讲清Transformers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472184" y="3703320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3" name="Text 10"/>
          <p:cNvSpPr/>
          <p:nvPr/>
        </p:nvSpPr>
        <p:spPr>
          <a:xfrm>
            <a:off x="749808" y="3941064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472184" y="3858768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工程化引擎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315968" y="3822192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数学的矩阵乘法在GPU硬件上如何加速；CUDA语言/GEMM是什么？显存/计算谁是瓶颈？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472184" y="4681728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7" name="Text 14"/>
          <p:cNvSpPr/>
          <p:nvPr/>
        </p:nvSpPr>
        <p:spPr>
          <a:xfrm>
            <a:off x="749808" y="491947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472184" y="4837176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推理加速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315968" y="4800600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多卡协作（显存/计算/通信/流水线调度）；量化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07 / 行动与问答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今晚只改进一次真实工作流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07 / 行动与问答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29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0664" y="2084832"/>
            <a:ext cx="106984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给下一次 Agent 任务补上：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22376" y="2798064"/>
            <a:ext cx="10753344" cy="1920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清楚的范围</a:t>
            </a:r>
            <a:endParaRPr lang="en-US" sz="200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可运行的检查</a:t>
            </a:r>
            <a:endParaRPr lang="en-US" sz="200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可展示的完成证据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" y="5074920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目标 / 不要改什么 / 怎么检查 / 交付哪些证据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49808" y="5760720"/>
            <a:ext cx="3383280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2" name="Text 9"/>
          <p:cNvSpPr/>
          <p:nvPr/>
        </p:nvSpPr>
        <p:spPr>
          <a:xfrm>
            <a:off x="749808" y="5925312"/>
            <a:ext cx="3383280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6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课件资源  ·  待补地址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425696" y="5760720"/>
            <a:ext cx="3383280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4" name="Text 11"/>
          <p:cNvSpPr/>
          <p:nvPr/>
        </p:nvSpPr>
        <p:spPr>
          <a:xfrm>
            <a:off x="4425696" y="5925312"/>
            <a:ext cx="3383280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6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演示项目  ·  待补地址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101584" y="5760720"/>
            <a:ext cx="3383280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6" name="Text 13"/>
          <p:cNvSpPr/>
          <p:nvPr/>
        </p:nvSpPr>
        <p:spPr>
          <a:xfrm>
            <a:off x="8101584" y="5925312"/>
            <a:ext cx="3383280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6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官方资料  ·  待补地址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4750</Words>
  <Application>WPS 演示</Application>
  <PresentationFormat>On-screen Show (16:9)</PresentationFormat>
  <Paragraphs>775</Paragraphs>
  <Slides>29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50" baseType="lpstr">
      <vt:lpstr>Arial</vt:lpstr>
      <vt:lpstr>宋体</vt:lpstr>
      <vt:lpstr>Wingdings</vt:lpstr>
      <vt:lpstr>黑体</vt:lpstr>
      <vt:lpstr>汉仪中黑KW</vt:lpstr>
      <vt:lpstr>PingFang SC</vt:lpstr>
      <vt:lpstr>PingFang SC</vt:lpstr>
      <vt:lpstr>等线</vt:lpstr>
      <vt:lpstr>汉仪中等线KW</vt:lpstr>
      <vt:lpstr>微软雅黑</vt:lpstr>
      <vt:lpstr>方正雅意黑 GB18030L2</vt:lpstr>
      <vt:lpstr>宋体</vt:lpstr>
      <vt:lpstr>Arial Unicode MS</vt:lpstr>
      <vt:lpstr>Menlo</vt:lpstr>
      <vt:lpstr>Menlo</vt:lpstr>
      <vt:lpstr>Menlo</vt:lpstr>
      <vt:lpstr>Calibri</vt:lpstr>
      <vt:lpstr>Helvetica Neue</vt:lpstr>
      <vt:lpstr>汉仪书宋二KW</vt:lpstr>
      <vt:lpstr>Helvetica Neue Regular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AI赋能新时代软件工程——主流智能开发工具实战与趋势</dc:title>
  <dc:creator/>
  <dc:subject>EP3 分享会｜制作执行版</dc:subject>
  <cp:lastModifiedBy>SorrowP</cp:lastModifiedBy>
  <cp:revision>8</cp:revision>
  <dcterms:created xsi:type="dcterms:W3CDTF">2026-09-17T17:53:11Z</dcterms:created>
  <dcterms:modified xsi:type="dcterms:W3CDTF">2026-09-17T17:53:11Z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2052-12.1.26055.26055</vt:lpwstr>
  </property>
  <property fmtid="{D5CDD505-2E9C-101B-9397-08002B2CF9AE}" pid="3" name="ICV">
    <vt:lpwstr>552C3F978724310D93CAAA6A9613E176_42</vt:lpwstr>
  </property>
</Properties>
</file>