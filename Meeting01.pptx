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26"/>
  </p:handoutMasterIdLst>
  <p:sldIdLst>
    <p:sldId id="256" r:id="rId3"/>
    <p:sldId id="273" r:id="rId5"/>
    <p:sldId id="274" r:id="rId6"/>
    <p:sldId id="275" r:id="rId7"/>
    <p:sldId id="259" r:id="rId8"/>
    <p:sldId id="262" r:id="rId9"/>
    <p:sldId id="263" r:id="rId10"/>
    <p:sldId id="264" r:id="rId11"/>
    <p:sldId id="276" r:id="rId12"/>
    <p:sldId id="265" r:id="rId13"/>
    <p:sldId id="267" r:id="rId14"/>
    <p:sldId id="268" r:id="rId15"/>
    <p:sldId id="258" r:id="rId16"/>
    <p:sldId id="272" r:id="rId17"/>
    <p:sldId id="281" r:id="rId18"/>
    <p:sldId id="269" r:id="rId19"/>
    <p:sldId id="270" r:id="rId20"/>
    <p:sldId id="277" r:id="rId21"/>
    <p:sldId id="280" r:id="rId22"/>
    <p:sldId id="282" r:id="rId23"/>
    <p:sldId id="284" r:id="rId24"/>
    <p:sldId id="283" r:id="rId2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9" Type="http://schemas.openxmlformats.org/officeDocument/2006/relationships/tableStyles" Target="tableStyles.xml"/><Relationship Id="rId28" Type="http://schemas.openxmlformats.org/officeDocument/2006/relationships/viewProps" Target="viewProps.xml"/><Relationship Id="rId27" Type="http://schemas.openxmlformats.org/officeDocument/2006/relationships/presProps" Target="presProps.xml"/><Relationship Id="rId26" Type="http://schemas.openxmlformats.org/officeDocument/2006/relationships/handoutMaster" Target="handoutMasters/handoutMaster1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04000"/>
            <a:ext cx="5342400" cy="4140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04000"/>
            <a:ext cx="5342400" cy="4140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397600"/>
            <a:ext cx="9799200" cy="11052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5040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ea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9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tags" Target="../tags/tag64.xml"/><Relationship Id="rId2" Type="http://schemas.openxmlformats.org/officeDocument/2006/relationships/image" Target="../media/image1.png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66.xml"/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tags" Target="../tags/tag65.xml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68.xml"/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tags" Target="../tags/tag67.xml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1.xml"/><Relationship Id="rId3" Type="http://schemas.openxmlformats.org/officeDocument/2006/relationships/tags" Target="../tags/tag70.xml"/><Relationship Id="rId2" Type="http://schemas.openxmlformats.org/officeDocument/2006/relationships/image" Target="../media/image1.png"/><Relationship Id="rId1" Type="http://schemas.openxmlformats.org/officeDocument/2006/relationships/tags" Target="../tags/tag69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2.xml"/><Relationship Id="rId2" Type="http://schemas.openxmlformats.org/officeDocument/2006/relationships/image" Target="../media/image1.png"/><Relationship Id="rId1" Type="http://schemas.openxmlformats.org/officeDocument/2006/relationships/tags" Target="../tags/tag71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4.xml"/><Relationship Id="rId2" Type="http://schemas.openxmlformats.org/officeDocument/2006/relationships/image" Target="../media/image1.png"/><Relationship Id="rId1" Type="http://schemas.openxmlformats.org/officeDocument/2006/relationships/tags" Target="../tags/tag73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6.xml"/><Relationship Id="rId2" Type="http://schemas.openxmlformats.org/officeDocument/2006/relationships/image" Target="../media/image1.png"/><Relationship Id="rId1" Type="http://schemas.openxmlformats.org/officeDocument/2006/relationships/tags" Target="../tags/tag75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8.xml"/><Relationship Id="rId2" Type="http://schemas.openxmlformats.org/officeDocument/2006/relationships/image" Target="../media/image1.png"/><Relationship Id="rId1" Type="http://schemas.openxmlformats.org/officeDocument/2006/relationships/tags" Target="../tags/tag77.xml"/></Relationships>
</file>

<file path=ppt/slides/_rels/slide9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80.xml"/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tags" Target="../tags/tag79.xml"/></Relationships>
</file>

<file path=ppt/slides/_rels/slide10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82.xml"/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tags" Target="../tags/tag81.xml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84.xml"/><Relationship Id="rId2" Type="http://schemas.openxmlformats.org/officeDocument/2006/relationships/image" Target="../media/image1.png"/><Relationship Id="rId1" Type="http://schemas.openxmlformats.org/officeDocument/2006/relationships/tags" Target="../tags/tag83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tags" Target="../tags/tag86.xml"/><Relationship Id="rId7" Type="http://schemas.openxmlformats.org/officeDocument/2006/relationships/image" Target="../media/image1.png"/><Relationship Id="rId6" Type="http://schemas.openxmlformats.org/officeDocument/2006/relationships/tags" Target="../tags/tag85.xml"/><Relationship Id="rId5" Type="http://schemas.openxmlformats.org/officeDocument/2006/relationships/image" Target="../media/image10.png"/><Relationship Id="rId4" Type="http://schemas.openxmlformats.org/officeDocument/2006/relationships/image" Target="../media/image9.jpeg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6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7.xml"/><Relationship Id="rId1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89.xml"/><Relationship Id="rId2" Type="http://schemas.openxmlformats.org/officeDocument/2006/relationships/image" Target="../media/image1.png"/><Relationship Id="rId1" Type="http://schemas.openxmlformats.org/officeDocument/2006/relationships/tags" Target="../tags/tag88.xml"/></Relationships>
</file>

<file path=ppt/slides/_rels/slide15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91.xml"/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tags" Target="../tags/tag90.xml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93.xml"/><Relationship Id="rId2" Type="http://schemas.openxmlformats.org/officeDocument/2006/relationships/image" Target="../media/image1.png"/><Relationship Id="rId1" Type="http://schemas.openxmlformats.org/officeDocument/2006/relationships/tags" Target="../tags/tag92.xml"/></Relationships>
</file>

<file path=ppt/slides/_rels/slide1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95.xml"/><Relationship Id="rId2" Type="http://schemas.openxmlformats.org/officeDocument/2006/relationships/image" Target="../media/image1.png"/><Relationship Id="rId1" Type="http://schemas.openxmlformats.org/officeDocument/2006/relationships/tags" Target="../tags/tag94.xml"/></Relationships>
</file>

<file path=ppt/slides/_rels/slide18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97.xml"/><Relationship Id="rId4" Type="http://schemas.openxmlformats.org/officeDocument/2006/relationships/image" Target="../media/image14.png"/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tags" Target="../tags/tag96.xml"/></Relationships>
</file>

<file path=ppt/slides/_rels/slide19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99.xml"/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tags" Target="../tags/tag98.xml"/></Relationships>
</file>

<file path=ppt/slides/_rels/slide20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101.xml"/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tags" Target="../tags/tag100.xml"/></Relationships>
</file>

<file path=ppt/slides/_rels/slide21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103.xml"/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tags" Target="../tags/tag10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4.xml"/><Relationship Id="rId1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1"/>
            </p:custDataLst>
          </p:nvPr>
        </p:nvSpPr>
        <p:spPr>
          <a:xfrm>
            <a:off x="1115695" y="5635625"/>
            <a:ext cx="9799320" cy="685165"/>
          </a:xfrm>
        </p:spPr>
        <p:txBody>
          <a:bodyPr/>
          <a:p>
            <a:r>
              <a:rPr lang="zh-CN" altLang="en-US"/>
              <a:t>周会</a:t>
            </a:r>
            <a:r>
              <a:rPr lang="en-US" altLang="zh-CN"/>
              <a:t>No.1</a:t>
            </a:r>
            <a:endParaRPr lang="en-US" altLang="zh-CN"/>
          </a:p>
        </p:txBody>
      </p:sp>
      <p:pic>
        <p:nvPicPr>
          <p:cNvPr id="6" name="图片 5" descr="AgentFlowLOGO"/>
          <p:cNvPicPr>
            <a:picLocks noChangeAspect="1"/>
          </p:cNvPicPr>
          <p:nvPr/>
        </p:nvPicPr>
        <p:blipFill>
          <a:blip r:embed="rId2"/>
          <a:srcRect l="10735" t="19398" r="10057" b="21899"/>
          <a:stretch>
            <a:fillRect/>
          </a:stretch>
        </p:blipFill>
        <p:spPr>
          <a:xfrm>
            <a:off x="3923665" y="1533525"/>
            <a:ext cx="4183380" cy="310070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内容占位符 5" descr="AgentFlowLOGO"/>
          <p:cNvPicPr>
            <a:picLocks noChangeAspect="1"/>
          </p:cNvPicPr>
          <p:nvPr>
            <p:ph idx="1"/>
            <p:custDataLst>
              <p:tags r:id="rId1"/>
            </p:custDataLst>
          </p:nvPr>
        </p:nvPicPr>
        <p:blipFill>
          <a:blip r:embed="rId2"/>
          <a:srcRect l="10735" t="19398" r="10057" b="21899"/>
          <a:stretch>
            <a:fillRect/>
          </a:stretch>
        </p:blipFill>
        <p:spPr>
          <a:xfrm>
            <a:off x="9844405" y="5125720"/>
            <a:ext cx="2106930" cy="165925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047750" y="659765"/>
            <a:ext cx="40640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</a:rPr>
              <a:t>自我介绍</a:t>
            </a:r>
            <a:endParaRPr lang="zh-CN" altLang="en-US" sz="280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  <a:alpha val="40000"/>
                  </a:schemeClr>
                </a:outerShdw>
              </a:effectLst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558540" y="262001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SCPZ24</a:t>
            </a:r>
            <a:endParaRPr lang="en-US" altLang="zh-CN"/>
          </a:p>
        </p:txBody>
      </p:sp>
      <p:sp>
        <p:nvSpPr>
          <p:cNvPr id="5" name="文本框 4"/>
          <p:cNvSpPr txBox="1"/>
          <p:nvPr/>
        </p:nvSpPr>
        <p:spPr>
          <a:xfrm>
            <a:off x="3662045" y="549211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软件工程</a:t>
            </a:r>
            <a:r>
              <a:rPr lang="zh-CN" altLang="en-US"/>
              <a:t>学生</a:t>
            </a:r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3077210" y="416369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目标</a:t>
            </a:r>
            <a:r>
              <a:rPr lang="en-US" altLang="zh-CN"/>
              <a:t>：</a:t>
            </a:r>
            <a:r>
              <a:rPr lang="zh-CN" altLang="en-US"/>
              <a:t>数字</a:t>
            </a:r>
            <a:r>
              <a:rPr lang="zh-CN" altLang="en-US"/>
              <a:t>游牧人</a:t>
            </a:r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4629150" y="137858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极客</a:t>
            </a:r>
            <a:endParaRPr lang="zh-CN" altLang="en-US"/>
          </a:p>
        </p:txBody>
      </p:sp>
      <p:pic>
        <p:nvPicPr>
          <p:cNvPr id="3" name="图片 2" descr="IMG_950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4955" y="0"/>
            <a:ext cx="6837045" cy="685800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内容占位符 5" descr="AgentFlowLOGO"/>
          <p:cNvPicPr>
            <a:picLocks noChangeAspect="1"/>
          </p:cNvPicPr>
          <p:nvPr>
            <p:ph idx="1"/>
            <p:custDataLst>
              <p:tags r:id="rId1"/>
            </p:custDataLst>
          </p:nvPr>
        </p:nvPicPr>
        <p:blipFill>
          <a:blip r:embed="rId2"/>
          <a:srcRect l="10735" t="19398" r="10057" b="21899"/>
          <a:stretch>
            <a:fillRect/>
          </a:stretch>
        </p:blipFill>
        <p:spPr>
          <a:xfrm>
            <a:off x="9844405" y="5125720"/>
            <a:ext cx="2106930" cy="165925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047750" y="659765"/>
            <a:ext cx="40640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</a:rPr>
              <a:t>自我介绍</a:t>
            </a:r>
            <a:endParaRPr lang="zh-CN" altLang="en-US" sz="280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  <a:alpha val="40000"/>
                  </a:schemeClr>
                </a:outerShdw>
              </a:effectLst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310" y="2157095"/>
            <a:ext cx="8576310" cy="4420235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1428750" y="138874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github ID </a:t>
            </a:r>
            <a:r>
              <a:rPr lang="zh-CN" altLang="en-US"/>
              <a:t>：</a:t>
            </a:r>
            <a:r>
              <a:rPr lang="en-US" altLang="zh-CN"/>
              <a:t>SCPZ24</a:t>
            </a:r>
            <a:endParaRPr lang="en-US" altLang="zh-CN"/>
          </a:p>
        </p:txBody>
      </p:sp>
    </p:spTree>
    <p:custDataLst>
      <p:tags r:id="rId4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1"/>
            </p:custDataLst>
          </p:nvPr>
        </p:nvSpPr>
        <p:spPr>
          <a:xfrm>
            <a:off x="1115695" y="5635625"/>
            <a:ext cx="9799320" cy="685165"/>
          </a:xfrm>
        </p:spPr>
        <p:txBody>
          <a:bodyPr/>
          <a:p>
            <a:r>
              <a:rPr lang="zh-CN" altLang="en-US"/>
              <a:t>周会</a:t>
            </a:r>
            <a:r>
              <a:rPr lang="en-US" altLang="zh-CN"/>
              <a:t>No.1</a:t>
            </a:r>
            <a:endParaRPr lang="en-US" altLang="zh-CN"/>
          </a:p>
        </p:txBody>
      </p:sp>
      <p:pic>
        <p:nvPicPr>
          <p:cNvPr id="6" name="图片 5" descr="AgentFlowLOGO"/>
          <p:cNvPicPr>
            <a:picLocks noChangeAspect="1"/>
          </p:cNvPicPr>
          <p:nvPr/>
        </p:nvPicPr>
        <p:blipFill>
          <a:blip r:embed="rId2"/>
          <a:srcRect l="10735" t="19398" r="10057" b="21899"/>
          <a:stretch>
            <a:fillRect/>
          </a:stretch>
        </p:blipFill>
        <p:spPr>
          <a:xfrm>
            <a:off x="3923665" y="1533525"/>
            <a:ext cx="4183380" cy="310070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内容占位符 5" descr="AgentFlowLOGO"/>
          <p:cNvPicPr>
            <a:picLocks noChangeAspect="1"/>
          </p:cNvPicPr>
          <p:nvPr>
            <p:ph idx="1"/>
            <p:custDataLst>
              <p:tags r:id="rId1"/>
            </p:custDataLst>
          </p:nvPr>
        </p:nvPicPr>
        <p:blipFill>
          <a:blip r:embed="rId2"/>
          <a:srcRect l="10735" t="19398" r="10057" b="21899"/>
          <a:stretch>
            <a:fillRect/>
          </a:stretch>
        </p:blipFill>
        <p:spPr>
          <a:xfrm>
            <a:off x="9844405" y="5125720"/>
            <a:ext cx="2106930" cy="165925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047750" y="659765"/>
            <a:ext cx="40640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</a:rPr>
              <a:t>神秘术语</a:t>
            </a:r>
            <a:r>
              <a:rPr lang="en-US" altLang="zh-CN" sz="28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</a:rPr>
              <a:t>...</a:t>
            </a:r>
            <a:endParaRPr lang="en-US" altLang="zh-CN" sz="280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  <a:alpha val="40000"/>
                  </a:schemeClr>
                </a:outerShdw>
              </a:effectLst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内容占位符 5" descr="AgentFlowLOGO"/>
          <p:cNvPicPr>
            <a:picLocks noChangeAspect="1"/>
          </p:cNvPicPr>
          <p:nvPr>
            <p:ph idx="1"/>
            <p:custDataLst>
              <p:tags r:id="rId1"/>
            </p:custDataLst>
          </p:nvPr>
        </p:nvPicPr>
        <p:blipFill>
          <a:blip r:embed="rId2"/>
          <a:srcRect l="10735" t="19398" r="10057" b="21899"/>
          <a:stretch>
            <a:fillRect/>
          </a:stretch>
        </p:blipFill>
        <p:spPr>
          <a:xfrm>
            <a:off x="9844405" y="5125720"/>
            <a:ext cx="2106930" cy="165925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047750" y="659765"/>
            <a:ext cx="40640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</a:rPr>
              <a:t>神秘术语</a:t>
            </a:r>
            <a:r>
              <a:rPr lang="en-US" altLang="zh-CN" sz="28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</a:rPr>
              <a:t>...</a:t>
            </a:r>
            <a:endParaRPr lang="en-US" altLang="zh-CN" sz="280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  <a:alpha val="40000"/>
                  </a:schemeClr>
                </a:outerShdw>
              </a:effectLst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047750" y="140017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token</a:t>
            </a:r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1047750" y="5125720"/>
            <a:ext cx="5273040" cy="5219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LLM</a:t>
            </a:r>
            <a:r>
              <a:rPr lang="zh-CN" altLang="en-US"/>
              <a:t>做的</a:t>
            </a:r>
            <a:r>
              <a:rPr lang="en-US" altLang="zh-CN"/>
              <a:t>：</a:t>
            </a:r>
            <a:r>
              <a:rPr lang="zh-CN" altLang="en-US"/>
              <a:t>基于已有的</a:t>
            </a:r>
            <a:r>
              <a:rPr lang="en-US" altLang="zh-CN"/>
              <a:t>token</a:t>
            </a:r>
            <a:r>
              <a:rPr lang="zh-CN" altLang="en-US"/>
              <a:t>串猜下一个</a:t>
            </a:r>
            <a:r>
              <a:rPr lang="en-US" altLang="zh-CN"/>
              <a:t>token</a:t>
            </a:r>
            <a:endParaRPr lang="en-US" altLang="zh-CN"/>
          </a:p>
        </p:txBody>
      </p:sp>
      <p:sp>
        <p:nvSpPr>
          <p:cNvPr id="5" name="文本框 4"/>
          <p:cNvSpPr txBox="1"/>
          <p:nvPr/>
        </p:nvSpPr>
        <p:spPr>
          <a:xfrm>
            <a:off x="1047750" y="244919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tokenize</a:t>
            </a:r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1047750" y="3010535"/>
            <a:ext cx="35166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Bobby is the greatest scientist.     </a:t>
            </a:r>
            <a:endParaRPr lang="en-US" altLang="zh-CN"/>
          </a:p>
        </p:txBody>
      </p:sp>
      <p:sp>
        <p:nvSpPr>
          <p:cNvPr id="9" name="文本框 8"/>
          <p:cNvSpPr txBox="1"/>
          <p:nvPr/>
        </p:nvSpPr>
        <p:spPr>
          <a:xfrm>
            <a:off x="5177155" y="3010535"/>
            <a:ext cx="66802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[&lt;</a:t>
            </a:r>
            <a:r>
              <a:rPr lang="zh-CN" altLang="en-US"/>
              <a:t>起始符</a:t>
            </a:r>
            <a:r>
              <a:rPr lang="en-US" altLang="zh-CN"/>
              <a:t>&gt;, Bobby, is, the, great, est, scientist, ., &lt;</a:t>
            </a:r>
            <a:r>
              <a:rPr lang="zh-CN" altLang="en-US"/>
              <a:t>结束符</a:t>
            </a:r>
            <a:r>
              <a:rPr lang="en-US" altLang="zh-CN"/>
              <a:t>&gt;]</a:t>
            </a:r>
            <a:endParaRPr lang="en-US" altLang="zh-CN"/>
          </a:p>
        </p:txBody>
      </p:sp>
      <p:cxnSp>
        <p:nvCxnSpPr>
          <p:cNvPr id="10" name="直接箭头连接符 9"/>
          <p:cNvCxnSpPr>
            <a:stCxn id="8" idx="3"/>
          </p:cNvCxnSpPr>
          <p:nvPr/>
        </p:nvCxnSpPr>
        <p:spPr>
          <a:xfrm>
            <a:off x="4564380" y="3194685"/>
            <a:ext cx="545465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  <p:custDataLst>
      <p:tags r:id="rId3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内容占位符 5" descr="AgentFlowLOGO"/>
          <p:cNvPicPr>
            <a:picLocks noChangeAspect="1"/>
          </p:cNvPicPr>
          <p:nvPr>
            <p:ph idx="1"/>
            <p:custDataLst>
              <p:tags r:id="rId1"/>
            </p:custDataLst>
          </p:nvPr>
        </p:nvPicPr>
        <p:blipFill>
          <a:blip r:embed="rId2"/>
          <a:srcRect l="10735" t="19398" r="10057" b="21899"/>
          <a:stretch>
            <a:fillRect/>
          </a:stretch>
        </p:blipFill>
        <p:spPr>
          <a:xfrm>
            <a:off x="9844405" y="5125720"/>
            <a:ext cx="2106930" cy="165925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047750" y="659765"/>
            <a:ext cx="40640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</a:rPr>
              <a:t>神秘术语</a:t>
            </a:r>
            <a:r>
              <a:rPr lang="en-US" altLang="zh-CN" sz="28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</a:rPr>
              <a:t>...</a:t>
            </a:r>
            <a:endParaRPr lang="en-US" altLang="zh-CN" sz="280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  <a:alpha val="40000"/>
                  </a:schemeClr>
                </a:outerShdw>
              </a:effectLst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1047750" y="220281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AI</a:t>
            </a:r>
            <a:r>
              <a:rPr lang="zh-CN" altLang="en-US"/>
              <a:t>的</a:t>
            </a:r>
            <a:r>
              <a:rPr lang="zh-CN" altLang="en-US"/>
              <a:t>延伸</a:t>
            </a:r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1047750" y="2816225"/>
            <a:ext cx="406400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/>
              <a:t>agent</a:t>
            </a: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/>
              <a:t>harness</a:t>
            </a:r>
            <a:endParaRPr lang="en-US" altLang="zh-CN"/>
          </a:p>
        </p:txBody>
      </p:sp>
    </p:spTree>
    <p:custDataLst>
      <p:tags r:id="rId3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内容占位符 5" descr="AgentFlowLOGO"/>
          <p:cNvPicPr>
            <a:picLocks noChangeAspect="1"/>
          </p:cNvPicPr>
          <p:nvPr>
            <p:ph idx="1"/>
            <p:custDataLst>
              <p:tags r:id="rId1"/>
            </p:custDataLst>
          </p:nvPr>
        </p:nvPicPr>
        <p:blipFill>
          <a:blip r:embed="rId2"/>
          <a:srcRect l="10735" t="19398" r="10057" b="21899"/>
          <a:stretch>
            <a:fillRect/>
          </a:stretch>
        </p:blipFill>
        <p:spPr>
          <a:xfrm>
            <a:off x="9844405" y="5125720"/>
            <a:ext cx="2106930" cy="165925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047750" y="659765"/>
            <a:ext cx="40640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</a:rPr>
              <a:t>神秘术语</a:t>
            </a:r>
            <a:r>
              <a:rPr lang="en-US" altLang="zh-CN" sz="28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</a:rPr>
              <a:t>...</a:t>
            </a:r>
            <a:endParaRPr lang="en-US" altLang="zh-CN" sz="280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  <a:alpha val="40000"/>
                  </a:schemeClr>
                </a:outerShdw>
              </a:effectLst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1047750" y="140779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AI</a:t>
            </a:r>
            <a:r>
              <a:rPr lang="zh-CN" altLang="en-US"/>
              <a:t>运行时</a:t>
            </a:r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1047750" y="2002155"/>
            <a:ext cx="4064000" cy="39693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/>
              <a:t>tool</a:t>
            </a: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/>
              <a:t>mcp</a:t>
            </a: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b="1">
                <a:latin typeface="PingFang SC Semibold" panose="020B0400000000000000" charset="-122"/>
                <a:ea typeface="PingFang SC Semibold" panose="020B0400000000000000" charset="-122"/>
              </a:rPr>
              <a:t>skill</a:t>
            </a:r>
            <a:endParaRPr lang="en-US" altLang="zh-CN" b="1">
              <a:latin typeface="PingFang SC Semibold" panose="020B0400000000000000" charset="-122"/>
              <a:ea typeface="PingFang SC Semibold" panose="020B0400000000000000" charset="-122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 altLang="zh-CN" b="1">
              <a:latin typeface="PingFang SC Semibold" panose="020B0400000000000000" charset="-122"/>
              <a:ea typeface="PingFang SC Semibold" panose="020B0400000000000000" charset="-122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>
                <a:latin typeface="PingFang SC" panose="020B0400000000000000" charset="-122"/>
                <a:ea typeface="PingFang SC" panose="020B0400000000000000" charset="-122"/>
              </a:rPr>
              <a:t>subAgents</a:t>
            </a:r>
            <a:endParaRPr lang="en-US" altLang="zh-CN">
              <a:latin typeface="PingFang SC" panose="020B0400000000000000" charset="-122"/>
              <a:ea typeface="PingFang SC" panose="020B0400000000000000" charset="-122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/>
              <a:t>session</a:t>
            </a: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/>
              <a:t>context</a:t>
            </a: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/>
              <a:t>memory</a:t>
            </a:r>
            <a:endParaRPr lang="en-US" altLang="zh-CN"/>
          </a:p>
        </p:txBody>
      </p:sp>
    </p:spTree>
    <p:custDataLst>
      <p:tags r:id="rId3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内容占位符 5" descr="AgentFlowLOGO"/>
          <p:cNvPicPr>
            <a:picLocks noChangeAspect="1"/>
          </p:cNvPicPr>
          <p:nvPr>
            <p:ph idx="1"/>
            <p:custDataLst>
              <p:tags r:id="rId1"/>
            </p:custDataLst>
          </p:nvPr>
        </p:nvPicPr>
        <p:blipFill>
          <a:blip r:embed="rId2"/>
          <a:srcRect l="10735" t="19398" r="10057" b="21899"/>
          <a:stretch>
            <a:fillRect/>
          </a:stretch>
        </p:blipFill>
        <p:spPr>
          <a:xfrm>
            <a:off x="9844405" y="5125720"/>
            <a:ext cx="2106930" cy="165925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047750" y="659765"/>
            <a:ext cx="40640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</a:rPr>
              <a:t>神秘术语</a:t>
            </a:r>
            <a:r>
              <a:rPr lang="en-US" altLang="zh-CN" sz="28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</a:rPr>
              <a:t>...</a:t>
            </a:r>
            <a:endParaRPr lang="en-US" altLang="zh-CN" sz="280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  <a:alpha val="40000"/>
                  </a:schemeClr>
                </a:outerShdw>
              </a:effectLst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1047750" y="140779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AI</a:t>
            </a:r>
            <a:r>
              <a:rPr lang="zh-CN" altLang="en-US"/>
              <a:t>运行时</a:t>
            </a:r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1047750" y="2002155"/>
            <a:ext cx="4064000" cy="34150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/>
              <a:t>tool</a:t>
            </a: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/>
              <a:t>mcp</a:t>
            </a: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b="1">
                <a:latin typeface="PingFang SC Semibold" panose="020B0400000000000000" charset="-122"/>
                <a:ea typeface="PingFang SC Semibold" panose="020B0400000000000000" charset="-122"/>
              </a:rPr>
              <a:t>skill</a:t>
            </a:r>
            <a:endParaRPr lang="en-US" altLang="zh-CN" b="1">
              <a:latin typeface="PingFang SC Semibold" panose="020B0400000000000000" charset="-122"/>
              <a:ea typeface="PingFang SC Semibold" panose="020B0400000000000000" charset="-122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/>
              <a:t>session</a:t>
            </a: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/>
              <a:t>context</a:t>
            </a: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/>
              <a:t>memory</a:t>
            </a:r>
            <a:endParaRPr lang="en-US" altLang="zh-CN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0670" y="1181735"/>
            <a:ext cx="6753860" cy="4935855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内容占位符 5" descr="AgentFlowLOGO"/>
          <p:cNvPicPr>
            <a:picLocks noChangeAspect="1"/>
          </p:cNvPicPr>
          <p:nvPr>
            <p:ph idx="1"/>
            <p:custDataLst>
              <p:tags r:id="rId1"/>
            </p:custDataLst>
          </p:nvPr>
        </p:nvPicPr>
        <p:blipFill>
          <a:blip r:embed="rId2"/>
          <a:srcRect l="10735" t="19398" r="10057" b="21899"/>
          <a:stretch>
            <a:fillRect/>
          </a:stretch>
        </p:blipFill>
        <p:spPr>
          <a:xfrm>
            <a:off x="9844405" y="5125720"/>
            <a:ext cx="2106930" cy="165925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047750" y="659765"/>
            <a:ext cx="40640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</a:rPr>
              <a:t>神秘术语</a:t>
            </a:r>
            <a:r>
              <a:rPr lang="en-US" altLang="zh-CN" sz="28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</a:rPr>
              <a:t>...</a:t>
            </a:r>
            <a:endParaRPr lang="en-US" altLang="zh-CN" sz="280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  <a:alpha val="40000"/>
                  </a:schemeClr>
                </a:outerShdw>
              </a:effectLst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1047750" y="140779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AI</a:t>
            </a:r>
            <a:r>
              <a:rPr lang="zh-CN" altLang="en-US"/>
              <a:t>社区</a:t>
            </a:r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1047750" y="2002155"/>
            <a:ext cx="406400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/>
              <a:t>SOTA: State of the Art</a:t>
            </a: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/>
              <a:t>Best Practice: </a:t>
            </a:r>
            <a:r>
              <a:rPr lang="zh-CN" altLang="en-US"/>
              <a:t>最佳</a:t>
            </a:r>
            <a:r>
              <a:rPr lang="zh-CN" altLang="en-US"/>
              <a:t>实践</a:t>
            </a:r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1047750" y="324485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AI</a:t>
            </a:r>
            <a:r>
              <a:rPr lang="zh-CN" altLang="en-US"/>
              <a:t>交互</a:t>
            </a:r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1047750" y="3744595"/>
            <a:ext cx="4064000" cy="25844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/>
              <a:t>API call</a:t>
            </a: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/>
              <a:t>CLI</a:t>
            </a: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/>
              <a:t>TUI</a:t>
            </a: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/>
              <a:t>GUI</a:t>
            </a: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zh-CN" altLang="en-US"/>
              <a:t>模态</a:t>
            </a: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/>
              <a:t>JSON</a:t>
            </a: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/>
              <a:t>markdown</a:t>
            </a:r>
            <a:endParaRPr lang="en-US" altLang="zh-CN"/>
          </a:p>
        </p:txBody>
      </p:sp>
      <p:pic>
        <p:nvPicPr>
          <p:cNvPr id="5" name="图片 4" descr="截屏2026-04-26 16.13.0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9195" y="374015"/>
            <a:ext cx="6258560" cy="361950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内容占位符 5" descr="AgentFlowLOGO"/>
          <p:cNvPicPr>
            <a:picLocks noChangeAspect="1"/>
          </p:cNvPicPr>
          <p:nvPr>
            <p:ph idx="1"/>
            <p:custDataLst>
              <p:tags r:id="rId1"/>
            </p:custDataLst>
          </p:nvPr>
        </p:nvPicPr>
        <p:blipFill>
          <a:blip r:embed="rId2"/>
          <a:srcRect l="10735" t="19398" r="10057" b="21899"/>
          <a:stretch>
            <a:fillRect/>
          </a:stretch>
        </p:blipFill>
        <p:spPr>
          <a:xfrm>
            <a:off x="9844405" y="5125720"/>
            <a:ext cx="2106930" cy="165925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047750" y="659765"/>
            <a:ext cx="40640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8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</a:rPr>
              <a:t>Recent News...</a:t>
            </a:r>
            <a:endParaRPr lang="en-US" altLang="zh-CN" sz="280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047750" y="1633855"/>
            <a:ext cx="73685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OpenAI - image2: </a:t>
            </a:r>
            <a:r>
              <a:rPr lang="zh-CN" altLang="en-US"/>
              <a:t>令人匪夷所思的生图</a:t>
            </a:r>
            <a:r>
              <a:rPr lang="zh-CN" altLang="en-US"/>
              <a:t>模型</a:t>
            </a:r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1047750" y="2694940"/>
            <a:ext cx="5969635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GPT5.5: </a:t>
            </a:r>
            <a:r>
              <a:rPr lang="zh-CN" altLang="en-US"/>
              <a:t>单个</a:t>
            </a:r>
            <a:r>
              <a:rPr lang="en-US" altLang="zh-CN"/>
              <a:t>token</a:t>
            </a:r>
            <a:r>
              <a:rPr lang="zh-CN" altLang="en-US"/>
              <a:t>更贵</a:t>
            </a:r>
            <a:r>
              <a:rPr lang="en-US" altLang="zh-CN"/>
              <a:t>，</a:t>
            </a:r>
            <a:r>
              <a:rPr lang="zh-CN" altLang="en-US"/>
              <a:t>但是更聪明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Opus4.7: </a:t>
            </a:r>
            <a:r>
              <a:rPr lang="zh-CN" altLang="en-US"/>
              <a:t>善于</a:t>
            </a:r>
            <a:r>
              <a:rPr lang="zh-CN" altLang="en-US"/>
              <a:t>视觉设计</a:t>
            </a:r>
            <a:endParaRPr lang="zh-CN" altLang="en-US"/>
          </a:p>
          <a:p>
            <a:endParaRPr lang="zh-CN" altLang="en-US"/>
          </a:p>
          <a:p>
            <a:r>
              <a:rPr lang="en-US" altLang="zh-CN"/>
              <a:t>DeepSeek-V4: </a:t>
            </a:r>
            <a:r>
              <a:rPr lang="zh-CN" altLang="en-US"/>
              <a:t>便宜</a:t>
            </a:r>
            <a:r>
              <a:rPr lang="en-US" altLang="zh-CN"/>
              <a:t>，</a:t>
            </a:r>
            <a:r>
              <a:rPr lang="zh-CN" altLang="en-US"/>
              <a:t>快</a:t>
            </a:r>
            <a:r>
              <a:rPr lang="en-US" altLang="zh-CN"/>
              <a:t>，</a:t>
            </a:r>
            <a:r>
              <a:rPr lang="zh-CN" altLang="en-US"/>
              <a:t>强</a:t>
            </a:r>
            <a:r>
              <a:rPr lang="en-US" altLang="zh-CN"/>
              <a:t>。</a:t>
            </a:r>
            <a:r>
              <a:rPr lang="zh-CN" altLang="en-US"/>
              <a:t>但是</a:t>
            </a:r>
            <a:r>
              <a:rPr lang="zh-CN" altLang="en-US"/>
              <a:t>单模态</a:t>
            </a:r>
            <a:endParaRPr lang="zh-CN" altLang="en-US"/>
          </a:p>
        </p:txBody>
      </p:sp>
    </p:spTree>
    <p:custDataLst>
      <p:tags r:id="rId3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7" name="图片 6" descr="d3b11595ec9a1683c2f05ec4579b147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62675" y="941705"/>
            <a:ext cx="2788920" cy="4184015"/>
          </a:xfrm>
          <a:prstGeom prst="rect">
            <a:avLst/>
          </a:prstGeom>
        </p:spPr>
      </p:pic>
      <p:pic>
        <p:nvPicPr>
          <p:cNvPr id="3" name="图片 2" descr="f10976ab96c8bf4351fae5e9a4e5546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37995"/>
            <a:ext cx="3594100" cy="4792980"/>
          </a:xfrm>
          <a:prstGeom prst="rect">
            <a:avLst/>
          </a:prstGeom>
        </p:spPr>
      </p:pic>
      <p:pic>
        <p:nvPicPr>
          <p:cNvPr id="4" name="图片 3" descr="75885f84c359539cb6d977b99e42860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6900" y="2002155"/>
            <a:ext cx="3189605" cy="478472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047750" y="659765"/>
            <a:ext cx="40640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8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</a:rPr>
              <a:t>Recent News...</a:t>
            </a:r>
            <a:endParaRPr lang="en-US" altLang="zh-CN" sz="280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047750" y="1633855"/>
            <a:ext cx="73685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OpenAI - image2: </a:t>
            </a:r>
            <a:r>
              <a:rPr lang="zh-CN" altLang="en-US"/>
              <a:t>令人匪夷所思的生图</a:t>
            </a:r>
            <a:r>
              <a:rPr lang="zh-CN" altLang="en-US"/>
              <a:t>模型</a:t>
            </a:r>
            <a:endParaRPr lang="zh-CN" altLang="en-US"/>
          </a:p>
        </p:txBody>
      </p:sp>
      <p:pic>
        <p:nvPicPr>
          <p:cNvPr id="9" name="图片 8" descr="300eb17e8dd184d8f660dcd8317e167c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7945" y="659765"/>
            <a:ext cx="2993390" cy="1995805"/>
          </a:xfrm>
          <a:prstGeom prst="rect">
            <a:avLst/>
          </a:prstGeom>
        </p:spPr>
      </p:pic>
      <p:pic>
        <p:nvPicPr>
          <p:cNvPr id="10" name="图片 9" descr="41acd7290061898b5da9ed66caf0d18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6290" y="2126615"/>
            <a:ext cx="2475230" cy="3301365"/>
          </a:xfrm>
          <a:prstGeom prst="rect">
            <a:avLst/>
          </a:prstGeom>
        </p:spPr>
      </p:pic>
      <p:pic>
        <p:nvPicPr>
          <p:cNvPr id="6" name="内容占位符 5" descr="AgentFlowLOGO"/>
          <p:cNvPicPr>
            <a:picLocks noChangeAspect="1"/>
          </p:cNvPicPr>
          <p:nvPr>
            <p:ph idx="1"/>
            <p:custDataLst>
              <p:tags r:id="rId6"/>
            </p:custDataLst>
          </p:nvPr>
        </p:nvPicPr>
        <p:blipFill>
          <a:blip r:embed="rId7"/>
          <a:srcRect l="10735" t="19398" r="10057" b="21899"/>
          <a:stretch>
            <a:fillRect/>
          </a:stretch>
        </p:blipFill>
        <p:spPr>
          <a:xfrm>
            <a:off x="9844405" y="5125720"/>
            <a:ext cx="2106930" cy="1659255"/>
          </a:xfrm>
          <a:prstGeom prst="rect">
            <a:avLst/>
          </a:prstGeom>
        </p:spPr>
      </p:pic>
    </p:spTree>
    <p:custDataLst>
      <p:tags r:id="rId8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图片 2" descr="ChatGPT Image 2026年4月26日 00_11_3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11655" y="0"/>
            <a:ext cx="8568690" cy="685800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内容占位符 5" descr="AgentFlowLOGO"/>
          <p:cNvPicPr>
            <a:picLocks noChangeAspect="1"/>
          </p:cNvPicPr>
          <p:nvPr>
            <p:ph idx="1"/>
            <p:custDataLst>
              <p:tags r:id="rId1"/>
            </p:custDataLst>
          </p:nvPr>
        </p:nvPicPr>
        <p:blipFill>
          <a:blip r:embed="rId2"/>
          <a:srcRect l="10735" t="19398" r="10057" b="21899"/>
          <a:stretch>
            <a:fillRect/>
          </a:stretch>
        </p:blipFill>
        <p:spPr>
          <a:xfrm>
            <a:off x="9844405" y="5125720"/>
            <a:ext cx="2106930" cy="165925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047750" y="659765"/>
            <a:ext cx="40640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8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</a:rPr>
              <a:t>IDE</a:t>
            </a:r>
            <a:r>
              <a:rPr lang="zh-CN" altLang="en-US" sz="28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</a:rPr>
              <a:t>迭代</a:t>
            </a:r>
            <a:endParaRPr lang="zh-CN" altLang="en-US" sz="280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  <a:alpha val="40000"/>
                  </a:schemeClr>
                </a:outerShdw>
              </a:effectLst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047750" y="1279525"/>
            <a:ext cx="7309485" cy="47999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>
              <a:buFont typeface="Arial" panose="020B0604020202090204" pitchFamily="34" charset="0"/>
              <a:buNone/>
            </a:pPr>
            <a:r>
              <a:rPr lang="zh-CN" altLang="en-US"/>
              <a:t>第一代</a:t>
            </a:r>
            <a:r>
              <a:rPr lang="en-US" altLang="zh-CN"/>
              <a:t>：</a:t>
            </a:r>
            <a:r>
              <a:rPr lang="zh-CN" altLang="en-US"/>
              <a:t>文本编辑</a:t>
            </a:r>
            <a:endParaRPr lang="zh-CN" altLang="en-US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/>
              <a:t>Vim</a:t>
            </a: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 altLang="zh-CN"/>
          </a:p>
          <a:p>
            <a:pPr indent="0">
              <a:buFont typeface="Arial" panose="020B0604020202090204" pitchFamily="34" charset="0"/>
              <a:buNone/>
            </a:pPr>
            <a:r>
              <a:rPr lang="zh-CN" altLang="en-US"/>
              <a:t>第二代</a:t>
            </a:r>
            <a:r>
              <a:rPr lang="en-US" altLang="zh-CN"/>
              <a:t>：</a:t>
            </a:r>
            <a:r>
              <a:rPr lang="zh-CN" altLang="en-US"/>
              <a:t>功能</a:t>
            </a:r>
            <a:r>
              <a:rPr lang="zh-CN" altLang="en-US"/>
              <a:t>集成</a:t>
            </a:r>
            <a:endParaRPr lang="zh-CN" altLang="en-US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/>
              <a:t>VSCode（</a:t>
            </a:r>
            <a:r>
              <a:rPr lang="zh-CN" altLang="en-US"/>
              <a:t>插件系统</a:t>
            </a:r>
            <a:r>
              <a:rPr lang="en-US" altLang="zh-CN"/>
              <a:t>）</a:t>
            </a: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/>
              <a:t>Pycharm/ IntelliJ IDEA</a:t>
            </a:r>
            <a:endParaRPr lang="en-US" altLang="zh-CN"/>
          </a:p>
          <a:p>
            <a:pPr indent="0">
              <a:buFont typeface="Arial" panose="020B0604020202090204" pitchFamily="34" charset="0"/>
              <a:buNone/>
            </a:pPr>
            <a:endParaRPr lang="en-US" altLang="zh-CN"/>
          </a:p>
          <a:p>
            <a:pPr indent="0">
              <a:buFont typeface="Arial" panose="020B0604020202090204" pitchFamily="34" charset="0"/>
              <a:buNone/>
            </a:pPr>
            <a:r>
              <a:rPr lang="zh-CN" altLang="en-US"/>
              <a:t>第三代</a:t>
            </a:r>
            <a:r>
              <a:rPr lang="en-US" altLang="zh-CN"/>
              <a:t>：AI</a:t>
            </a:r>
            <a:r>
              <a:rPr lang="zh-CN" altLang="en-US"/>
              <a:t>集成</a:t>
            </a:r>
            <a:endParaRPr lang="zh-CN" altLang="en-US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/>
              <a:t>Trae</a:t>
            </a: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/>
              <a:t>Cursor</a:t>
            </a:r>
            <a:endParaRPr lang="zh-CN" altLang="en-US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zh-CN" altLang="en-US"/>
          </a:p>
          <a:p>
            <a:pPr indent="0">
              <a:buFont typeface="Arial" panose="020B0604020202090204" pitchFamily="34" charset="0"/>
              <a:buNone/>
            </a:pPr>
            <a:r>
              <a:rPr lang="zh-CN" altLang="en-US"/>
              <a:t>第四代</a:t>
            </a:r>
            <a:r>
              <a:rPr lang="en-US" altLang="zh-CN"/>
              <a:t>：</a:t>
            </a:r>
            <a:r>
              <a:rPr lang="zh-CN" altLang="en-US"/>
              <a:t>完全</a:t>
            </a:r>
            <a:r>
              <a:rPr lang="zh-CN" altLang="en-US"/>
              <a:t>低代码</a:t>
            </a:r>
            <a:endParaRPr lang="zh-CN" altLang="en-US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/>
              <a:t>ClaudeCode</a:t>
            </a: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/>
              <a:t>Codex</a:t>
            </a:r>
            <a:endParaRPr lang="zh-CN" altLang="en-US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zh-CN" altLang="en-US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zh-CN" altLang="en-US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zh-CN" altLang="en-US"/>
          </a:p>
        </p:txBody>
      </p:sp>
    </p:spTree>
    <p:custDataLst>
      <p:tags r:id="rId3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内容占位符 5" descr="AgentFlowLOGO"/>
          <p:cNvPicPr>
            <a:picLocks noChangeAspect="1"/>
          </p:cNvPicPr>
          <p:nvPr>
            <p:ph idx="1"/>
            <p:custDataLst>
              <p:tags r:id="rId1"/>
            </p:custDataLst>
          </p:nvPr>
        </p:nvPicPr>
        <p:blipFill>
          <a:blip r:embed="rId2"/>
          <a:srcRect l="10735" t="19398" r="10057" b="21899"/>
          <a:stretch>
            <a:fillRect/>
          </a:stretch>
        </p:blipFill>
        <p:spPr>
          <a:xfrm>
            <a:off x="9844405" y="5125720"/>
            <a:ext cx="2106930" cy="165925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047750" y="659765"/>
            <a:ext cx="40640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8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</a:rPr>
              <a:t>git</a:t>
            </a:r>
            <a:endParaRPr lang="en-US" sz="280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  <a:alpha val="40000"/>
                  </a:schemeClr>
                </a:outerShdw>
              </a:effectLst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047750" y="1609090"/>
            <a:ext cx="7309485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/>
              <a:t>AI</a:t>
            </a:r>
            <a:r>
              <a:rPr lang="zh-CN" altLang="en-US"/>
              <a:t>有时候会写出一坨屎</a:t>
            </a:r>
            <a:r>
              <a:rPr lang="en-US" altLang="zh-CN"/>
              <a:t>。</a:t>
            </a:r>
            <a:endParaRPr lang="zh-CN" altLang="en-US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zh-CN" altLang="en-US"/>
              <a:t>这个时候尤其需要用到</a:t>
            </a:r>
            <a:r>
              <a:rPr lang="en-US" altLang="zh-CN"/>
              <a:t>git</a:t>
            </a:r>
            <a:r>
              <a:rPr lang="zh-CN" altLang="en-US"/>
              <a:t>来回溯</a:t>
            </a:r>
            <a:r>
              <a:rPr lang="en-US" altLang="zh-CN"/>
              <a:t>。</a:t>
            </a:r>
            <a:endParaRPr lang="en-US" altLang="zh-CN"/>
          </a:p>
          <a:p>
            <a:pPr indent="0">
              <a:buFont typeface="Arial" panose="020B0604020202090204" pitchFamily="34" charset="0"/>
              <a:buNone/>
            </a:pPr>
            <a:endParaRPr lang="en-US" altLang="zh-CN"/>
          </a:p>
          <a:p>
            <a:pPr indent="0">
              <a:buFont typeface="Arial" panose="020B0604020202090204" pitchFamily="34" charset="0"/>
              <a:buNone/>
            </a:pPr>
            <a:endParaRPr lang="zh-CN" altLang="en-US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zh-CN" altLang="en-US"/>
              <a:t>一个好的</a:t>
            </a:r>
            <a:r>
              <a:rPr lang="en-US" altLang="zh-CN"/>
              <a:t>practice</a:t>
            </a:r>
            <a:r>
              <a:rPr lang="zh-CN" altLang="en-US"/>
              <a:t>是在每次指挥</a:t>
            </a:r>
            <a:r>
              <a:rPr lang="en-US" altLang="zh-CN"/>
              <a:t>AI</a:t>
            </a:r>
            <a:r>
              <a:rPr lang="zh-CN" altLang="en-US"/>
              <a:t>前</a:t>
            </a:r>
            <a:r>
              <a:rPr lang="en-US" altLang="zh-CN"/>
              <a:t>，</a:t>
            </a:r>
            <a:r>
              <a:rPr lang="zh-CN" altLang="en-US"/>
              <a:t>都</a:t>
            </a:r>
            <a:r>
              <a:rPr lang="en-US" altLang="zh-CN"/>
              <a:t>git commit。</a:t>
            </a: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zh-CN" altLang="en-US"/>
              <a:t>活用</a:t>
            </a:r>
            <a:r>
              <a:rPr lang="en-US" altLang="zh-CN"/>
              <a:t>git checkout</a:t>
            </a:r>
            <a:r>
              <a:rPr lang="zh-CN" altLang="en-US"/>
              <a:t>的机制</a:t>
            </a:r>
            <a:r>
              <a:rPr lang="en-US" altLang="zh-CN"/>
              <a:t>（</a:t>
            </a:r>
            <a:r>
              <a:rPr lang="zh-CN" altLang="en-US"/>
              <a:t>马上会举例</a:t>
            </a:r>
            <a:r>
              <a:rPr lang="en-US" altLang="zh-CN"/>
              <a:t>）</a:t>
            </a:r>
            <a:endParaRPr lang="en-US" altLang="zh-CN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1965" y="0"/>
            <a:ext cx="5250815" cy="423672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内容占位符 5" descr="AgentFlowLOGO"/>
          <p:cNvPicPr>
            <a:picLocks noChangeAspect="1"/>
          </p:cNvPicPr>
          <p:nvPr>
            <p:ph idx="1"/>
            <p:custDataLst>
              <p:tags r:id="rId1"/>
            </p:custDataLst>
          </p:nvPr>
        </p:nvPicPr>
        <p:blipFill>
          <a:blip r:embed="rId2"/>
          <a:srcRect l="10735" t="19398" r="10057" b="21899"/>
          <a:stretch>
            <a:fillRect/>
          </a:stretch>
        </p:blipFill>
        <p:spPr>
          <a:xfrm>
            <a:off x="9844405" y="5125720"/>
            <a:ext cx="2106930" cy="165925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047750" y="659765"/>
            <a:ext cx="40640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8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</a:rPr>
              <a:t>ClaudeCode</a:t>
            </a:r>
            <a:endParaRPr lang="en-US" altLang="zh-CN" sz="280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  <a:alpha val="40000"/>
                  </a:schemeClr>
                </a:outerShdw>
              </a:effectLst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047750" y="1861820"/>
            <a:ext cx="7309485" cy="39693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Arial" panose="020B0604020202090204" pitchFamily="34" charset="0"/>
              <a:buChar char="•"/>
            </a:pPr>
            <a:r>
              <a:rPr lang="zh-CN" altLang="en-US"/>
              <a:t>原生</a:t>
            </a:r>
            <a:r>
              <a:rPr lang="en-US" altLang="zh-CN"/>
              <a:t>TUI</a:t>
            </a:r>
            <a:r>
              <a:rPr lang="zh-CN" altLang="en-US"/>
              <a:t>工具</a:t>
            </a:r>
            <a:r>
              <a:rPr lang="en-US" altLang="zh-CN"/>
              <a:t>(</a:t>
            </a:r>
            <a:r>
              <a:rPr lang="zh-CN" altLang="en-US"/>
              <a:t>高性能</a:t>
            </a:r>
            <a:r>
              <a:rPr lang="en-US" altLang="zh-CN"/>
              <a:t>)</a:t>
            </a:r>
            <a:endParaRPr lang="zh-CN" altLang="en-US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zh-CN" altLang="en-US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zh-CN" altLang="en-US"/>
              <a:t>擅长处理大型</a:t>
            </a:r>
            <a:r>
              <a:rPr lang="zh-CN" altLang="en-US"/>
              <a:t>代码库</a:t>
            </a:r>
            <a:endParaRPr lang="zh-CN" altLang="en-US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zh-CN" altLang="en-US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zh-CN" altLang="en-US"/>
          </a:p>
          <a:p>
            <a:pPr indent="0">
              <a:buFont typeface="Arial" panose="020B0604020202090204" pitchFamily="34" charset="0"/>
              <a:buNone/>
            </a:pPr>
            <a:r>
              <a:rPr lang="zh-CN" altLang="en-US"/>
              <a:t>个人</a:t>
            </a:r>
            <a:r>
              <a:rPr lang="zh-CN" altLang="en-US"/>
              <a:t>使用体验</a:t>
            </a:r>
            <a:endParaRPr lang="zh-CN" altLang="en-US"/>
          </a:p>
          <a:p>
            <a:pPr indent="0">
              <a:buFont typeface="Arial" panose="020B0604020202090204" pitchFamily="34" charset="0"/>
              <a:buNone/>
            </a:pPr>
            <a:endParaRPr lang="zh-CN" altLang="en-US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zh-CN" altLang="en-US"/>
              <a:t>对代码的掌控感弱，因为看不到代码</a:t>
            </a:r>
            <a:r>
              <a:rPr lang="en-US" altLang="zh-CN"/>
              <a:t>，</a:t>
            </a:r>
            <a:r>
              <a:rPr lang="zh-CN" altLang="en-US"/>
              <a:t>纯</a:t>
            </a:r>
            <a:r>
              <a:rPr lang="en-US" altLang="zh-CN"/>
              <a:t>TUI</a:t>
            </a:r>
            <a:endParaRPr lang="zh-CN" altLang="en-US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zh-CN" altLang="en-US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zh-CN" altLang="en-US"/>
              <a:t>常用</a:t>
            </a:r>
            <a:r>
              <a:rPr lang="en-US" altLang="zh-CN"/>
              <a:t>：</a:t>
            </a:r>
            <a:r>
              <a:rPr lang="zh-CN" altLang="en-US"/>
              <a:t>快速跑通一个</a:t>
            </a:r>
            <a:r>
              <a:rPr lang="en-US" altLang="zh-CN"/>
              <a:t>github</a:t>
            </a:r>
            <a:r>
              <a:rPr lang="zh-CN" altLang="en-US"/>
              <a:t>仓库</a:t>
            </a:r>
            <a:endParaRPr lang="zh-CN" altLang="en-US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zh-CN" altLang="en-US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zh-CN" altLang="en-US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zh-CN" altLang="en-US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zh-CN" altLang="en-US"/>
          </a:p>
        </p:txBody>
      </p:sp>
    </p:spTree>
    <p:custDataLst>
      <p:tags r:id="rId3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内容占位符 5" descr="AgentFlowLOGO"/>
          <p:cNvPicPr>
            <a:picLocks noChangeAspect="1"/>
          </p:cNvPicPr>
          <p:nvPr>
            <p:ph idx="1"/>
            <p:custDataLst>
              <p:tags r:id="rId1"/>
            </p:custDataLst>
          </p:nvPr>
        </p:nvPicPr>
        <p:blipFill>
          <a:blip r:embed="rId2"/>
          <a:srcRect l="10735" t="19398" r="10057" b="21899"/>
          <a:stretch>
            <a:fillRect/>
          </a:stretch>
        </p:blipFill>
        <p:spPr>
          <a:xfrm>
            <a:off x="9844405" y="5125720"/>
            <a:ext cx="2106930" cy="165925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047750" y="659765"/>
            <a:ext cx="40640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8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</a:rPr>
              <a:t>Codex</a:t>
            </a:r>
            <a:endParaRPr lang="en-US" altLang="zh-CN" sz="280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  <a:alpha val="40000"/>
                  </a:schemeClr>
                </a:outerShdw>
              </a:effectLst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047750" y="1861820"/>
            <a:ext cx="7309485" cy="39693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Arial" panose="020B0604020202090204" pitchFamily="34" charset="0"/>
              <a:buChar char="•"/>
            </a:pPr>
            <a:r>
              <a:rPr lang="zh-CN" altLang="en-US"/>
              <a:t>第四代</a:t>
            </a:r>
            <a:endParaRPr lang="zh-CN" altLang="en-US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/>
              <a:t>APP</a:t>
            </a:r>
            <a:r>
              <a:rPr lang="zh-CN" altLang="en-US"/>
              <a:t>原生</a:t>
            </a:r>
            <a:endParaRPr lang="zh-CN" altLang="en-US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zh-CN" altLang="en-US"/>
              <a:t>丰富的插件</a:t>
            </a:r>
            <a:r>
              <a:rPr lang="zh-CN" altLang="en-US"/>
              <a:t>生态</a:t>
            </a:r>
            <a:endParaRPr lang="zh-CN" altLang="en-US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zh-CN" altLang="en-US"/>
          </a:p>
          <a:p>
            <a:pPr indent="0">
              <a:buFont typeface="Arial" panose="020B0604020202090204" pitchFamily="34" charset="0"/>
              <a:buNone/>
            </a:pPr>
            <a:r>
              <a:rPr lang="zh-CN" altLang="en-US"/>
              <a:t>个人使用体验</a:t>
            </a:r>
            <a:endParaRPr lang="zh-CN" altLang="en-US"/>
          </a:p>
          <a:p>
            <a:pPr indent="0">
              <a:buFont typeface="Arial" panose="020B0604020202090204" pitchFamily="34" charset="0"/>
              <a:buNone/>
            </a:pPr>
            <a:endParaRPr lang="zh-CN" altLang="en-US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zh-CN" altLang="en-US"/>
              <a:t>超快速功能</a:t>
            </a:r>
            <a:r>
              <a:rPr lang="en-US" altLang="zh-CN"/>
              <a:t>/</a:t>
            </a:r>
            <a:r>
              <a:rPr lang="zh-CN" altLang="en-US"/>
              <a:t>原型</a:t>
            </a:r>
            <a:r>
              <a:rPr lang="zh-CN" altLang="en-US"/>
              <a:t>开发</a:t>
            </a:r>
            <a:endParaRPr lang="zh-CN" altLang="en-US"/>
          </a:p>
          <a:p>
            <a:pPr indent="0">
              <a:buFont typeface="Arial" panose="020B0604020202090204" pitchFamily="34" charset="0"/>
              <a:buNone/>
            </a:pPr>
            <a:endParaRPr lang="zh-CN" altLang="en-US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zh-CN" altLang="en-US"/>
              <a:t>非常省心</a:t>
            </a:r>
            <a:r>
              <a:rPr lang="en-US" altLang="zh-CN"/>
              <a:t>，</a:t>
            </a:r>
            <a:r>
              <a:rPr lang="zh-CN" altLang="en-US"/>
              <a:t>无脑打开完全控制</a:t>
            </a:r>
            <a:r>
              <a:rPr lang="zh-CN" altLang="en-US"/>
              <a:t>权限</a:t>
            </a:r>
            <a:endParaRPr lang="zh-CN" altLang="en-US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zh-CN" altLang="en-US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/>
              <a:t>SubAgent</a:t>
            </a:r>
            <a:r>
              <a:rPr lang="zh-CN" altLang="en-US"/>
              <a:t>界面</a:t>
            </a:r>
            <a:r>
              <a:rPr lang="zh-CN" altLang="en-US"/>
              <a:t>很清晰</a:t>
            </a:r>
            <a:endParaRPr lang="zh-CN" altLang="en-US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zh-CN" altLang="en-US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zh-CN" altLang="en-US"/>
              <a:t>活用</a:t>
            </a:r>
            <a:r>
              <a:rPr lang="en-US" altLang="zh-CN"/>
              <a:t>fork</a:t>
            </a:r>
            <a:endParaRPr lang="zh-CN" altLang="en-US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zh-CN" altLang="en-US"/>
          </a:p>
        </p:txBody>
      </p:sp>
    </p:spTree>
    <p:custDataLst>
      <p:tags r:id="rId3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内容占位符 5" descr="AgentFlowLOGO"/>
          <p:cNvPicPr>
            <a:picLocks noChangeAspect="1"/>
          </p:cNvPicPr>
          <p:nvPr>
            <p:ph idx="1"/>
            <p:custDataLst>
              <p:tags r:id="rId1"/>
            </p:custDataLst>
          </p:nvPr>
        </p:nvPicPr>
        <p:blipFill>
          <a:blip r:embed="rId2"/>
          <a:srcRect l="10735" t="19398" r="10057" b="21899"/>
          <a:stretch>
            <a:fillRect/>
          </a:stretch>
        </p:blipFill>
        <p:spPr>
          <a:xfrm>
            <a:off x="9844405" y="5125720"/>
            <a:ext cx="2106930" cy="165925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047750" y="659765"/>
            <a:ext cx="40640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8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</a:rPr>
              <a:t>Codex</a:t>
            </a:r>
            <a:endParaRPr lang="en-US" altLang="zh-CN" sz="280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  <a:alpha val="40000"/>
                  </a:schemeClr>
                </a:outerShdw>
              </a:effectLst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047750" y="1861820"/>
            <a:ext cx="7309485" cy="39693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Arial" panose="020B0604020202090204" pitchFamily="34" charset="0"/>
              <a:buChar char="•"/>
            </a:pPr>
            <a:r>
              <a:rPr lang="zh-CN" altLang="en-US"/>
              <a:t>第四代</a:t>
            </a:r>
            <a:endParaRPr lang="zh-CN" altLang="en-US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/>
              <a:t>APP</a:t>
            </a:r>
            <a:r>
              <a:rPr lang="zh-CN" altLang="en-US"/>
              <a:t>原生</a:t>
            </a:r>
            <a:endParaRPr lang="zh-CN" altLang="en-US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zh-CN" altLang="en-US"/>
              <a:t>丰富的插件</a:t>
            </a:r>
            <a:r>
              <a:rPr lang="zh-CN" altLang="en-US"/>
              <a:t>生态</a:t>
            </a:r>
            <a:endParaRPr lang="zh-CN" altLang="en-US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zh-CN" altLang="en-US"/>
          </a:p>
          <a:p>
            <a:pPr indent="0">
              <a:buFont typeface="Arial" panose="020B0604020202090204" pitchFamily="34" charset="0"/>
              <a:buNone/>
            </a:pPr>
            <a:r>
              <a:rPr lang="zh-CN" altLang="en-US"/>
              <a:t>个人使用体验</a:t>
            </a:r>
            <a:endParaRPr lang="zh-CN" altLang="en-US"/>
          </a:p>
          <a:p>
            <a:pPr indent="0">
              <a:buFont typeface="Arial" panose="020B0604020202090204" pitchFamily="34" charset="0"/>
              <a:buNone/>
            </a:pPr>
            <a:endParaRPr lang="zh-CN" altLang="en-US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zh-CN" altLang="en-US"/>
              <a:t>超快速功能</a:t>
            </a:r>
            <a:r>
              <a:rPr lang="en-US" altLang="zh-CN"/>
              <a:t>/</a:t>
            </a:r>
            <a:r>
              <a:rPr lang="zh-CN" altLang="en-US"/>
              <a:t>原型</a:t>
            </a:r>
            <a:r>
              <a:rPr lang="zh-CN" altLang="en-US"/>
              <a:t>开发</a:t>
            </a:r>
            <a:endParaRPr lang="zh-CN" altLang="en-US"/>
          </a:p>
          <a:p>
            <a:pPr indent="0">
              <a:buFont typeface="Arial" panose="020B0604020202090204" pitchFamily="34" charset="0"/>
              <a:buNone/>
            </a:pPr>
            <a:endParaRPr lang="zh-CN" altLang="en-US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zh-CN" altLang="en-US"/>
              <a:t>非常省心</a:t>
            </a:r>
            <a:r>
              <a:rPr lang="en-US" altLang="zh-CN"/>
              <a:t>，</a:t>
            </a:r>
            <a:r>
              <a:rPr lang="zh-CN" altLang="en-US"/>
              <a:t>无脑打开完全控制</a:t>
            </a:r>
            <a:r>
              <a:rPr lang="zh-CN" altLang="en-US"/>
              <a:t>权限</a:t>
            </a:r>
            <a:endParaRPr lang="zh-CN" altLang="en-US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zh-CN" altLang="en-US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/>
              <a:t>SubAgent</a:t>
            </a:r>
            <a:r>
              <a:rPr lang="zh-CN" altLang="en-US"/>
              <a:t>界面</a:t>
            </a:r>
            <a:r>
              <a:rPr lang="zh-CN" altLang="en-US"/>
              <a:t>很清晰</a:t>
            </a:r>
            <a:endParaRPr lang="zh-CN" altLang="en-US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zh-CN" altLang="en-US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zh-CN" altLang="en-US"/>
              <a:t>活用</a:t>
            </a:r>
            <a:r>
              <a:rPr lang="en-US" altLang="zh-CN"/>
              <a:t>fork</a:t>
            </a:r>
            <a:endParaRPr lang="zh-CN" altLang="en-US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zh-CN" altLang="en-US"/>
          </a:p>
        </p:txBody>
      </p:sp>
      <p:pic>
        <p:nvPicPr>
          <p:cNvPr id="4" name="图片 3" descr="截屏2026-04-26 16.35.58_副本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5440" y="786130"/>
            <a:ext cx="6173470" cy="219964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4735" y="2778760"/>
            <a:ext cx="4431030" cy="3052445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内容占位符 5" descr="AgentFlowLOGO"/>
          <p:cNvPicPr>
            <a:picLocks noChangeAspect="1"/>
          </p:cNvPicPr>
          <p:nvPr>
            <p:ph idx="1"/>
            <p:custDataLst>
              <p:tags r:id="rId1"/>
            </p:custDataLst>
          </p:nvPr>
        </p:nvPicPr>
        <p:blipFill>
          <a:blip r:embed="rId2"/>
          <a:srcRect l="10735" t="19398" r="10057" b="21899"/>
          <a:stretch>
            <a:fillRect/>
          </a:stretch>
        </p:blipFill>
        <p:spPr>
          <a:xfrm>
            <a:off x="9844405" y="5125720"/>
            <a:ext cx="2106930" cy="165925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047750" y="659765"/>
            <a:ext cx="40640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8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</a:rPr>
              <a:t>C</a:t>
            </a:r>
            <a:r>
              <a:rPr lang="en-US" altLang="zh-CN" sz="28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</a:rPr>
              <a:t>ursor</a:t>
            </a:r>
            <a:endParaRPr lang="en-US" altLang="zh-CN" sz="280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  <a:alpha val="40000"/>
                  </a:schemeClr>
                </a:outerShdw>
              </a:effectLst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047750" y="1443990"/>
            <a:ext cx="7309485" cy="31381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Arial" panose="020B0604020202090204" pitchFamily="34" charset="0"/>
              <a:buChar char="•"/>
            </a:pPr>
            <a:r>
              <a:rPr lang="zh-CN" altLang="en-US"/>
              <a:t>第</a:t>
            </a:r>
            <a:r>
              <a:rPr lang="zh-CN" altLang="en-US"/>
              <a:t>三代</a:t>
            </a:r>
            <a:endParaRPr lang="zh-CN" altLang="en-US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/>
              <a:t>VSCode</a:t>
            </a:r>
            <a:r>
              <a:rPr lang="zh-CN" altLang="en-US"/>
              <a:t>的</a:t>
            </a:r>
            <a:r>
              <a:rPr lang="zh-CN" altLang="en-US"/>
              <a:t>超集</a:t>
            </a:r>
            <a:endParaRPr lang="zh-CN" altLang="en-US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zh-CN" altLang="en-US"/>
              <a:t>插件生态</a:t>
            </a:r>
            <a:r>
              <a:rPr lang="en-US" altLang="zh-CN"/>
              <a:t>+AI</a:t>
            </a:r>
            <a:r>
              <a:rPr lang="zh-CN" altLang="en-US"/>
              <a:t>原生</a:t>
            </a:r>
            <a:r>
              <a:rPr lang="en-US" altLang="zh-CN"/>
              <a:t>（SKILL，RULE，</a:t>
            </a:r>
            <a:r>
              <a:rPr lang="en-US" altLang="zh-CN"/>
              <a:t>MCP）</a:t>
            </a:r>
            <a:endParaRPr lang="zh-CN" altLang="en-US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zh-CN" altLang="en-US"/>
          </a:p>
          <a:p>
            <a:pPr indent="0">
              <a:buFont typeface="Arial" panose="020B0604020202090204" pitchFamily="34" charset="0"/>
              <a:buNone/>
            </a:pPr>
            <a:r>
              <a:rPr lang="zh-CN" altLang="en-US"/>
              <a:t>个人使用体验</a:t>
            </a:r>
            <a:endParaRPr lang="zh-CN" altLang="en-US"/>
          </a:p>
          <a:p>
            <a:pPr indent="0">
              <a:buFont typeface="Arial" panose="020B0604020202090204" pitchFamily="34" charset="0"/>
              <a:buNone/>
            </a:pPr>
            <a:endParaRPr lang="zh-CN" altLang="en-US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zh-CN" altLang="en-US"/>
              <a:t>安心</a:t>
            </a:r>
            <a:r>
              <a:rPr lang="en-US" altLang="zh-CN"/>
              <a:t>，</a:t>
            </a:r>
            <a:r>
              <a:rPr lang="zh-CN" altLang="en-US"/>
              <a:t>因为能直接看到</a:t>
            </a:r>
            <a:r>
              <a:rPr lang="en-US" altLang="zh-CN"/>
              <a:t>/review</a:t>
            </a:r>
            <a:r>
              <a:rPr lang="zh-CN" altLang="en-US"/>
              <a:t>代码</a:t>
            </a:r>
            <a:r>
              <a:rPr lang="en-US" altLang="zh-CN"/>
              <a:t>。</a:t>
            </a: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zh-CN" altLang="en-US"/>
              <a:t>比</a:t>
            </a:r>
            <a:r>
              <a:rPr lang="en-US" altLang="zh-CN"/>
              <a:t>Trae</a:t>
            </a:r>
            <a:r>
              <a:rPr lang="zh-CN" altLang="en-US"/>
              <a:t>响应速度</a:t>
            </a:r>
            <a:r>
              <a:rPr lang="zh-CN" altLang="en-US"/>
              <a:t>快</a:t>
            </a:r>
            <a:endParaRPr lang="zh-CN" altLang="en-US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zh-CN" altLang="en-US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/>
              <a:t>Plan+Agent</a:t>
            </a:r>
            <a:r>
              <a:rPr lang="zh-CN" altLang="en-US"/>
              <a:t>模式</a:t>
            </a:r>
            <a:r>
              <a:rPr lang="zh-CN" altLang="en-US"/>
              <a:t>效率极高</a:t>
            </a:r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9385" y="4582160"/>
            <a:ext cx="2286000" cy="111760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内容占位符 5" descr="AgentFlowLOGO"/>
          <p:cNvPicPr>
            <a:picLocks noChangeAspect="1"/>
          </p:cNvPicPr>
          <p:nvPr>
            <p:ph idx="1"/>
            <p:custDataLst>
              <p:tags r:id="rId1"/>
            </p:custDataLst>
          </p:nvPr>
        </p:nvPicPr>
        <p:blipFill>
          <a:blip r:embed="rId2"/>
          <a:srcRect l="10735" t="19398" r="10057" b="21899"/>
          <a:stretch>
            <a:fillRect/>
          </a:stretch>
        </p:blipFill>
        <p:spPr>
          <a:xfrm>
            <a:off x="9844405" y="5125720"/>
            <a:ext cx="2106930" cy="1659255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1368425" y="711835"/>
            <a:ext cx="406400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3200"/>
              <a:t>Hermes Agent</a:t>
            </a:r>
            <a:endParaRPr lang="en-US" altLang="zh-CN" sz="3200"/>
          </a:p>
        </p:txBody>
      </p:sp>
      <p:pic>
        <p:nvPicPr>
          <p:cNvPr id="5" name="图片 4" descr="截屏2026-04-26 17.02.3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865" y="1427480"/>
            <a:ext cx="7820025" cy="4862195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8865870" y="204597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强化版</a:t>
            </a:r>
            <a:r>
              <a:rPr lang="en-US" altLang="zh-CN"/>
              <a:t>openclaw</a:t>
            </a:r>
            <a:endParaRPr lang="en-US" altLang="zh-CN"/>
          </a:p>
        </p:txBody>
      </p:sp>
    </p:spTree>
    <p:custDataLst>
      <p:tags r:id="rId4"/>
    </p:custData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内容占位符 5" descr="AgentFlowLOGO"/>
          <p:cNvPicPr>
            <a:picLocks noChangeAspect="1"/>
          </p:cNvPicPr>
          <p:nvPr>
            <p:ph idx="1"/>
            <p:custDataLst>
              <p:tags r:id="rId1"/>
            </p:custDataLst>
          </p:nvPr>
        </p:nvPicPr>
        <p:blipFill>
          <a:blip r:embed="rId2"/>
          <a:srcRect l="10735" t="19398" r="10057" b="21899"/>
          <a:stretch>
            <a:fillRect/>
          </a:stretch>
        </p:blipFill>
        <p:spPr>
          <a:xfrm>
            <a:off x="9844405" y="5125720"/>
            <a:ext cx="2106930" cy="1659255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1368425" y="711835"/>
            <a:ext cx="406400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3200"/>
              <a:t>Hermes Agent</a:t>
            </a:r>
            <a:endParaRPr lang="en-US" altLang="zh-CN" sz="3200"/>
          </a:p>
        </p:txBody>
      </p:sp>
      <p:sp>
        <p:nvSpPr>
          <p:cNvPr id="2" name="文本框 1"/>
          <p:cNvSpPr txBox="1"/>
          <p:nvPr/>
        </p:nvSpPr>
        <p:spPr>
          <a:xfrm>
            <a:off x="1220470" y="1825625"/>
            <a:ext cx="4064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Arial" panose="020B0604020202090204" pitchFamily="34" charset="0"/>
              <a:buChar char="•"/>
            </a:pPr>
            <a:r>
              <a:rPr lang="zh-CN" altLang="en-US"/>
              <a:t>安装并启动</a:t>
            </a:r>
            <a:r>
              <a:rPr lang="en-US" altLang="zh-CN"/>
              <a:t>CLI</a:t>
            </a: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zh-CN" altLang="en-US"/>
              <a:t>设置</a:t>
            </a:r>
            <a:r>
              <a:rPr lang="en-US" altLang="zh-CN"/>
              <a:t>gatewa</a:t>
            </a:r>
            <a:r>
              <a:rPr lang="en-US" altLang="zh-CN"/>
              <a:t>y</a:t>
            </a:r>
            <a:endParaRPr lang="en-US" altLang="zh-CN"/>
          </a:p>
        </p:txBody>
      </p:sp>
      <p:sp>
        <p:nvSpPr>
          <p:cNvPr id="3" name="文本框 2"/>
          <p:cNvSpPr txBox="1"/>
          <p:nvPr/>
        </p:nvSpPr>
        <p:spPr>
          <a:xfrm>
            <a:off x="1220470" y="3807460"/>
            <a:ext cx="406400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让</a:t>
            </a:r>
            <a:r>
              <a:rPr lang="en-US" altLang="zh-CN"/>
              <a:t>hermes</a:t>
            </a:r>
            <a:r>
              <a:rPr lang="zh-CN" altLang="en-US"/>
              <a:t>更强</a:t>
            </a:r>
            <a:r>
              <a:rPr lang="en-US" altLang="zh-CN"/>
              <a:t>：</a:t>
            </a: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/>
              <a:t>Cron Job</a:t>
            </a: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/>
              <a:t>Profiles</a:t>
            </a: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/>
              <a:t>Browser Use</a:t>
            </a:r>
            <a:endParaRPr lang="en-US" altLang="zh-CN"/>
          </a:p>
        </p:txBody>
      </p:sp>
      <p:pic>
        <p:nvPicPr>
          <p:cNvPr id="9" name="图片 8" descr="822be058-e4ee-468a-af2c-c9ac2c60023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480" y="431165"/>
            <a:ext cx="6862445" cy="4575175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9" name="图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7925" y="0"/>
            <a:ext cx="10066020" cy="754951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2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0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2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0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1149</Words>
  <Application>WPS 演示</Application>
  <PresentationFormat>宽屏</PresentationFormat>
  <Paragraphs>219</Paragraphs>
  <Slides>22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22</vt:i4>
      </vt:variant>
    </vt:vector>
  </HeadingPairs>
  <TitlesOfParts>
    <vt:vector size="35" baseType="lpstr">
      <vt:lpstr>Arial</vt:lpstr>
      <vt:lpstr>宋体</vt:lpstr>
      <vt:lpstr>Wingdings</vt:lpstr>
      <vt:lpstr>Wingdings</vt:lpstr>
      <vt:lpstr>PingFang SC Semibold</vt:lpstr>
      <vt:lpstr>苹方-简</vt:lpstr>
      <vt:lpstr>微软雅黑</vt:lpstr>
      <vt:lpstr>汉仪旗黑</vt:lpstr>
      <vt:lpstr>宋体</vt:lpstr>
      <vt:lpstr>Arial Unicode MS</vt:lpstr>
      <vt:lpstr>汉仪书宋二KW</vt:lpstr>
      <vt:lpstr>PingFang SC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SorrowP</cp:lastModifiedBy>
  <cp:revision>172</cp:revision>
  <dcterms:created xsi:type="dcterms:W3CDTF">2026-04-26T09:11:27Z</dcterms:created>
  <dcterms:modified xsi:type="dcterms:W3CDTF">2026-04-26T09:11:27Z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2052-12.1.25205.25205</vt:lpwstr>
  </property>
  <property fmtid="{D5CDD505-2E9C-101B-9397-08002B2CF9AE}" pid="3" name="ICV">
    <vt:lpwstr>8620FF20CAEC43269477BB58725B91A7_13</vt:lpwstr>
  </property>
</Properties>
</file>