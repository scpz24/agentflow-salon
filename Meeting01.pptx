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4"/>
  </p:handoutMasterIdLst>
  <p:sldIdLst>
    <p:sldId id="256" r:id="rId3"/>
    <p:sldId id="259" r:id="rId5"/>
    <p:sldId id="262" r:id="rId6"/>
    <p:sldId id="263" r:id="rId7"/>
    <p:sldId id="264" r:id="rId8"/>
    <p:sldId id="265" r:id="rId9"/>
    <p:sldId id="267" r:id="rId10"/>
    <p:sldId id="268" r:id="rId11"/>
    <p:sldId id="258" r:id="rId12"/>
    <p:sldId id="269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64.xml"/><Relationship Id="rId2" Type="http://schemas.openxmlformats.org/officeDocument/2006/relationships/image" Target="../media/image1.png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6.xml"/><Relationship Id="rId2" Type="http://schemas.openxmlformats.org/officeDocument/2006/relationships/image" Target="../media/image1.png"/><Relationship Id="rId1" Type="http://schemas.openxmlformats.org/officeDocument/2006/relationships/tags" Target="../tags/tag65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8.xml"/><Relationship Id="rId2" Type="http://schemas.openxmlformats.org/officeDocument/2006/relationships/image" Target="../media/image1.png"/><Relationship Id="rId1" Type="http://schemas.openxmlformats.org/officeDocument/2006/relationships/tags" Target="../tags/tag67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0.xml"/><Relationship Id="rId2" Type="http://schemas.openxmlformats.org/officeDocument/2006/relationships/image" Target="../media/image1.png"/><Relationship Id="rId1" Type="http://schemas.openxmlformats.org/officeDocument/2006/relationships/tags" Target="../tags/tag69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2.xml"/><Relationship Id="rId2" Type="http://schemas.openxmlformats.org/officeDocument/2006/relationships/image" Target="../media/image1.png"/><Relationship Id="rId1" Type="http://schemas.openxmlformats.org/officeDocument/2006/relationships/tags" Target="../tags/tag71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4.xml"/><Relationship Id="rId2" Type="http://schemas.openxmlformats.org/officeDocument/2006/relationships/image" Target="../media/image1.png"/><Relationship Id="rId1" Type="http://schemas.openxmlformats.org/officeDocument/2006/relationships/tags" Target="../tags/tag73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6.xml"/><Relationship Id="rId2" Type="http://schemas.openxmlformats.org/officeDocument/2006/relationships/image" Target="../media/image1.png"/><Relationship Id="rId1" Type="http://schemas.openxmlformats.org/officeDocument/2006/relationships/tags" Target="../tags/tag75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tags" Target="../tags/tag78.xml"/><Relationship Id="rId7" Type="http://schemas.openxmlformats.org/officeDocument/2006/relationships/image" Target="../media/image1.png"/><Relationship Id="rId6" Type="http://schemas.openxmlformats.org/officeDocument/2006/relationships/tags" Target="../tags/tag77.xml"/><Relationship Id="rId5" Type="http://schemas.openxmlformats.org/officeDocument/2006/relationships/image" Target="../media/image6.png"/><Relationship Id="rId4" Type="http://schemas.openxmlformats.org/officeDocument/2006/relationships/image" Target="../media/image5.jpe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9.xml"/><Relationship Id="rId1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1.xml"/><Relationship Id="rId2" Type="http://schemas.openxmlformats.org/officeDocument/2006/relationships/image" Target="../media/image1.png"/><Relationship Id="rId1" Type="http://schemas.openxmlformats.org/officeDocument/2006/relationships/tags" Target="../tags/tag8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1"/>
            </p:custDataLst>
          </p:nvPr>
        </p:nvSpPr>
        <p:spPr>
          <a:xfrm>
            <a:off x="1115695" y="5635625"/>
            <a:ext cx="9799320" cy="685165"/>
          </a:xfrm>
        </p:spPr>
        <p:txBody>
          <a:bodyPr/>
          <a:p>
            <a:r>
              <a:rPr lang="zh-CN" altLang="en-US"/>
              <a:t>周会</a:t>
            </a:r>
            <a:r>
              <a:rPr lang="en-US" altLang="zh-CN"/>
              <a:t>No.1</a:t>
            </a:r>
            <a:endParaRPr lang="en-US" altLang="zh-CN"/>
          </a:p>
        </p:txBody>
      </p:sp>
      <p:pic>
        <p:nvPicPr>
          <p:cNvPr id="6" name="图片 5" descr="AgentFlowLOGO"/>
          <p:cNvPicPr>
            <a:picLocks noChangeAspect="1"/>
          </p:cNvPicPr>
          <p:nvPr/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3923665" y="1533525"/>
            <a:ext cx="4183380" cy="310070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内容占位符 5" descr="AgentFlowLOGO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9844405" y="5125720"/>
            <a:ext cx="2106930" cy="16592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47750" y="65976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神秘术语</a:t>
            </a:r>
            <a:r>
              <a:rPr lang="en-US" altLang="zh-CN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...</a:t>
            </a:r>
            <a:endParaRPr lang="en-US" altLang="zh-CN" sz="28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内容占位符 5" descr="AgentFlowLOGO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9844405" y="5125720"/>
            <a:ext cx="2106930" cy="16592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47750" y="65976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神秘术语</a:t>
            </a:r>
            <a:r>
              <a:rPr lang="en-US" altLang="zh-CN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...</a:t>
            </a:r>
            <a:endParaRPr lang="en-US" altLang="zh-CN" sz="28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047750" y="140017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token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1047750" y="5125720"/>
            <a:ext cx="5273040" cy="5219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LLM</a:t>
            </a:r>
            <a:r>
              <a:rPr lang="zh-CN" altLang="en-US"/>
              <a:t>做的</a:t>
            </a:r>
            <a:r>
              <a:rPr lang="en-US" altLang="zh-CN"/>
              <a:t>：</a:t>
            </a:r>
            <a:r>
              <a:rPr lang="zh-CN" altLang="en-US"/>
              <a:t>基于已有的</a:t>
            </a:r>
            <a:r>
              <a:rPr lang="en-US" altLang="zh-CN"/>
              <a:t>token</a:t>
            </a:r>
            <a:r>
              <a:rPr lang="zh-CN" altLang="en-US"/>
              <a:t>串猜下一个</a:t>
            </a:r>
            <a:r>
              <a:rPr lang="en-US" altLang="zh-CN"/>
              <a:t>token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1047750" y="244919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tokenize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1047750" y="3010535"/>
            <a:ext cx="35166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Bobby is the greatest scientist.     </a:t>
            </a:r>
            <a:endParaRPr lang="en-US" altLang="zh-CN"/>
          </a:p>
        </p:txBody>
      </p:sp>
      <p:sp>
        <p:nvSpPr>
          <p:cNvPr id="9" name="文本框 8"/>
          <p:cNvSpPr txBox="1"/>
          <p:nvPr/>
        </p:nvSpPr>
        <p:spPr>
          <a:xfrm>
            <a:off x="5177155" y="3010535"/>
            <a:ext cx="66802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[&lt;</a:t>
            </a:r>
            <a:r>
              <a:rPr lang="zh-CN" altLang="en-US"/>
              <a:t>起始符</a:t>
            </a:r>
            <a:r>
              <a:rPr lang="en-US" altLang="zh-CN"/>
              <a:t>&gt;, Bobby, is, the, great, est, scientist, ., &lt;</a:t>
            </a:r>
            <a:r>
              <a:rPr lang="zh-CN" altLang="en-US"/>
              <a:t>结束符</a:t>
            </a:r>
            <a:r>
              <a:rPr lang="en-US" altLang="zh-CN"/>
              <a:t>&gt;]</a:t>
            </a:r>
            <a:endParaRPr lang="en-US" altLang="zh-CN"/>
          </a:p>
        </p:txBody>
      </p:sp>
      <p:cxnSp>
        <p:nvCxnSpPr>
          <p:cNvPr id="10" name="直接箭头连接符 9"/>
          <p:cNvCxnSpPr>
            <a:stCxn id="8" idx="3"/>
          </p:cNvCxnSpPr>
          <p:nvPr/>
        </p:nvCxnSpPr>
        <p:spPr>
          <a:xfrm>
            <a:off x="4564380" y="3194685"/>
            <a:ext cx="54546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内容占位符 5" descr="AgentFlowLOGO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9844405" y="5125720"/>
            <a:ext cx="2106930" cy="16592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47750" y="65976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神秘术语</a:t>
            </a:r>
            <a:r>
              <a:rPr lang="en-US" altLang="zh-CN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...</a:t>
            </a:r>
            <a:endParaRPr lang="en-US" altLang="zh-CN" sz="28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047750" y="22028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AI</a:t>
            </a:r>
            <a:r>
              <a:rPr lang="zh-CN" altLang="en-US"/>
              <a:t>的</a:t>
            </a:r>
            <a:r>
              <a:rPr lang="zh-CN" altLang="en-US"/>
              <a:t>延伸</a:t>
            </a:r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7750" y="2816225"/>
            <a:ext cx="40640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agent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harness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内容占位符 5" descr="AgentFlowLOGO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9844405" y="5125720"/>
            <a:ext cx="2106930" cy="16592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47750" y="65976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神秘术语</a:t>
            </a:r>
            <a:r>
              <a:rPr lang="en-US" altLang="zh-CN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...</a:t>
            </a:r>
            <a:endParaRPr lang="en-US" altLang="zh-CN" sz="28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047750" y="140779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AI</a:t>
            </a:r>
            <a:r>
              <a:rPr lang="zh-CN" altLang="en-US"/>
              <a:t>运行时</a:t>
            </a:r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7750" y="2002155"/>
            <a:ext cx="4064000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tool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mcp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b="1">
                <a:latin typeface="PingFang SC Semibold" panose="020B0400000000000000" charset="-122"/>
                <a:ea typeface="PingFang SC Semibold" panose="020B0400000000000000" charset="-122"/>
              </a:rPr>
              <a:t>skill</a:t>
            </a:r>
            <a:endParaRPr lang="en-US" altLang="zh-CN" b="1">
              <a:latin typeface="PingFang SC Semibold" panose="020B0400000000000000" charset="-122"/>
              <a:ea typeface="PingFang SC Semibold" panose="020B0400000000000000" charset="-122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context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memory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内容占位符 5" descr="AgentFlowLOGO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9844405" y="5125720"/>
            <a:ext cx="2106930" cy="16592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47750" y="65976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神秘术语</a:t>
            </a:r>
            <a:r>
              <a:rPr lang="en-US" altLang="zh-CN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...</a:t>
            </a:r>
            <a:endParaRPr lang="en-US" altLang="zh-CN" sz="28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047750" y="140779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AI</a:t>
            </a:r>
            <a:r>
              <a:rPr lang="zh-CN" altLang="en-US"/>
              <a:t>社区</a:t>
            </a:r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7750" y="2002155"/>
            <a:ext cx="40640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SOTA: State of the Art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Best Practice: </a:t>
            </a:r>
            <a:r>
              <a:rPr lang="zh-CN" altLang="en-US"/>
              <a:t>最佳</a:t>
            </a:r>
            <a:r>
              <a:rPr lang="zh-CN" altLang="en-US"/>
              <a:t>实践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1047750" y="324485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AI</a:t>
            </a:r>
            <a:r>
              <a:rPr lang="zh-CN" altLang="en-US"/>
              <a:t>交互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1047750" y="3744595"/>
            <a:ext cx="4064000" cy="2584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API call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CLI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TUI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GUI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JSON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markdown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内容占位符 5" descr="AgentFlowLOGO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9844405" y="5125720"/>
            <a:ext cx="2106930" cy="16592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47750" y="65976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Recent News...</a:t>
            </a:r>
            <a:endParaRPr lang="en-US" altLang="zh-CN" sz="28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047750" y="1633855"/>
            <a:ext cx="73685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OpenAI - image2: </a:t>
            </a:r>
            <a:r>
              <a:rPr lang="zh-CN" altLang="en-US"/>
              <a:t>令人匪夷所思的生图</a:t>
            </a:r>
            <a:r>
              <a:rPr lang="zh-CN" altLang="en-US"/>
              <a:t>模型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1047750" y="2694940"/>
            <a:ext cx="596963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GPT5.5: </a:t>
            </a:r>
            <a:r>
              <a:rPr lang="zh-CN" altLang="en-US"/>
              <a:t>单个</a:t>
            </a:r>
            <a:r>
              <a:rPr lang="en-US" altLang="zh-CN"/>
              <a:t>token</a:t>
            </a:r>
            <a:r>
              <a:rPr lang="zh-CN" altLang="en-US"/>
              <a:t>更贵</a:t>
            </a:r>
            <a:r>
              <a:rPr lang="en-US" altLang="zh-CN"/>
              <a:t>，</a:t>
            </a:r>
            <a:r>
              <a:rPr lang="zh-CN" altLang="en-US"/>
              <a:t>但是更聪明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Opus4.7: </a:t>
            </a:r>
            <a:r>
              <a:rPr lang="zh-CN" altLang="en-US"/>
              <a:t>善于</a:t>
            </a:r>
            <a:r>
              <a:rPr lang="zh-CN" altLang="en-US"/>
              <a:t>视觉设计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图片 6" descr="d3b11595ec9a1683c2f05ec4579b147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62675" y="941705"/>
            <a:ext cx="2788920" cy="4184015"/>
          </a:xfrm>
          <a:prstGeom prst="rect">
            <a:avLst/>
          </a:prstGeom>
        </p:spPr>
      </p:pic>
      <p:pic>
        <p:nvPicPr>
          <p:cNvPr id="3" name="图片 2" descr="f10976ab96c8bf4351fae5e9a4e5546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37995"/>
            <a:ext cx="3594100" cy="4792980"/>
          </a:xfrm>
          <a:prstGeom prst="rect">
            <a:avLst/>
          </a:prstGeom>
        </p:spPr>
      </p:pic>
      <p:pic>
        <p:nvPicPr>
          <p:cNvPr id="4" name="图片 3" descr="75885f84c359539cb6d977b99e42860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6900" y="2002155"/>
            <a:ext cx="3189605" cy="478472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47750" y="65976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Recent News...</a:t>
            </a:r>
            <a:endParaRPr lang="en-US" altLang="zh-CN" sz="28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047750" y="1633855"/>
            <a:ext cx="73685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OpenAI - image2: </a:t>
            </a:r>
            <a:r>
              <a:rPr lang="zh-CN" altLang="en-US"/>
              <a:t>令人匪夷所思的生图</a:t>
            </a:r>
            <a:r>
              <a:rPr lang="zh-CN" altLang="en-US"/>
              <a:t>模型</a:t>
            </a:r>
            <a:endParaRPr lang="zh-CN" altLang="en-US"/>
          </a:p>
        </p:txBody>
      </p:sp>
      <p:pic>
        <p:nvPicPr>
          <p:cNvPr id="9" name="图片 8" descr="300eb17e8dd184d8f660dcd8317e167c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7945" y="659765"/>
            <a:ext cx="2993390" cy="1995805"/>
          </a:xfrm>
          <a:prstGeom prst="rect">
            <a:avLst/>
          </a:prstGeom>
        </p:spPr>
      </p:pic>
      <p:pic>
        <p:nvPicPr>
          <p:cNvPr id="10" name="图片 9" descr="41acd7290061898b5da9ed66caf0d18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6290" y="2126615"/>
            <a:ext cx="2475230" cy="3301365"/>
          </a:xfrm>
          <a:prstGeom prst="rect">
            <a:avLst/>
          </a:prstGeom>
        </p:spPr>
      </p:pic>
      <p:pic>
        <p:nvPicPr>
          <p:cNvPr id="6" name="内容占位符 5" descr="AgentFlowLOGO"/>
          <p:cNvPicPr>
            <a:picLocks noChangeAspect="1"/>
          </p:cNvPicPr>
          <p:nvPr>
            <p:ph idx="1"/>
            <p:custDataLst>
              <p:tags r:id="rId6"/>
            </p:custDataLst>
          </p:nvPr>
        </p:nvPicPr>
        <p:blipFill>
          <a:blip r:embed="rId7"/>
          <a:srcRect l="10735" t="19398" r="10057" b="21899"/>
          <a:stretch>
            <a:fillRect/>
          </a:stretch>
        </p:blipFill>
        <p:spPr>
          <a:xfrm>
            <a:off x="9844405" y="5125720"/>
            <a:ext cx="2106930" cy="1659255"/>
          </a:xfrm>
          <a:prstGeom prst="rect">
            <a:avLst/>
          </a:prstGeom>
        </p:spPr>
      </p:pic>
    </p:spTree>
    <p:custDataLst>
      <p:tags r:id="rId8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 descr="ChatGPT Image 2026年4月26日 00_11_3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11655" y="0"/>
            <a:ext cx="8568690" cy="68580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内容占位符 5" descr="AgentFlowLOGO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9844405" y="5125720"/>
            <a:ext cx="2106930" cy="16592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47750" y="65976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ClaudeCode</a:t>
            </a:r>
            <a:endParaRPr lang="en-US" altLang="zh-CN" sz="28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047750" y="1861820"/>
            <a:ext cx="406400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/>
              <a:t>原生</a:t>
            </a:r>
            <a:r>
              <a:rPr lang="en-US" altLang="zh-CN"/>
              <a:t>TUI</a:t>
            </a:r>
            <a:r>
              <a:rPr lang="zh-CN" altLang="en-US"/>
              <a:t>工具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437</Words>
  <Application>WPS 演示</Application>
  <PresentationFormat>宽屏</PresentationFormat>
  <Paragraphs>79</Paragraphs>
  <Slides>10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2" baseType="lpstr">
      <vt:lpstr>Arial</vt:lpstr>
      <vt:lpstr>宋体</vt:lpstr>
      <vt:lpstr>Wingdings</vt:lpstr>
      <vt:lpstr>Wingdings</vt:lpstr>
      <vt:lpstr>苹方-简</vt:lpstr>
      <vt:lpstr>微软雅黑</vt:lpstr>
      <vt:lpstr>汉仪旗黑</vt:lpstr>
      <vt:lpstr>宋体</vt:lpstr>
      <vt:lpstr>Arial Unicode MS</vt:lpstr>
      <vt:lpstr>汉仪书宋二KW</vt:lpstr>
      <vt:lpstr>PingFang SC Semibold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SorrowP</cp:lastModifiedBy>
  <cp:revision>168</cp:revision>
  <dcterms:created xsi:type="dcterms:W3CDTF">2026-04-25T17:27:05Z</dcterms:created>
  <dcterms:modified xsi:type="dcterms:W3CDTF">2026-04-25T17:27:05Z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2052-12.1.25205.25205</vt:lpwstr>
  </property>
  <property fmtid="{D5CDD505-2E9C-101B-9397-08002B2CF9AE}" pid="3" name="ICV">
    <vt:lpwstr>8620FF20CAEC43269477BB58725B91A7_13</vt:lpwstr>
  </property>
</Properties>
</file>